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572" r:id="rId2"/>
    <p:sldId id="573" r:id="rId3"/>
    <p:sldId id="574" r:id="rId4"/>
    <p:sldId id="575" r:id="rId5"/>
    <p:sldId id="576" r:id="rId6"/>
    <p:sldId id="577" r:id="rId7"/>
    <p:sldId id="578" r:id="rId8"/>
    <p:sldId id="264" r:id="rId9"/>
    <p:sldId id="579" r:id="rId10"/>
    <p:sldId id="496" r:id="rId11"/>
    <p:sldId id="580" r:id="rId12"/>
    <p:sldId id="558" r:id="rId13"/>
    <p:sldId id="581" r:id="rId14"/>
    <p:sldId id="582" r:id="rId15"/>
    <p:sldId id="583" r:id="rId16"/>
    <p:sldId id="584" r:id="rId17"/>
    <p:sldId id="585" r:id="rId18"/>
    <p:sldId id="586" r:id="rId19"/>
    <p:sldId id="563" r:id="rId20"/>
    <p:sldId id="587" r:id="rId21"/>
    <p:sldId id="564" r:id="rId22"/>
    <p:sldId id="589" r:id="rId23"/>
    <p:sldId id="565" r:id="rId24"/>
    <p:sldId id="566" r:id="rId25"/>
    <p:sldId id="571" r:id="rId26"/>
    <p:sldId id="570" r:id="rId27"/>
    <p:sldId id="569" r:id="rId28"/>
    <p:sldId id="567" r:id="rId29"/>
    <p:sldId id="588" r:id="rId30"/>
  </p:sldIdLst>
  <p:sldSz cx="10693400" cy="7562850"/>
  <p:notesSz cx="10693400" cy="7562850"/>
  <p:defaultTextStyle>
    <a:defPPr>
      <a:defRPr kern="0"/>
    </a:defPPr>
  </p:defaultTextStyle>
  <p:extLst>
    <p:ext uri="{521415D9-36F7-43E2-AB2F-B90AF26B5E84}">
      <p14:sectionLst xmlns:p14="http://schemas.microsoft.com/office/powerpoint/2010/main">
        <p14:section name="UYARI" id="{9FE7210F-8050-45FC-B494-B1A22B114704}">
          <p14:sldIdLst>
            <p14:sldId id="572"/>
            <p14:sldId id="573"/>
          </p14:sldIdLst>
        </p14:section>
        <p14:section name="Başlık" id="{03441144-CAB1-47B2-8F53-FCAE37F224C5}">
          <p14:sldIdLst>
            <p14:sldId id="574"/>
          </p14:sldIdLst>
        </p14:section>
        <p14:section name="Takım Yapısı" id="{EF59ACC5-8E66-403E-ACD6-53FC7D74C261}">
          <p14:sldIdLst>
            <p14:sldId id="575"/>
          </p14:sldIdLst>
        </p14:section>
        <p14:section name="Genel Tasarım" id="{2E14228E-52EF-4BE5-836E-71864A83B4CF}">
          <p14:sldIdLst>
            <p14:sldId id="576"/>
            <p14:sldId id="577"/>
            <p14:sldId id="578"/>
          </p14:sldIdLst>
        </p14:section>
        <p14:section name="Operasyon Konsepti" id="{CF9C5C8D-8977-4BEA-83BF-A2A7B28C800A}">
          <p14:sldIdLst>
            <p14:sldId id="264"/>
            <p14:sldId id="579"/>
            <p14:sldId id="496"/>
            <p14:sldId id="580"/>
            <p14:sldId id="558"/>
            <p14:sldId id="581"/>
            <p14:sldId id="582"/>
            <p14:sldId id="583"/>
          </p14:sldIdLst>
        </p14:section>
        <p14:section name="Roket Alt Sistem Detayları" id="{5705E73E-EBA8-4BB0-8017-97CF3153E68F}">
          <p14:sldIdLst>
            <p14:sldId id="584"/>
          </p14:sldIdLst>
        </p14:section>
        <p14:section name="Pnömatik Sistem" id="{534217E6-2E3C-41A6-B75C-FE5CD8642C94}">
          <p14:sldIdLst>
            <p14:sldId id="585"/>
            <p14:sldId id="586"/>
            <p14:sldId id="563"/>
            <p14:sldId id="587"/>
            <p14:sldId id="564"/>
            <p14:sldId id="589"/>
            <p14:sldId id="565"/>
            <p14:sldId id="566"/>
            <p14:sldId id="571"/>
          </p14:sldIdLst>
        </p14:section>
        <p14:section name="Mekanik Sistem Tasarımı" id="{3BC26622-D2FF-4092-B543-91296730DFBB}">
          <p14:sldIdLst>
            <p14:sldId id="570"/>
          </p14:sldIdLst>
        </p14:section>
        <p14:section name="Kontrol Sistem Tasarımı" id="{A235A563-63E6-4D24-87BE-93281CEDB5E0}">
          <p14:sldIdLst>
            <p14:sldId id="569"/>
          </p14:sldIdLst>
        </p14:section>
        <p14:section name="Kütle Bütçesi" id="{4E560DC9-7461-4A30-82DC-46B48343ED9E}">
          <p14:sldIdLst>
            <p14:sldId id="567"/>
            <p14:sldId id="588"/>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75"/>
    <p:restoredTop sz="91761"/>
  </p:normalViewPr>
  <p:slideViewPr>
    <p:cSldViewPr>
      <p:cViewPr varScale="1">
        <p:scale>
          <a:sx n="92" d="100"/>
          <a:sy n="92" d="100"/>
        </p:scale>
        <p:origin x="1464" y="9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en-TR"/>
          </a:p>
        </p:txBody>
      </p:sp>
      <p:sp>
        <p:nvSpPr>
          <p:cNvPr id="3" name="Date Placeholder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C2015565-4FDC-A74B-BC2B-F925D76C8075}" type="datetimeFigureOut">
              <a:rPr lang="en-TR" smtClean="0"/>
              <a:t>07/03/2026</a:t>
            </a:fld>
            <a:endParaRPr lang="en-TR"/>
          </a:p>
        </p:txBody>
      </p:sp>
      <p:sp>
        <p:nvSpPr>
          <p:cNvPr id="4" name="Slide Image Placeholder 3"/>
          <p:cNvSpPr>
            <a:spLocks noGrp="1" noRot="1" noChangeAspect="1"/>
          </p:cNvSpPr>
          <p:nvPr>
            <p:ph type="sldImg" idx="2"/>
          </p:nvPr>
        </p:nvSpPr>
        <p:spPr>
          <a:xfrm>
            <a:off x="3543300" y="946150"/>
            <a:ext cx="3606800" cy="2551113"/>
          </a:xfrm>
          <a:prstGeom prst="rect">
            <a:avLst/>
          </a:prstGeom>
          <a:noFill/>
          <a:ln w="12700">
            <a:solidFill>
              <a:prstClr val="black"/>
            </a:solidFill>
          </a:ln>
        </p:spPr>
        <p:txBody>
          <a:bodyPr vert="horz" lIns="91440" tIns="45720" rIns="91440" bIns="45720" rtlCol="0" anchor="ctr"/>
          <a:lstStyle/>
          <a:p>
            <a:endParaRPr lang="en-TR"/>
          </a:p>
        </p:txBody>
      </p:sp>
      <p:sp>
        <p:nvSpPr>
          <p:cNvPr id="5" name="Notes Placeholder 4"/>
          <p:cNvSpPr>
            <a:spLocks noGrp="1"/>
          </p:cNvSpPr>
          <p:nvPr>
            <p:ph type="body" sz="quarter" idx="3"/>
          </p:nvPr>
        </p:nvSpPr>
        <p:spPr>
          <a:xfrm>
            <a:off x="1069975" y="3640138"/>
            <a:ext cx="8553450" cy="29781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6" name="Footer Placeholder 5"/>
          <p:cNvSpPr>
            <a:spLocks noGrp="1"/>
          </p:cNvSpPr>
          <p:nvPr>
            <p:ph type="ftr" sz="quarter" idx="4"/>
          </p:nvPr>
        </p:nvSpPr>
        <p:spPr>
          <a:xfrm>
            <a:off x="0" y="7183438"/>
            <a:ext cx="4633913" cy="379412"/>
          </a:xfrm>
          <a:prstGeom prst="rect">
            <a:avLst/>
          </a:prstGeom>
        </p:spPr>
        <p:txBody>
          <a:bodyPr vert="horz" lIns="91440" tIns="45720" rIns="91440" bIns="45720" rtlCol="0" anchor="b"/>
          <a:lstStyle>
            <a:lvl1pPr algn="l">
              <a:defRPr sz="1200"/>
            </a:lvl1pPr>
          </a:lstStyle>
          <a:p>
            <a:endParaRPr lang="en-TR"/>
          </a:p>
        </p:txBody>
      </p:sp>
      <p:sp>
        <p:nvSpPr>
          <p:cNvPr id="7" name="Slide Number Placeholder 6"/>
          <p:cNvSpPr>
            <a:spLocks noGrp="1"/>
          </p:cNvSpPr>
          <p:nvPr>
            <p:ph type="sldNum" sz="quarter" idx="5"/>
          </p:nvPr>
        </p:nvSpPr>
        <p:spPr>
          <a:xfrm>
            <a:off x="6057900" y="7183438"/>
            <a:ext cx="4632325" cy="379412"/>
          </a:xfrm>
          <a:prstGeom prst="rect">
            <a:avLst/>
          </a:prstGeom>
        </p:spPr>
        <p:txBody>
          <a:bodyPr vert="horz" lIns="91440" tIns="45720" rIns="91440" bIns="45720" rtlCol="0" anchor="b"/>
          <a:lstStyle>
            <a:lvl1pPr algn="r">
              <a:defRPr sz="1200"/>
            </a:lvl1pPr>
          </a:lstStyle>
          <a:p>
            <a:fld id="{929E4D43-597A-324D-8B18-09B1A76676AD}" type="slidenum">
              <a:rPr lang="en-TR" smtClean="0"/>
              <a:t>‹#›</a:t>
            </a:fld>
            <a:endParaRPr lang="en-TR"/>
          </a:p>
        </p:txBody>
      </p:sp>
    </p:spTree>
    <p:extLst>
      <p:ext uri="{BB962C8B-B14F-4D97-AF65-F5344CB8AC3E}">
        <p14:creationId xmlns:p14="http://schemas.microsoft.com/office/powerpoint/2010/main" val="3957587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1</a:t>
            </a:fld>
            <a:endParaRPr lang="tr-TR"/>
          </a:p>
        </p:txBody>
      </p:sp>
    </p:spTree>
    <p:extLst>
      <p:ext uri="{BB962C8B-B14F-4D97-AF65-F5344CB8AC3E}">
        <p14:creationId xmlns:p14="http://schemas.microsoft.com/office/powerpoint/2010/main" val="1625094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2</a:t>
            </a:fld>
            <a:endParaRPr lang="tr-TR"/>
          </a:p>
        </p:txBody>
      </p:sp>
    </p:spTree>
    <p:extLst>
      <p:ext uri="{BB962C8B-B14F-4D97-AF65-F5344CB8AC3E}">
        <p14:creationId xmlns:p14="http://schemas.microsoft.com/office/powerpoint/2010/main" val="1630912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3</a:t>
            </a:fld>
            <a:endParaRPr lang="tr-TR"/>
          </a:p>
        </p:txBody>
      </p:sp>
    </p:spTree>
    <p:extLst>
      <p:ext uri="{BB962C8B-B14F-4D97-AF65-F5344CB8AC3E}">
        <p14:creationId xmlns:p14="http://schemas.microsoft.com/office/powerpoint/2010/main" val="1690051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4</a:t>
            </a:fld>
            <a:endParaRPr lang="tr-TR"/>
          </a:p>
        </p:txBody>
      </p:sp>
    </p:spTree>
    <p:extLst>
      <p:ext uri="{BB962C8B-B14F-4D97-AF65-F5344CB8AC3E}">
        <p14:creationId xmlns:p14="http://schemas.microsoft.com/office/powerpoint/2010/main" val="29488566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5</a:t>
            </a:fld>
            <a:endParaRPr lang="tr-TR"/>
          </a:p>
        </p:txBody>
      </p:sp>
    </p:spTree>
    <p:extLst>
      <p:ext uri="{BB962C8B-B14F-4D97-AF65-F5344CB8AC3E}">
        <p14:creationId xmlns:p14="http://schemas.microsoft.com/office/powerpoint/2010/main" val="11266803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6</a:t>
            </a:fld>
            <a:endParaRPr lang="tr-TR"/>
          </a:p>
        </p:txBody>
      </p:sp>
    </p:spTree>
    <p:extLst>
      <p:ext uri="{BB962C8B-B14F-4D97-AF65-F5344CB8AC3E}">
        <p14:creationId xmlns:p14="http://schemas.microsoft.com/office/powerpoint/2010/main" val="486083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10"/>
          </p:nvPr>
        </p:nvSpPr>
        <p:spPr/>
        <p:txBody>
          <a:bodyPr/>
          <a:lstStyle/>
          <a:p>
            <a:fld id="{7980D787-957A-4C91-9FA2-965885DFC9A9}" type="slidenum">
              <a:rPr lang="tr-TR" smtClean="0"/>
              <a:t>7</a:t>
            </a:fld>
            <a:endParaRPr lang="tr-TR" dirty="0"/>
          </a:p>
        </p:txBody>
      </p:sp>
    </p:spTree>
    <p:extLst>
      <p:ext uri="{BB962C8B-B14F-4D97-AF65-F5344CB8AC3E}">
        <p14:creationId xmlns:p14="http://schemas.microsoft.com/office/powerpoint/2010/main" val="28528572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 name="PlaceHolder 1"/>
          <p:cNvSpPr>
            <a:spLocks noGrp="1" noRot="1" noChangeAspect="1"/>
          </p:cNvSpPr>
          <p:nvPr>
            <p:ph type="sldImg"/>
          </p:nvPr>
        </p:nvSpPr>
        <p:spPr>
          <a:xfrm>
            <a:off x="3543300" y="946150"/>
            <a:ext cx="3606800" cy="2551113"/>
          </a:xfrm>
          <a:prstGeom prst="rect">
            <a:avLst/>
          </a:prstGeom>
          <a:ln w="0">
            <a:noFill/>
          </a:ln>
        </p:spPr>
      </p:sp>
      <p:sp>
        <p:nvSpPr>
          <p:cNvPr id="753" name="PlaceHolder 2"/>
          <p:cNvSpPr>
            <a:spLocks noGrp="1"/>
          </p:cNvSpPr>
          <p:nvPr>
            <p:ph type="body"/>
          </p:nvPr>
        </p:nvSpPr>
        <p:spPr>
          <a:xfrm>
            <a:off x="1069920" y="3639960"/>
            <a:ext cx="8553240" cy="2977920"/>
          </a:xfrm>
          <a:prstGeom prst="rect">
            <a:avLst/>
          </a:prstGeom>
          <a:noFill/>
          <a:ln w="0">
            <a:noFill/>
          </a:ln>
        </p:spPr>
        <p:txBody>
          <a:bodyPr lIns="91440" tIns="45720" rIns="91440" bIns="45720" anchor="t">
            <a:noAutofit/>
          </a:bodyPr>
          <a:lstStyle/>
          <a:p>
            <a:pPr indent="0">
              <a:buNone/>
            </a:pPr>
            <a:endParaRPr lang="tr-TR" sz="1800" b="0" u="none" strike="noStrike">
              <a:solidFill>
                <a:srgbClr val="000000"/>
              </a:solidFill>
              <a:effectLst/>
              <a:uFillTx/>
              <a:latin typeface="Arial"/>
            </a:endParaRPr>
          </a:p>
        </p:txBody>
      </p:sp>
      <p:sp>
        <p:nvSpPr>
          <p:cNvPr id="754" name="PlaceHolder 3"/>
          <p:cNvSpPr>
            <a:spLocks noGrp="1"/>
          </p:cNvSpPr>
          <p:nvPr>
            <p:ph type="sldNum" idx="199"/>
          </p:nvPr>
        </p:nvSpPr>
        <p:spPr>
          <a:xfrm>
            <a:off x="6058080" y="7183440"/>
            <a:ext cx="4632120" cy="379080"/>
          </a:xfrm>
          <a:prstGeom prst="rect">
            <a:avLst/>
          </a:prstGeom>
          <a:noFill/>
          <a:ln w="0">
            <a:noFill/>
          </a:ln>
        </p:spPr>
        <p:txBody>
          <a:bodyPr lIns="91440" tIns="45720" rIns="91440" bIns="45720" anchor="b">
            <a:noAutofit/>
          </a:bodyPr>
          <a:lstStyle>
            <a:lvl1pPr indent="0" algn="r">
              <a:lnSpc>
                <a:spcPct val="100000"/>
              </a:lnSpc>
              <a:buNone/>
              <a:defRPr lang="tr-TR" sz="1200" b="0" u="none" strike="noStrike">
                <a:solidFill>
                  <a:srgbClr val="000000"/>
                </a:solidFill>
                <a:effectLst/>
                <a:uFillTx/>
                <a:latin typeface="Times New Roman"/>
              </a:defRPr>
            </a:lvl1pPr>
          </a:lstStyle>
          <a:p>
            <a:pPr indent="0" algn="r">
              <a:lnSpc>
                <a:spcPct val="100000"/>
              </a:lnSpc>
              <a:buNone/>
            </a:pPr>
            <a:fld id="{EC42AC89-B06A-43A1-BF1D-A1868B940796}" type="slidenum">
              <a:rPr lang="tr-TR" sz="1200" b="0" u="none" strike="noStrike">
                <a:solidFill>
                  <a:srgbClr val="000000"/>
                </a:solidFill>
                <a:effectLst/>
                <a:uFillTx/>
                <a:latin typeface="Times New Roman"/>
              </a:rPr>
              <a:t>8</a:t>
            </a:fld>
            <a:endParaRPr lang="tr-TR"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9</a:t>
            </a:fld>
            <a:endParaRPr lang="tr-TR"/>
          </a:p>
        </p:txBody>
      </p:sp>
    </p:spTree>
    <p:extLst>
      <p:ext uri="{BB962C8B-B14F-4D97-AF65-F5344CB8AC3E}">
        <p14:creationId xmlns:p14="http://schemas.microsoft.com/office/powerpoint/2010/main" val="25448087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10</a:t>
            </a:fld>
            <a:endParaRPr lang="tr-TR"/>
          </a:p>
        </p:txBody>
      </p:sp>
    </p:spTree>
    <p:extLst>
      <p:ext uri="{BB962C8B-B14F-4D97-AF65-F5344CB8AC3E}">
        <p14:creationId xmlns:p14="http://schemas.microsoft.com/office/powerpoint/2010/main" val="19805958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11</a:t>
            </a:fld>
            <a:endParaRPr lang="tr-TR"/>
          </a:p>
        </p:txBody>
      </p:sp>
    </p:spTree>
    <p:extLst>
      <p:ext uri="{BB962C8B-B14F-4D97-AF65-F5344CB8AC3E}">
        <p14:creationId xmlns:p14="http://schemas.microsoft.com/office/powerpoint/2010/main" val="23863498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12</a:t>
            </a:fld>
            <a:endParaRPr lang="tr-TR"/>
          </a:p>
        </p:txBody>
      </p:sp>
    </p:spTree>
    <p:extLst>
      <p:ext uri="{BB962C8B-B14F-4D97-AF65-F5344CB8AC3E}">
        <p14:creationId xmlns:p14="http://schemas.microsoft.com/office/powerpoint/2010/main" val="902531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13</a:t>
            </a:fld>
            <a:endParaRPr lang="tr-TR"/>
          </a:p>
        </p:txBody>
      </p:sp>
    </p:spTree>
    <p:extLst>
      <p:ext uri="{BB962C8B-B14F-4D97-AF65-F5344CB8AC3E}">
        <p14:creationId xmlns:p14="http://schemas.microsoft.com/office/powerpoint/2010/main" val="37483649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14</a:t>
            </a:fld>
            <a:endParaRPr lang="tr-TR"/>
          </a:p>
        </p:txBody>
      </p:sp>
    </p:spTree>
    <p:extLst>
      <p:ext uri="{BB962C8B-B14F-4D97-AF65-F5344CB8AC3E}">
        <p14:creationId xmlns:p14="http://schemas.microsoft.com/office/powerpoint/2010/main" val="19805672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15</a:t>
            </a:fld>
            <a:endParaRPr lang="tr-TR"/>
          </a:p>
        </p:txBody>
      </p:sp>
    </p:spTree>
    <p:extLst>
      <p:ext uri="{BB962C8B-B14F-4D97-AF65-F5344CB8AC3E}">
        <p14:creationId xmlns:p14="http://schemas.microsoft.com/office/powerpoint/2010/main" val="42609915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16</a:t>
            </a:fld>
            <a:endParaRPr lang="tr-TR"/>
          </a:p>
        </p:txBody>
      </p:sp>
    </p:spTree>
    <p:extLst>
      <p:ext uri="{BB962C8B-B14F-4D97-AF65-F5344CB8AC3E}">
        <p14:creationId xmlns:p14="http://schemas.microsoft.com/office/powerpoint/2010/main" val="29023598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17</a:t>
            </a:fld>
            <a:endParaRPr lang="tr-TR"/>
          </a:p>
        </p:txBody>
      </p:sp>
    </p:spTree>
    <p:extLst>
      <p:ext uri="{BB962C8B-B14F-4D97-AF65-F5344CB8AC3E}">
        <p14:creationId xmlns:p14="http://schemas.microsoft.com/office/powerpoint/2010/main" val="1836819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10"/>
          </p:nvPr>
        </p:nvSpPr>
        <p:spPr/>
        <p:txBody>
          <a:bodyPr/>
          <a:lstStyle/>
          <a:p>
            <a:fld id="{7980D787-957A-4C91-9FA2-965885DFC9A9}" type="slidenum">
              <a:rPr lang="tr-TR" smtClean="0"/>
              <a:t>18</a:t>
            </a:fld>
            <a:endParaRPr lang="tr-TR"/>
          </a:p>
        </p:txBody>
      </p:sp>
    </p:spTree>
    <p:extLst>
      <p:ext uri="{BB962C8B-B14F-4D97-AF65-F5344CB8AC3E}">
        <p14:creationId xmlns:p14="http://schemas.microsoft.com/office/powerpoint/2010/main" val="8084861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10"/>
          </p:nvPr>
        </p:nvSpPr>
        <p:spPr/>
        <p:txBody>
          <a:bodyPr/>
          <a:lstStyle/>
          <a:p>
            <a:fld id="{7980D787-957A-4C91-9FA2-965885DFC9A9}" type="slidenum">
              <a:rPr lang="tr-TR" smtClean="0"/>
              <a:t>19</a:t>
            </a:fld>
            <a:endParaRPr lang="tr-TR"/>
          </a:p>
        </p:txBody>
      </p:sp>
    </p:spTree>
    <p:extLst>
      <p:ext uri="{BB962C8B-B14F-4D97-AF65-F5344CB8AC3E}">
        <p14:creationId xmlns:p14="http://schemas.microsoft.com/office/powerpoint/2010/main" val="9436439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20</a:t>
            </a:fld>
            <a:endParaRPr lang="tr-TR"/>
          </a:p>
        </p:txBody>
      </p:sp>
    </p:spTree>
    <p:extLst>
      <p:ext uri="{BB962C8B-B14F-4D97-AF65-F5344CB8AC3E}">
        <p14:creationId xmlns:p14="http://schemas.microsoft.com/office/powerpoint/2010/main" val="14117616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21</a:t>
            </a:fld>
            <a:endParaRPr lang="tr-TR"/>
          </a:p>
        </p:txBody>
      </p:sp>
    </p:spTree>
    <p:extLst>
      <p:ext uri="{BB962C8B-B14F-4D97-AF65-F5344CB8AC3E}">
        <p14:creationId xmlns:p14="http://schemas.microsoft.com/office/powerpoint/2010/main" val="25215072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22</a:t>
            </a:fld>
            <a:endParaRPr lang="tr-TR"/>
          </a:p>
        </p:txBody>
      </p:sp>
    </p:spTree>
    <p:extLst>
      <p:ext uri="{BB962C8B-B14F-4D97-AF65-F5344CB8AC3E}">
        <p14:creationId xmlns:p14="http://schemas.microsoft.com/office/powerpoint/2010/main" val="34252998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23</a:t>
            </a:fld>
            <a:endParaRPr lang="tr-TR"/>
          </a:p>
        </p:txBody>
      </p:sp>
    </p:spTree>
    <p:extLst>
      <p:ext uri="{BB962C8B-B14F-4D97-AF65-F5344CB8AC3E}">
        <p14:creationId xmlns:p14="http://schemas.microsoft.com/office/powerpoint/2010/main" val="24660373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24</a:t>
            </a:fld>
            <a:endParaRPr lang="tr-TR"/>
          </a:p>
        </p:txBody>
      </p:sp>
    </p:spTree>
    <p:extLst>
      <p:ext uri="{BB962C8B-B14F-4D97-AF65-F5344CB8AC3E}">
        <p14:creationId xmlns:p14="http://schemas.microsoft.com/office/powerpoint/2010/main" val="5389845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25</a:t>
            </a:fld>
            <a:endParaRPr lang="tr-TR"/>
          </a:p>
        </p:txBody>
      </p:sp>
    </p:spTree>
    <p:extLst>
      <p:ext uri="{BB962C8B-B14F-4D97-AF65-F5344CB8AC3E}">
        <p14:creationId xmlns:p14="http://schemas.microsoft.com/office/powerpoint/2010/main" val="31929805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26</a:t>
            </a:fld>
            <a:endParaRPr lang="tr-TR"/>
          </a:p>
        </p:txBody>
      </p:sp>
    </p:spTree>
    <p:extLst>
      <p:ext uri="{BB962C8B-B14F-4D97-AF65-F5344CB8AC3E}">
        <p14:creationId xmlns:p14="http://schemas.microsoft.com/office/powerpoint/2010/main" val="18347248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28</a:t>
            </a:fld>
            <a:endParaRPr lang="tr-TR"/>
          </a:p>
        </p:txBody>
      </p:sp>
    </p:spTree>
    <p:extLst>
      <p:ext uri="{BB962C8B-B14F-4D97-AF65-F5344CB8AC3E}">
        <p14:creationId xmlns:p14="http://schemas.microsoft.com/office/powerpoint/2010/main" val="33015723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7980D787-957A-4C91-9FA2-965885DFC9A9}" type="slidenum">
              <a:rPr lang="tr-TR" smtClean="0"/>
              <a:t>29</a:t>
            </a:fld>
            <a:endParaRPr lang="tr-TR"/>
          </a:p>
        </p:txBody>
      </p:sp>
    </p:spTree>
    <p:extLst>
      <p:ext uri="{BB962C8B-B14F-4D97-AF65-F5344CB8AC3E}">
        <p14:creationId xmlns:p14="http://schemas.microsoft.com/office/powerpoint/2010/main" val="11982269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18917" y="1054136"/>
            <a:ext cx="601980" cy="508000"/>
          </a:xfrm>
          <a:prstGeom prst="rect">
            <a:avLst/>
          </a:prstGeom>
        </p:spPr>
        <p:txBody>
          <a:bodyPr wrap="square" lIns="0" tIns="0" rIns="0" bIns="0">
            <a:spAutoFit/>
          </a:bodyPr>
          <a:lstStyle>
            <a:lvl1pPr>
              <a:defRPr sz="3950" b="1" i="0">
                <a:solidFill>
                  <a:srgbClr val="0070BF"/>
                </a:solidFill>
                <a:latin typeface="Calibri"/>
                <a:cs typeface="Calibri"/>
              </a:defRPr>
            </a:lvl1pPr>
          </a:lstStyle>
          <a:p>
            <a:endParaRPr/>
          </a:p>
        </p:txBody>
      </p:sp>
      <p:sp>
        <p:nvSpPr>
          <p:cNvPr id="3" name="Holder 3"/>
          <p:cNvSpPr>
            <a:spLocks noGrp="1"/>
          </p:cNvSpPr>
          <p:nvPr>
            <p:ph type="subTitle" idx="4"/>
          </p:nvPr>
        </p:nvSpPr>
        <p:spPr>
          <a:xfrm>
            <a:off x="1604010" y="4235196"/>
            <a:ext cx="7485380" cy="1890712"/>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050" b="0" i="0">
                <a:solidFill>
                  <a:srgbClr val="898989"/>
                </a:solidFill>
                <a:latin typeface="Calibri"/>
                <a:cs typeface="Calibri"/>
              </a:defRPr>
            </a:lvl1pPr>
          </a:lstStyle>
          <a:p>
            <a:pPr marL="1270" algn="ctr">
              <a:lnSpc>
                <a:spcPts val="1100"/>
              </a:lnSpc>
            </a:pPr>
            <a:r>
              <a:rPr lang="tr-TR" dirty="0"/>
              <a:t>2026 TEKNOFEST DİKEY İNİŞLİ ROKET YARIŞMASI</a:t>
            </a:r>
            <a:endParaRPr spc="-10" dirty="0"/>
          </a:p>
          <a:p>
            <a:pPr marL="1270" algn="ctr">
              <a:lnSpc>
                <a:spcPct val="100000"/>
              </a:lnSpc>
            </a:pPr>
            <a:r>
              <a:rPr dirty="0"/>
              <a:t>ÖN</a:t>
            </a:r>
            <a:r>
              <a:rPr spc="-35" dirty="0"/>
              <a:t> </a:t>
            </a:r>
            <a:r>
              <a:rPr spc="-10" dirty="0"/>
              <a:t>TASARIM</a:t>
            </a:r>
            <a:r>
              <a:rPr spc="-20" dirty="0"/>
              <a:t> </a:t>
            </a:r>
            <a:r>
              <a:rPr dirty="0"/>
              <a:t>RAPORU</a:t>
            </a:r>
            <a:r>
              <a:rPr spc="-5" dirty="0"/>
              <a:t> </a:t>
            </a:r>
            <a:r>
              <a:rPr spc="-20" dirty="0"/>
              <a:t>(ÖTR)</a:t>
            </a:r>
          </a:p>
        </p:txBody>
      </p:sp>
      <p:sp>
        <p:nvSpPr>
          <p:cNvPr id="5" name="Holder 5"/>
          <p:cNvSpPr>
            <a:spLocks noGrp="1"/>
          </p:cNvSpPr>
          <p:nvPr>
            <p:ph type="dt" sz="half" idx="6"/>
          </p:nvPr>
        </p:nvSpPr>
        <p:spPr/>
        <p:txBody>
          <a:bodyPr lIns="0" tIns="0" rIns="0" bIns="0"/>
          <a:lstStyle>
            <a:lvl1pPr>
              <a:defRPr sz="1050" b="0" i="0">
                <a:solidFill>
                  <a:srgbClr val="898989"/>
                </a:solidFill>
                <a:latin typeface="Calibri"/>
                <a:cs typeface="Calibri"/>
              </a:defRPr>
            </a:lvl1pPr>
          </a:lstStyle>
          <a:p>
            <a:pPr marL="13970">
              <a:lnSpc>
                <a:spcPts val="1100"/>
              </a:lnSpc>
            </a:pPr>
            <a:r>
              <a:rPr dirty="0"/>
              <a:t>25</a:t>
            </a:r>
            <a:r>
              <a:rPr spc="-5" dirty="0"/>
              <a:t> </a:t>
            </a:r>
            <a:r>
              <a:rPr dirty="0"/>
              <a:t>Aralık</a:t>
            </a:r>
            <a:r>
              <a:rPr spc="-5" dirty="0"/>
              <a:t> </a:t>
            </a:r>
            <a:r>
              <a:rPr dirty="0"/>
              <a:t>2023</a:t>
            </a:r>
            <a:r>
              <a:rPr spc="-20" dirty="0"/>
              <a:t> </a:t>
            </a:r>
            <a:r>
              <a:rPr spc="-10" dirty="0"/>
              <a:t>Pazartesi</a:t>
            </a:r>
          </a:p>
        </p:txBody>
      </p:sp>
      <p:sp>
        <p:nvSpPr>
          <p:cNvPr id="6" name="Holder 6"/>
          <p:cNvSpPr>
            <a:spLocks noGrp="1"/>
          </p:cNvSpPr>
          <p:nvPr>
            <p:ph type="sldNum" sz="quarter" idx="7"/>
          </p:nvPr>
        </p:nvSpPr>
        <p:spPr/>
        <p:txBody>
          <a:bodyPr lIns="0" tIns="0" rIns="0" bIns="0"/>
          <a:lstStyle>
            <a:lvl1pPr>
              <a:defRPr sz="1050" b="0" i="0">
                <a:solidFill>
                  <a:srgbClr val="898989"/>
                </a:solidFill>
                <a:latin typeface="Calibri"/>
                <a:cs typeface="Calibri"/>
              </a:defRPr>
            </a:lvl1pPr>
          </a:lstStyle>
          <a:p>
            <a:pPr marL="82550">
              <a:lnSpc>
                <a:spcPts val="1115"/>
              </a:lnSpc>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0070BF"/>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050" b="0" i="0">
                <a:solidFill>
                  <a:srgbClr val="898989"/>
                </a:solidFill>
                <a:latin typeface="Calibri"/>
                <a:cs typeface="Calibri"/>
              </a:defRPr>
            </a:lvl1pPr>
          </a:lstStyle>
          <a:p>
            <a:pPr marL="1270" algn="ctr">
              <a:lnSpc>
                <a:spcPts val="1100"/>
              </a:lnSpc>
            </a:pPr>
            <a:r>
              <a:rPr lang="tr-TR" dirty="0"/>
              <a:t>2026 TEKNOFEST DİKEY İNİŞLİ ROKET YARIŞMASI</a:t>
            </a:r>
            <a:endParaRPr spc="-10" dirty="0"/>
          </a:p>
          <a:p>
            <a:pPr marL="1270" algn="ctr">
              <a:lnSpc>
                <a:spcPct val="100000"/>
              </a:lnSpc>
            </a:pPr>
            <a:r>
              <a:rPr dirty="0"/>
              <a:t>ÖN</a:t>
            </a:r>
            <a:r>
              <a:rPr spc="-35" dirty="0"/>
              <a:t> </a:t>
            </a:r>
            <a:r>
              <a:rPr spc="-10" dirty="0"/>
              <a:t>TASARIM</a:t>
            </a:r>
            <a:r>
              <a:rPr spc="-20" dirty="0"/>
              <a:t> </a:t>
            </a:r>
            <a:r>
              <a:rPr dirty="0"/>
              <a:t>RAPORU</a:t>
            </a:r>
            <a:r>
              <a:rPr spc="-5" dirty="0"/>
              <a:t> </a:t>
            </a:r>
            <a:r>
              <a:rPr spc="-20" dirty="0"/>
              <a:t>(ÖTR)</a:t>
            </a:r>
          </a:p>
        </p:txBody>
      </p:sp>
      <p:sp>
        <p:nvSpPr>
          <p:cNvPr id="5" name="Holder 5"/>
          <p:cNvSpPr>
            <a:spLocks noGrp="1"/>
          </p:cNvSpPr>
          <p:nvPr>
            <p:ph type="dt" sz="half" idx="6"/>
          </p:nvPr>
        </p:nvSpPr>
        <p:spPr/>
        <p:txBody>
          <a:bodyPr lIns="0" tIns="0" rIns="0" bIns="0"/>
          <a:lstStyle>
            <a:lvl1pPr>
              <a:defRPr sz="1050" b="0" i="0">
                <a:solidFill>
                  <a:srgbClr val="898989"/>
                </a:solidFill>
                <a:latin typeface="Calibri"/>
                <a:cs typeface="Calibri"/>
              </a:defRPr>
            </a:lvl1pPr>
          </a:lstStyle>
          <a:p>
            <a:pPr marL="13970">
              <a:lnSpc>
                <a:spcPts val="1100"/>
              </a:lnSpc>
            </a:pPr>
            <a:r>
              <a:rPr dirty="0"/>
              <a:t>25</a:t>
            </a:r>
            <a:r>
              <a:rPr spc="-5" dirty="0"/>
              <a:t> </a:t>
            </a:r>
            <a:r>
              <a:rPr dirty="0"/>
              <a:t>Aralık</a:t>
            </a:r>
            <a:r>
              <a:rPr spc="-5" dirty="0"/>
              <a:t> </a:t>
            </a:r>
            <a:r>
              <a:rPr dirty="0"/>
              <a:t>2023</a:t>
            </a:r>
            <a:r>
              <a:rPr spc="-20" dirty="0"/>
              <a:t> </a:t>
            </a:r>
            <a:r>
              <a:rPr spc="-10" dirty="0"/>
              <a:t>Pazartesi</a:t>
            </a:r>
          </a:p>
        </p:txBody>
      </p:sp>
      <p:sp>
        <p:nvSpPr>
          <p:cNvPr id="6" name="Holder 6"/>
          <p:cNvSpPr>
            <a:spLocks noGrp="1"/>
          </p:cNvSpPr>
          <p:nvPr>
            <p:ph type="sldNum" sz="quarter" idx="7"/>
          </p:nvPr>
        </p:nvSpPr>
        <p:spPr/>
        <p:txBody>
          <a:bodyPr lIns="0" tIns="0" rIns="0" bIns="0"/>
          <a:lstStyle>
            <a:lvl1pPr>
              <a:defRPr sz="1050" b="0" i="0">
                <a:solidFill>
                  <a:srgbClr val="898989"/>
                </a:solidFill>
                <a:latin typeface="Calibri"/>
                <a:cs typeface="Calibri"/>
              </a:defRPr>
            </a:lvl1pPr>
          </a:lstStyle>
          <a:p>
            <a:pPr marL="82550">
              <a:lnSpc>
                <a:spcPts val="1115"/>
              </a:lnSpc>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0070BF"/>
                </a:solidFill>
                <a:latin typeface="Calibri"/>
                <a:cs typeface="Calibri"/>
              </a:defRPr>
            </a:lvl1pPr>
          </a:lstStyle>
          <a:p>
            <a:endParaRPr/>
          </a:p>
        </p:txBody>
      </p:sp>
      <p:sp>
        <p:nvSpPr>
          <p:cNvPr id="3" name="Holder 3"/>
          <p:cNvSpPr>
            <a:spLocks noGrp="1"/>
          </p:cNvSpPr>
          <p:nvPr>
            <p:ph sz="half" idx="2"/>
          </p:nvPr>
        </p:nvSpPr>
        <p:spPr>
          <a:xfrm>
            <a:off x="534670" y="1739455"/>
            <a:ext cx="4651629" cy="499148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507101" y="1739455"/>
            <a:ext cx="4651629" cy="499148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050" b="0" i="0">
                <a:solidFill>
                  <a:srgbClr val="898989"/>
                </a:solidFill>
                <a:latin typeface="Calibri"/>
                <a:cs typeface="Calibri"/>
              </a:defRPr>
            </a:lvl1pPr>
          </a:lstStyle>
          <a:p>
            <a:pPr marL="1270" algn="ctr">
              <a:lnSpc>
                <a:spcPts val="1100"/>
              </a:lnSpc>
            </a:pPr>
            <a:r>
              <a:rPr lang="tr-TR" dirty="0"/>
              <a:t>2026 TEKNOFEST DİKEY İNİŞLİ ROKET YARIŞMASI</a:t>
            </a:r>
            <a:endParaRPr spc="-10" dirty="0"/>
          </a:p>
          <a:p>
            <a:pPr marL="1270" algn="ctr">
              <a:lnSpc>
                <a:spcPct val="100000"/>
              </a:lnSpc>
            </a:pPr>
            <a:r>
              <a:rPr dirty="0"/>
              <a:t>ÖN</a:t>
            </a:r>
            <a:r>
              <a:rPr spc="-35" dirty="0"/>
              <a:t> </a:t>
            </a:r>
            <a:r>
              <a:rPr spc="-10" dirty="0"/>
              <a:t>TASARIM</a:t>
            </a:r>
            <a:r>
              <a:rPr spc="-20" dirty="0"/>
              <a:t> </a:t>
            </a:r>
            <a:r>
              <a:rPr dirty="0"/>
              <a:t>RAPORU</a:t>
            </a:r>
            <a:r>
              <a:rPr spc="-5" dirty="0"/>
              <a:t> </a:t>
            </a:r>
            <a:r>
              <a:rPr spc="-20" dirty="0"/>
              <a:t>(ÖTR)</a:t>
            </a:r>
          </a:p>
        </p:txBody>
      </p:sp>
      <p:sp>
        <p:nvSpPr>
          <p:cNvPr id="6" name="Holder 6"/>
          <p:cNvSpPr>
            <a:spLocks noGrp="1"/>
          </p:cNvSpPr>
          <p:nvPr>
            <p:ph type="dt" sz="half" idx="6"/>
          </p:nvPr>
        </p:nvSpPr>
        <p:spPr/>
        <p:txBody>
          <a:bodyPr lIns="0" tIns="0" rIns="0" bIns="0"/>
          <a:lstStyle>
            <a:lvl1pPr>
              <a:defRPr sz="1050" b="0" i="0">
                <a:solidFill>
                  <a:srgbClr val="898989"/>
                </a:solidFill>
                <a:latin typeface="Calibri"/>
                <a:cs typeface="Calibri"/>
              </a:defRPr>
            </a:lvl1pPr>
          </a:lstStyle>
          <a:p>
            <a:pPr marL="13970">
              <a:lnSpc>
                <a:spcPts val="1100"/>
              </a:lnSpc>
            </a:pPr>
            <a:r>
              <a:rPr dirty="0"/>
              <a:t>25</a:t>
            </a:r>
            <a:r>
              <a:rPr spc="-5" dirty="0"/>
              <a:t> </a:t>
            </a:r>
            <a:r>
              <a:rPr dirty="0"/>
              <a:t>Aralık</a:t>
            </a:r>
            <a:r>
              <a:rPr spc="-5" dirty="0"/>
              <a:t> </a:t>
            </a:r>
            <a:r>
              <a:rPr dirty="0"/>
              <a:t>2023</a:t>
            </a:r>
            <a:r>
              <a:rPr spc="-20" dirty="0"/>
              <a:t> </a:t>
            </a:r>
            <a:r>
              <a:rPr spc="-10" dirty="0"/>
              <a:t>Pazartesi</a:t>
            </a:r>
          </a:p>
        </p:txBody>
      </p:sp>
      <p:sp>
        <p:nvSpPr>
          <p:cNvPr id="7" name="Holder 7"/>
          <p:cNvSpPr>
            <a:spLocks noGrp="1"/>
          </p:cNvSpPr>
          <p:nvPr>
            <p:ph type="sldNum" sz="quarter" idx="7"/>
          </p:nvPr>
        </p:nvSpPr>
        <p:spPr/>
        <p:txBody>
          <a:bodyPr lIns="0" tIns="0" rIns="0" bIns="0"/>
          <a:lstStyle>
            <a:lvl1pPr>
              <a:defRPr sz="1050" b="0" i="0">
                <a:solidFill>
                  <a:srgbClr val="898989"/>
                </a:solidFill>
                <a:latin typeface="Calibri"/>
                <a:cs typeface="Calibri"/>
              </a:defRPr>
            </a:lvl1pPr>
          </a:lstStyle>
          <a:p>
            <a:pPr marL="82550">
              <a:lnSpc>
                <a:spcPts val="1115"/>
              </a:lnSpc>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0070BF"/>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1050" b="0" i="0">
                <a:solidFill>
                  <a:srgbClr val="898989"/>
                </a:solidFill>
                <a:latin typeface="Calibri"/>
                <a:cs typeface="Calibri"/>
              </a:defRPr>
            </a:lvl1pPr>
          </a:lstStyle>
          <a:p>
            <a:pPr marL="1270" algn="ctr">
              <a:lnSpc>
                <a:spcPts val="1100"/>
              </a:lnSpc>
            </a:pPr>
            <a:r>
              <a:rPr lang="tr-TR" dirty="0"/>
              <a:t>2026 TEKNOFEST DİKEY İNİŞLİ ROKET YARIŞMASI</a:t>
            </a:r>
            <a:endParaRPr spc="-10" dirty="0"/>
          </a:p>
          <a:p>
            <a:pPr marL="1270" algn="ctr">
              <a:lnSpc>
                <a:spcPct val="100000"/>
              </a:lnSpc>
            </a:pPr>
            <a:r>
              <a:rPr dirty="0"/>
              <a:t>ÖN</a:t>
            </a:r>
            <a:r>
              <a:rPr spc="-35" dirty="0"/>
              <a:t> </a:t>
            </a:r>
            <a:r>
              <a:rPr spc="-10" dirty="0"/>
              <a:t>TASARIM</a:t>
            </a:r>
            <a:r>
              <a:rPr spc="-20" dirty="0"/>
              <a:t> </a:t>
            </a:r>
            <a:r>
              <a:rPr dirty="0"/>
              <a:t>RAPORU</a:t>
            </a:r>
            <a:r>
              <a:rPr spc="-5" dirty="0"/>
              <a:t> </a:t>
            </a:r>
            <a:r>
              <a:rPr spc="-20" dirty="0"/>
              <a:t>(ÖTR)</a:t>
            </a:r>
          </a:p>
        </p:txBody>
      </p:sp>
      <p:sp>
        <p:nvSpPr>
          <p:cNvPr id="4" name="Holder 4"/>
          <p:cNvSpPr>
            <a:spLocks noGrp="1"/>
          </p:cNvSpPr>
          <p:nvPr>
            <p:ph type="dt" sz="half" idx="6"/>
          </p:nvPr>
        </p:nvSpPr>
        <p:spPr/>
        <p:txBody>
          <a:bodyPr lIns="0" tIns="0" rIns="0" bIns="0"/>
          <a:lstStyle>
            <a:lvl1pPr>
              <a:defRPr sz="1050" b="0" i="0">
                <a:solidFill>
                  <a:srgbClr val="898989"/>
                </a:solidFill>
                <a:latin typeface="Calibri"/>
                <a:cs typeface="Calibri"/>
              </a:defRPr>
            </a:lvl1pPr>
          </a:lstStyle>
          <a:p>
            <a:pPr marL="13970">
              <a:lnSpc>
                <a:spcPts val="1100"/>
              </a:lnSpc>
            </a:pPr>
            <a:r>
              <a:rPr dirty="0"/>
              <a:t>25</a:t>
            </a:r>
            <a:r>
              <a:rPr spc="-5" dirty="0"/>
              <a:t> </a:t>
            </a:r>
            <a:r>
              <a:rPr dirty="0"/>
              <a:t>Aralık</a:t>
            </a:r>
            <a:r>
              <a:rPr spc="-5" dirty="0"/>
              <a:t> </a:t>
            </a:r>
            <a:r>
              <a:rPr dirty="0"/>
              <a:t>2023</a:t>
            </a:r>
            <a:r>
              <a:rPr spc="-20" dirty="0"/>
              <a:t> </a:t>
            </a:r>
            <a:r>
              <a:rPr spc="-10" dirty="0"/>
              <a:t>Pazartesi</a:t>
            </a:r>
          </a:p>
        </p:txBody>
      </p:sp>
      <p:sp>
        <p:nvSpPr>
          <p:cNvPr id="5" name="Holder 5"/>
          <p:cNvSpPr>
            <a:spLocks noGrp="1"/>
          </p:cNvSpPr>
          <p:nvPr>
            <p:ph type="sldNum" sz="quarter" idx="7"/>
          </p:nvPr>
        </p:nvSpPr>
        <p:spPr/>
        <p:txBody>
          <a:bodyPr lIns="0" tIns="0" rIns="0" bIns="0"/>
          <a:lstStyle>
            <a:lvl1pPr>
              <a:defRPr sz="1050" b="0" i="0">
                <a:solidFill>
                  <a:srgbClr val="898989"/>
                </a:solidFill>
                <a:latin typeface="Calibri"/>
                <a:cs typeface="Calibri"/>
              </a:defRPr>
            </a:lvl1pPr>
          </a:lstStyle>
          <a:p>
            <a:pPr marL="82550">
              <a:lnSpc>
                <a:spcPts val="1115"/>
              </a:lnSpc>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050" b="0" i="0">
                <a:solidFill>
                  <a:srgbClr val="898989"/>
                </a:solidFill>
                <a:latin typeface="Calibri"/>
                <a:cs typeface="Calibri"/>
              </a:defRPr>
            </a:lvl1pPr>
          </a:lstStyle>
          <a:p>
            <a:pPr marL="1270" algn="ctr">
              <a:lnSpc>
                <a:spcPts val="1100"/>
              </a:lnSpc>
            </a:pPr>
            <a:r>
              <a:rPr lang="tr-TR" dirty="0"/>
              <a:t>2026 TEKNOFEST DİKEY İNİŞLİ ROKET YARIŞMASI</a:t>
            </a:r>
            <a:endParaRPr spc="-10" dirty="0"/>
          </a:p>
          <a:p>
            <a:pPr marL="1270" algn="ctr">
              <a:lnSpc>
                <a:spcPct val="100000"/>
              </a:lnSpc>
            </a:pPr>
            <a:r>
              <a:rPr dirty="0"/>
              <a:t>ÖN</a:t>
            </a:r>
            <a:r>
              <a:rPr spc="-35" dirty="0"/>
              <a:t> </a:t>
            </a:r>
            <a:r>
              <a:rPr spc="-10" dirty="0"/>
              <a:t>TASARIM</a:t>
            </a:r>
            <a:r>
              <a:rPr spc="-20" dirty="0"/>
              <a:t> </a:t>
            </a:r>
            <a:r>
              <a:rPr dirty="0"/>
              <a:t>RAPORU</a:t>
            </a:r>
            <a:r>
              <a:rPr spc="-5" dirty="0"/>
              <a:t> </a:t>
            </a:r>
            <a:r>
              <a:rPr spc="-20" dirty="0"/>
              <a:t>(ÖTR)</a:t>
            </a:r>
          </a:p>
        </p:txBody>
      </p:sp>
      <p:sp>
        <p:nvSpPr>
          <p:cNvPr id="3" name="Holder 3"/>
          <p:cNvSpPr>
            <a:spLocks noGrp="1"/>
          </p:cNvSpPr>
          <p:nvPr>
            <p:ph type="dt" sz="half" idx="6"/>
          </p:nvPr>
        </p:nvSpPr>
        <p:spPr/>
        <p:txBody>
          <a:bodyPr lIns="0" tIns="0" rIns="0" bIns="0"/>
          <a:lstStyle>
            <a:lvl1pPr>
              <a:defRPr sz="1050" b="0" i="0">
                <a:solidFill>
                  <a:srgbClr val="898989"/>
                </a:solidFill>
                <a:latin typeface="Calibri"/>
                <a:cs typeface="Calibri"/>
              </a:defRPr>
            </a:lvl1pPr>
          </a:lstStyle>
          <a:p>
            <a:pPr marL="13970">
              <a:lnSpc>
                <a:spcPts val="1100"/>
              </a:lnSpc>
            </a:pPr>
            <a:r>
              <a:rPr dirty="0"/>
              <a:t>25</a:t>
            </a:r>
            <a:r>
              <a:rPr spc="-5" dirty="0"/>
              <a:t> </a:t>
            </a:r>
            <a:r>
              <a:rPr dirty="0"/>
              <a:t>Aralık</a:t>
            </a:r>
            <a:r>
              <a:rPr spc="-5" dirty="0"/>
              <a:t> </a:t>
            </a:r>
            <a:r>
              <a:rPr dirty="0"/>
              <a:t>2023</a:t>
            </a:r>
            <a:r>
              <a:rPr spc="-20" dirty="0"/>
              <a:t> </a:t>
            </a:r>
            <a:r>
              <a:rPr spc="-10" dirty="0"/>
              <a:t>Pazartesi</a:t>
            </a:r>
          </a:p>
        </p:txBody>
      </p:sp>
      <p:sp>
        <p:nvSpPr>
          <p:cNvPr id="4" name="Holder 4"/>
          <p:cNvSpPr>
            <a:spLocks noGrp="1"/>
          </p:cNvSpPr>
          <p:nvPr>
            <p:ph type="sldNum" sz="quarter" idx="7"/>
          </p:nvPr>
        </p:nvSpPr>
        <p:spPr/>
        <p:txBody>
          <a:bodyPr lIns="0" tIns="0" rIns="0" bIns="0"/>
          <a:lstStyle>
            <a:lvl1pPr>
              <a:defRPr sz="1050" b="0" i="0">
                <a:solidFill>
                  <a:srgbClr val="898989"/>
                </a:solidFill>
                <a:latin typeface="Calibri"/>
                <a:cs typeface="Calibri"/>
              </a:defRPr>
            </a:lvl1pPr>
          </a:lstStyle>
          <a:p>
            <a:pPr marL="82550">
              <a:lnSpc>
                <a:spcPts val="1115"/>
              </a:lnSpc>
            </a:pPr>
            <a:fld id="{81D60167-4931-47E6-BA6A-407CBD079E47}" type="slidenum">
              <a:rPr dirty="0"/>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36675" y="2250907"/>
            <a:ext cx="8020050" cy="1619802"/>
          </a:xfrm>
        </p:spPr>
        <p:txBody>
          <a:bodyPr anchor="b"/>
          <a:lstStyle>
            <a:lvl1pPr algn="ctr">
              <a:defRPr sz="5263"/>
            </a:lvl1pPr>
          </a:lstStyle>
          <a:p>
            <a:r>
              <a:rPr lang="en-US"/>
              <a:t>Click to edit Master title style</a:t>
            </a:r>
            <a:endParaRPr lang="tr-TR"/>
          </a:p>
        </p:txBody>
      </p:sp>
      <p:sp>
        <p:nvSpPr>
          <p:cNvPr id="3" name="Subtitle 2"/>
          <p:cNvSpPr>
            <a:spLocks noGrp="1"/>
          </p:cNvSpPr>
          <p:nvPr>
            <p:ph type="subTitle" idx="1"/>
          </p:nvPr>
        </p:nvSpPr>
        <p:spPr>
          <a:xfrm>
            <a:off x="1336675" y="3972247"/>
            <a:ext cx="8020050" cy="323935"/>
          </a:xfrm>
        </p:spPr>
        <p:txBody>
          <a:bodyPr/>
          <a:lstStyle>
            <a:lvl1pPr marL="0" indent="0" algn="ctr">
              <a:buNone/>
              <a:defRPr sz="2105"/>
            </a:lvl1pPr>
            <a:lvl2pPr marL="401010" indent="0" algn="ctr">
              <a:buNone/>
              <a:defRPr sz="1754"/>
            </a:lvl2pPr>
            <a:lvl3pPr marL="802020" indent="0" algn="ctr">
              <a:buNone/>
              <a:defRPr sz="1579"/>
            </a:lvl3pPr>
            <a:lvl4pPr marL="1203030" indent="0" algn="ctr">
              <a:buNone/>
              <a:defRPr sz="1403"/>
            </a:lvl4pPr>
            <a:lvl5pPr marL="1604040" indent="0" algn="ctr">
              <a:buNone/>
              <a:defRPr sz="1403"/>
            </a:lvl5pPr>
            <a:lvl6pPr marL="2005051" indent="0" algn="ctr">
              <a:buNone/>
              <a:defRPr sz="1403"/>
            </a:lvl6pPr>
            <a:lvl7pPr marL="2406061" indent="0" algn="ctr">
              <a:buNone/>
              <a:defRPr sz="1403"/>
            </a:lvl7pPr>
            <a:lvl8pPr marL="2807071" indent="0" algn="ctr">
              <a:buNone/>
              <a:defRPr sz="1403"/>
            </a:lvl8pPr>
            <a:lvl9pPr marL="3208081" indent="0" algn="ctr">
              <a:buNone/>
              <a:defRPr sz="1403"/>
            </a:lvl9pPr>
          </a:lstStyle>
          <a:p>
            <a:r>
              <a:rPr lang="en-US"/>
              <a:t>Click to edit Master subtitle style</a:t>
            </a:r>
            <a:endParaRPr lang="tr-TR"/>
          </a:p>
        </p:txBody>
      </p:sp>
      <p:sp>
        <p:nvSpPr>
          <p:cNvPr id="4" name="Date Placeholder 3"/>
          <p:cNvSpPr>
            <a:spLocks noGrp="1"/>
          </p:cNvSpPr>
          <p:nvPr>
            <p:ph type="dt" sz="half" idx="10"/>
          </p:nvPr>
        </p:nvSpPr>
        <p:spPr/>
        <p:txBody>
          <a:bodyPr/>
          <a:lstStyle/>
          <a:p>
            <a:fld id="{7FAE8CB2-9691-490D-9BE8-156B3BD3EDDA}" type="datetime2">
              <a:rPr lang="tr-TR" smtClean="0"/>
              <a:t>3 Temmuz 2026 Cuma</a:t>
            </a:fld>
            <a:endParaRPr lang="tr-TR"/>
          </a:p>
        </p:txBody>
      </p:sp>
      <p:sp>
        <p:nvSpPr>
          <p:cNvPr id="5" name="Footer Placeholder 4"/>
          <p:cNvSpPr>
            <a:spLocks noGrp="1"/>
          </p:cNvSpPr>
          <p:nvPr>
            <p:ph type="ftr" sz="quarter" idx="11"/>
          </p:nvPr>
        </p:nvSpPr>
        <p:spPr/>
        <p:txBody>
          <a:bodyPr/>
          <a:lstStyle/>
          <a:p>
            <a:r>
              <a:rPr lang="tr-TR"/>
              <a:t>2018 TEKNOFEST ROKET YARIŞMASI ÖNCÜL TASARIM RAPORU (ÖTR)</a:t>
            </a:r>
          </a:p>
        </p:txBody>
      </p:sp>
      <p:sp>
        <p:nvSpPr>
          <p:cNvPr id="6" name="Slide Number Placeholder 5"/>
          <p:cNvSpPr>
            <a:spLocks noGrp="1"/>
          </p:cNvSpPr>
          <p:nvPr>
            <p:ph type="sldNum" sz="quarter" idx="12"/>
          </p:nvPr>
        </p:nvSpPr>
        <p:spPr/>
        <p:txBody>
          <a:bodyPr/>
          <a:lstStyle/>
          <a:p>
            <a:fld id="{87BEDC82-49FF-42E3-B7EA-26FF728940D5}" type="slidenum">
              <a:rPr lang="tr-TR" smtClean="0"/>
              <a:t>‹#›</a:t>
            </a:fld>
            <a:endParaRPr lang="tr-TR"/>
          </a:p>
        </p:txBody>
      </p:sp>
    </p:spTree>
    <p:extLst>
      <p:ext uri="{BB962C8B-B14F-4D97-AF65-F5344CB8AC3E}">
        <p14:creationId xmlns:p14="http://schemas.microsoft.com/office/powerpoint/2010/main" val="848046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2_Title Slide">
    <p:bg>
      <p:bgPr>
        <a:solidFill>
          <a:schemeClr val="lt1"/>
        </a:solid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1336680" y="2251080"/>
            <a:ext cx="8019720" cy="1619280"/>
          </a:xfrm>
          <a:prstGeom prst="rect">
            <a:avLst/>
          </a:prstGeom>
          <a:noFill/>
          <a:ln w="0">
            <a:noFill/>
          </a:ln>
        </p:spPr>
        <p:txBody>
          <a:bodyPr lIns="0" tIns="0" rIns="0" bIns="0" anchor="b">
            <a:noAutofit/>
          </a:bodyPr>
          <a:lstStyle/>
          <a:p>
            <a:pPr indent="0" algn="ctr">
              <a:lnSpc>
                <a:spcPct val="100000"/>
              </a:lnSpc>
              <a:buNone/>
            </a:pPr>
            <a:r>
              <a:rPr lang="en-US" sz="5260" b="1" u="none" strike="noStrike">
                <a:solidFill>
                  <a:srgbClr val="0070BF"/>
                </a:solidFill>
                <a:effectLst/>
                <a:uFillTx/>
                <a:latin typeface="Calibri"/>
              </a:rPr>
              <a:t>Click to edit Master title style</a:t>
            </a:r>
            <a:endParaRPr lang="tr-TR" sz="5260" b="0" u="none" strike="noStrike">
              <a:solidFill>
                <a:srgbClr val="000000"/>
              </a:solidFill>
              <a:effectLst/>
              <a:uFillTx/>
              <a:latin typeface="Calibri"/>
            </a:endParaRPr>
          </a:p>
        </p:txBody>
      </p:sp>
      <p:sp>
        <p:nvSpPr>
          <p:cNvPr id="23" name="PlaceHolder 2"/>
          <p:cNvSpPr>
            <a:spLocks noGrp="1"/>
          </p:cNvSpPr>
          <p:nvPr>
            <p:ph type="dt" idx="16"/>
          </p:nvPr>
        </p:nvSpPr>
        <p:spPr>
          <a:xfrm>
            <a:off x="802800" y="643824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r>
              <a:rPr lang="tr-TR" sz="1050" b="0" u="none" strike="noStrike">
                <a:solidFill>
                  <a:srgbClr val="898989"/>
                </a:solidFill>
                <a:effectLst/>
                <a:uFillTx/>
                <a:latin typeface="Calibri"/>
              </a:rPr>
              <a:t>&lt;date/time&gt;</a:t>
            </a:r>
            <a:endParaRPr lang="tr-TR" sz="1050" b="0" u="none" strike="noStrike">
              <a:solidFill>
                <a:srgbClr val="000000"/>
              </a:solidFill>
              <a:effectLst/>
              <a:uFillTx/>
              <a:latin typeface="Times New Roman"/>
            </a:endParaRPr>
          </a:p>
        </p:txBody>
      </p:sp>
      <p:sp>
        <p:nvSpPr>
          <p:cNvPr id="24" name="PlaceHolder 3"/>
          <p:cNvSpPr>
            <a:spLocks noGrp="1"/>
          </p:cNvSpPr>
          <p:nvPr>
            <p:ph type="ftr" idx="17"/>
          </p:nvPr>
        </p:nvSpPr>
        <p:spPr>
          <a:xfrm>
            <a:off x="4023000" y="6357600"/>
            <a:ext cx="2646720" cy="3211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r>
              <a:rPr lang="tr-TR" sz="1050" b="0" u="none" strike="noStrike">
                <a:solidFill>
                  <a:srgbClr val="898989"/>
                </a:solidFill>
                <a:effectLst/>
                <a:uFillTx/>
                <a:latin typeface="Calibri"/>
              </a:rPr>
              <a:t>&lt;footer&gt;</a:t>
            </a:r>
            <a:endParaRPr lang="tr-TR" sz="1050" b="0" u="none" strike="noStrike">
              <a:solidFill>
                <a:srgbClr val="000000"/>
              </a:solidFill>
              <a:effectLst/>
              <a:uFillTx/>
              <a:latin typeface="Times New Roman"/>
            </a:endParaRPr>
          </a:p>
        </p:txBody>
      </p:sp>
      <p:sp>
        <p:nvSpPr>
          <p:cNvPr id="25" name="PlaceHolder 4"/>
          <p:cNvSpPr>
            <a:spLocks noGrp="1"/>
          </p:cNvSpPr>
          <p:nvPr>
            <p:ph type="sldNum" idx="18"/>
          </p:nvPr>
        </p:nvSpPr>
        <p:spPr>
          <a:xfrm>
            <a:off x="9724320" y="643824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8D4E6B61-3EF8-4F07-9387-4ECFCECE32A3}" type="slidenum">
              <a:rPr lang="tr-TR" sz="1050" b="0" u="none" strike="noStrike">
                <a:solidFill>
                  <a:srgbClr val="898989"/>
                </a:solidFill>
                <a:effectLst/>
                <a:uFillTx/>
                <a:latin typeface="Calibri"/>
              </a:rPr>
              <a:t>‹#›</a:t>
            </a:fld>
            <a:endParaRPr lang="tr-TR" sz="1050" b="0" u="none" strike="noStrike">
              <a:solidFill>
                <a:srgbClr val="000000"/>
              </a:solidFill>
              <a:effectLst/>
              <a:uFillTx/>
              <a:latin typeface="Times New Roman"/>
            </a:endParaRPr>
          </a:p>
        </p:txBody>
      </p:sp>
      <p:sp>
        <p:nvSpPr>
          <p:cNvPr id="26" name="PlaceHolder 5"/>
          <p:cNvSpPr>
            <a:spLocks noGrp="1"/>
          </p:cNvSpPr>
          <p:nvPr>
            <p:ph type="body"/>
          </p:nvPr>
        </p:nvSpPr>
        <p:spPr>
          <a:xfrm>
            <a:off x="534600" y="1769400"/>
            <a:ext cx="9623520" cy="43858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tr-TR" sz="1800" b="0" u="none" strike="noStrike">
                <a:solidFill>
                  <a:srgbClr val="000000"/>
                </a:solidFill>
                <a:effectLst/>
                <a:uFillTx/>
                <a:latin typeface="Calibri"/>
              </a:rPr>
              <a:t>Anahat metninin biçimini düzenlemek için tıklayın</a:t>
            </a:r>
          </a:p>
          <a:p>
            <a:pPr marL="864000" lvl="1" indent="-324000">
              <a:spcBef>
                <a:spcPts val="1134"/>
              </a:spcBef>
              <a:buClr>
                <a:srgbClr val="000000"/>
              </a:buClr>
              <a:buSzPct val="75000"/>
              <a:buFont typeface="Symbol" charset="2"/>
              <a:buChar char=""/>
            </a:pPr>
            <a:r>
              <a:rPr lang="tr-TR" sz="1800" b="0" u="none" strike="noStrike">
                <a:solidFill>
                  <a:srgbClr val="000000"/>
                </a:solidFill>
                <a:effectLst/>
                <a:uFillTx/>
                <a:latin typeface="Calibri"/>
              </a:rPr>
              <a:t>İkinci Anahat Düzeyi</a:t>
            </a:r>
          </a:p>
          <a:p>
            <a:pPr marL="1296000" lvl="2" indent="-288000">
              <a:spcBef>
                <a:spcPts val="850"/>
              </a:spcBef>
              <a:buClr>
                <a:srgbClr val="000000"/>
              </a:buClr>
              <a:buSzPct val="45000"/>
              <a:buFont typeface="Wingdings" charset="2"/>
              <a:buChar char=""/>
            </a:pPr>
            <a:r>
              <a:rPr lang="tr-TR" sz="1800" b="0" u="none" strike="noStrike">
                <a:solidFill>
                  <a:srgbClr val="000000"/>
                </a:solidFill>
                <a:effectLst/>
                <a:uFillTx/>
                <a:latin typeface="Calibri"/>
              </a:rPr>
              <a:t>Üçüncü Anahat Düzeyi</a:t>
            </a:r>
          </a:p>
          <a:p>
            <a:pPr marL="1728000" lvl="3" indent="-216000">
              <a:spcBef>
                <a:spcPts val="567"/>
              </a:spcBef>
              <a:buClr>
                <a:srgbClr val="000000"/>
              </a:buClr>
              <a:buSzPct val="75000"/>
              <a:buFont typeface="Symbol" charset="2"/>
              <a:buChar char=""/>
            </a:pPr>
            <a:r>
              <a:rPr lang="tr-TR" sz="1800" b="0" u="none" strike="noStrike">
                <a:solidFill>
                  <a:srgbClr val="000000"/>
                </a:solidFill>
                <a:effectLst/>
                <a:uFillTx/>
                <a:latin typeface="Calibri"/>
              </a:rPr>
              <a:t>Dördüncü Anahat Düzeyi</a:t>
            </a:r>
          </a:p>
          <a:p>
            <a:pPr marL="2160000" lvl="4" indent="-216000">
              <a:spcBef>
                <a:spcPts val="283"/>
              </a:spcBef>
              <a:buClr>
                <a:srgbClr val="000000"/>
              </a:buClr>
              <a:buSzPct val="45000"/>
              <a:buFont typeface="Wingdings" charset="2"/>
              <a:buChar char=""/>
            </a:pPr>
            <a:r>
              <a:rPr lang="tr-TR" sz="2000" b="0" u="none" strike="noStrike">
                <a:solidFill>
                  <a:srgbClr val="000000"/>
                </a:solidFill>
                <a:effectLst/>
                <a:uFillTx/>
                <a:latin typeface="Calibri"/>
              </a:rPr>
              <a:t>Beşinci Anahat Düzeyi</a:t>
            </a:r>
          </a:p>
          <a:p>
            <a:pPr marL="2592000" lvl="5" indent="-216000">
              <a:spcBef>
                <a:spcPts val="283"/>
              </a:spcBef>
              <a:buClr>
                <a:srgbClr val="000000"/>
              </a:buClr>
              <a:buSzPct val="45000"/>
              <a:buFont typeface="Wingdings" charset="2"/>
              <a:buChar char=""/>
            </a:pPr>
            <a:r>
              <a:rPr lang="tr-TR" sz="2000" b="0" u="none" strike="noStrike">
                <a:solidFill>
                  <a:srgbClr val="000000"/>
                </a:solidFill>
                <a:effectLst/>
                <a:uFillTx/>
                <a:latin typeface="Calibri"/>
              </a:rPr>
              <a:t>Altıncı Anahat Düzeyi</a:t>
            </a:r>
          </a:p>
          <a:p>
            <a:pPr marL="3024000" lvl="6" indent="-216000">
              <a:spcBef>
                <a:spcPts val="283"/>
              </a:spcBef>
              <a:buClr>
                <a:srgbClr val="000000"/>
              </a:buClr>
              <a:buSzPct val="45000"/>
              <a:buFont typeface="Wingdings" charset="2"/>
              <a:buChar char=""/>
            </a:pPr>
            <a:r>
              <a:rPr lang="tr-TR" sz="2000" b="0" u="none" strike="noStrike">
                <a:solidFill>
                  <a:srgbClr val="000000"/>
                </a:solidFill>
                <a:effectLst/>
                <a:uFillTx/>
                <a:latin typeface="Calibri"/>
              </a:rPr>
              <a:t>Yedinci Anahat Düzeyi</a:t>
            </a:r>
          </a:p>
        </p:txBody>
      </p:sp>
    </p:spTree>
    <p:extLst>
      <p:ext uri="{BB962C8B-B14F-4D97-AF65-F5344CB8AC3E}">
        <p14:creationId xmlns:p14="http://schemas.microsoft.com/office/powerpoint/2010/main" val="3436391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482321" y="778160"/>
            <a:ext cx="7894955" cy="939800"/>
          </a:xfrm>
          <a:prstGeom prst="rect">
            <a:avLst/>
          </a:prstGeom>
        </p:spPr>
        <p:txBody>
          <a:bodyPr wrap="square" lIns="0" tIns="0" rIns="0" bIns="0">
            <a:spAutoFit/>
          </a:bodyPr>
          <a:lstStyle>
            <a:lvl1pPr>
              <a:defRPr sz="3950" b="1" i="0">
                <a:solidFill>
                  <a:srgbClr val="0070BF"/>
                </a:solidFill>
                <a:latin typeface="Calibri"/>
                <a:cs typeface="Calibri"/>
              </a:defRPr>
            </a:lvl1pPr>
          </a:lstStyle>
          <a:p>
            <a:endParaRPr/>
          </a:p>
        </p:txBody>
      </p:sp>
      <p:sp>
        <p:nvSpPr>
          <p:cNvPr id="3" name="Holder 3"/>
          <p:cNvSpPr>
            <a:spLocks noGrp="1"/>
          </p:cNvSpPr>
          <p:nvPr>
            <p:ph type="body" idx="1"/>
          </p:nvPr>
        </p:nvSpPr>
        <p:spPr>
          <a:xfrm>
            <a:off x="1764029" y="1997202"/>
            <a:ext cx="7164705" cy="412940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022863" y="6357673"/>
            <a:ext cx="2646915" cy="302647"/>
          </a:xfrm>
          <a:prstGeom prst="rect">
            <a:avLst/>
          </a:prstGeom>
        </p:spPr>
        <p:txBody>
          <a:bodyPr wrap="square" lIns="0" tIns="0" rIns="0" bIns="0">
            <a:spAutoFit/>
          </a:bodyPr>
          <a:lstStyle>
            <a:lvl1pPr>
              <a:defRPr sz="1050" b="0" i="0">
                <a:solidFill>
                  <a:srgbClr val="898989"/>
                </a:solidFill>
                <a:latin typeface="Calibri"/>
                <a:cs typeface="Calibri"/>
              </a:defRPr>
            </a:lvl1pPr>
          </a:lstStyle>
          <a:p>
            <a:pPr marL="1270" algn="ctr">
              <a:lnSpc>
                <a:spcPts val="1100"/>
              </a:lnSpc>
            </a:pPr>
            <a:r>
              <a:rPr lang="tr-TR" dirty="0"/>
              <a:t>2026 TEKNOFEST DİKEY İNİŞLİ ROKET YARIŞMASI</a:t>
            </a:r>
            <a:endParaRPr spc="-10" dirty="0"/>
          </a:p>
          <a:p>
            <a:pPr marL="1270" algn="ctr">
              <a:lnSpc>
                <a:spcPct val="100000"/>
              </a:lnSpc>
            </a:pPr>
            <a:r>
              <a:rPr dirty="0"/>
              <a:t>ÖN</a:t>
            </a:r>
            <a:r>
              <a:rPr spc="-35" dirty="0"/>
              <a:t> </a:t>
            </a:r>
            <a:r>
              <a:rPr spc="-10" dirty="0"/>
              <a:t>TASARIM</a:t>
            </a:r>
            <a:r>
              <a:rPr spc="-20" dirty="0"/>
              <a:t> </a:t>
            </a:r>
            <a:r>
              <a:rPr dirty="0"/>
              <a:t>RAPORU</a:t>
            </a:r>
            <a:r>
              <a:rPr spc="-5" dirty="0"/>
              <a:t> </a:t>
            </a:r>
            <a:r>
              <a:rPr spc="-20" dirty="0"/>
              <a:t>(ÖTR)</a:t>
            </a:r>
          </a:p>
        </p:txBody>
      </p:sp>
      <p:sp>
        <p:nvSpPr>
          <p:cNvPr id="5" name="Holder 5"/>
          <p:cNvSpPr>
            <a:spLocks noGrp="1"/>
          </p:cNvSpPr>
          <p:nvPr>
            <p:ph type="dt" sz="half" idx="6"/>
          </p:nvPr>
        </p:nvSpPr>
        <p:spPr>
          <a:xfrm>
            <a:off x="802650" y="6438383"/>
            <a:ext cx="1321036" cy="161616"/>
          </a:xfrm>
          <a:prstGeom prst="rect">
            <a:avLst/>
          </a:prstGeom>
        </p:spPr>
        <p:txBody>
          <a:bodyPr wrap="square" lIns="0" tIns="0" rIns="0" bIns="0">
            <a:spAutoFit/>
          </a:bodyPr>
          <a:lstStyle>
            <a:lvl1pPr>
              <a:defRPr sz="1050" b="0" i="0">
                <a:solidFill>
                  <a:srgbClr val="898989"/>
                </a:solidFill>
                <a:latin typeface="Calibri"/>
                <a:cs typeface="Calibri"/>
              </a:defRPr>
            </a:lvl1pPr>
          </a:lstStyle>
          <a:p>
            <a:pPr marL="13970">
              <a:lnSpc>
                <a:spcPts val="1100"/>
              </a:lnSpc>
            </a:pPr>
            <a:r>
              <a:rPr dirty="0"/>
              <a:t>25</a:t>
            </a:r>
            <a:r>
              <a:rPr spc="-5" dirty="0"/>
              <a:t> </a:t>
            </a:r>
            <a:r>
              <a:rPr dirty="0"/>
              <a:t>Aralık</a:t>
            </a:r>
            <a:r>
              <a:rPr spc="-5" dirty="0"/>
              <a:t> </a:t>
            </a:r>
            <a:r>
              <a:rPr dirty="0"/>
              <a:t>2023</a:t>
            </a:r>
            <a:r>
              <a:rPr spc="-20" dirty="0"/>
              <a:t> </a:t>
            </a:r>
            <a:r>
              <a:rPr spc="-10" dirty="0"/>
              <a:t>Pazartesi</a:t>
            </a:r>
          </a:p>
        </p:txBody>
      </p:sp>
      <p:sp>
        <p:nvSpPr>
          <p:cNvPr id="6" name="Holder 6"/>
          <p:cNvSpPr>
            <a:spLocks noGrp="1"/>
          </p:cNvSpPr>
          <p:nvPr>
            <p:ph type="sldNum" sz="quarter" idx="7"/>
          </p:nvPr>
        </p:nvSpPr>
        <p:spPr>
          <a:xfrm>
            <a:off x="9724145" y="6438383"/>
            <a:ext cx="201986" cy="161290"/>
          </a:xfrm>
          <a:prstGeom prst="rect">
            <a:avLst/>
          </a:prstGeom>
        </p:spPr>
        <p:txBody>
          <a:bodyPr wrap="square" lIns="0" tIns="0" rIns="0" bIns="0">
            <a:spAutoFit/>
          </a:bodyPr>
          <a:lstStyle>
            <a:lvl1pPr>
              <a:defRPr sz="1050" b="0" i="0">
                <a:solidFill>
                  <a:srgbClr val="898989"/>
                </a:solidFill>
                <a:latin typeface="Calibri"/>
                <a:cs typeface="Calibri"/>
              </a:defRPr>
            </a:lvl1pPr>
          </a:lstStyle>
          <a:p>
            <a:pPr marL="82550">
              <a:lnSpc>
                <a:spcPts val="1115"/>
              </a:lnSpc>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34080" y="478481"/>
            <a:ext cx="8020050" cy="658651"/>
          </a:xfrm>
        </p:spPr>
        <p:txBody>
          <a:bodyPr>
            <a:normAutofit/>
          </a:bodyPr>
          <a:lstStyle/>
          <a:p>
            <a:r>
              <a:rPr lang="tr-TR" sz="3950" b="1" dirty="0">
                <a:solidFill>
                  <a:srgbClr val="FF0000"/>
                </a:solidFill>
                <a:latin typeface="+mn-lt"/>
                <a:cs typeface="Times New Roman" panose="02020603050405020304" pitchFamily="18" charset="0"/>
              </a:rPr>
              <a:t>UYARI </a:t>
            </a:r>
          </a:p>
        </p:txBody>
      </p:sp>
      <p:cxnSp>
        <p:nvCxnSpPr>
          <p:cNvPr id="5" name="Straight Connector 4"/>
          <p:cNvCxnSpPr/>
          <p:nvPr/>
        </p:nvCxnSpPr>
        <p:spPr>
          <a:xfrm flipV="1">
            <a:off x="0" y="1352684"/>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78851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9724145" y="6979608"/>
            <a:ext cx="201986" cy="161290"/>
          </a:xfrm>
        </p:spPr>
        <p:txBody>
          <a:bodyPr/>
          <a:lstStyle/>
          <a:p>
            <a:fld id="{87BEDC82-49FF-42E3-B7EA-26FF728940D5}" type="slidenum">
              <a:rPr lang="tr-TR" smtClean="0"/>
              <a:t>1</a:t>
            </a:fld>
            <a:endParaRPr lang="tr-TR" dirty="0"/>
          </a:p>
        </p:txBody>
      </p:sp>
      <p:sp>
        <p:nvSpPr>
          <p:cNvPr id="4" name="Date Placeholder 3"/>
          <p:cNvSpPr>
            <a:spLocks noGrp="1"/>
          </p:cNvSpPr>
          <p:nvPr>
            <p:ph type="dt" sz="half" idx="10"/>
          </p:nvPr>
        </p:nvSpPr>
        <p:spPr>
          <a:xfrm>
            <a:off x="802650" y="6979608"/>
            <a:ext cx="1321036" cy="161616"/>
          </a:xfrm>
        </p:spPr>
        <p:txBody>
          <a:bodyPr/>
          <a:lstStyle/>
          <a:p>
            <a:fld id="{11665F39-2D08-4CE2-AACC-F394EACB6515}" type="datetime2">
              <a:rPr lang="tr-TR" smtClean="0"/>
              <a:t>3 Temmuz 2026 Cuma</a:t>
            </a:fld>
            <a:endParaRPr lang="tr-TR" dirty="0"/>
          </a:p>
        </p:txBody>
      </p:sp>
      <p:sp>
        <p:nvSpPr>
          <p:cNvPr id="10" name="TextBox 9"/>
          <p:cNvSpPr txBox="1"/>
          <p:nvPr/>
        </p:nvSpPr>
        <p:spPr>
          <a:xfrm>
            <a:off x="181311" y="2022051"/>
            <a:ext cx="9925589" cy="4147289"/>
          </a:xfrm>
          <a:prstGeom prst="rect">
            <a:avLst/>
          </a:prstGeom>
          <a:noFill/>
        </p:spPr>
        <p:txBody>
          <a:bodyPr wrap="square" rtlCol="0">
            <a:spAutoFit/>
          </a:bodyPr>
          <a:lstStyle/>
          <a:p>
            <a:pPr marL="250631" indent="-250631" algn="just">
              <a:buFont typeface="Arial" panose="020B0604020202020204" pitchFamily="34" charset="0"/>
              <a:buChar char="•"/>
            </a:pPr>
            <a:r>
              <a:rPr lang="tr-TR" sz="1550" dirty="0">
                <a:latin typeface="+mn-lt"/>
              </a:rPr>
              <a:t>Rapor Şartnamenin 3.1.15 maddesinde belirtildiği üzere yarışma takviminde belirtilen son teslim tarihinden önce teslim edilmelidir. Daha sonrasında teslim edilen raporlar dikkate alınmayacaktır.</a:t>
            </a:r>
          </a:p>
          <a:p>
            <a:pPr marL="250631" indent="-250631" algn="just">
              <a:buFont typeface="Arial" panose="020B0604020202020204" pitchFamily="34" charset="0"/>
              <a:buChar char="•"/>
            </a:pPr>
            <a:r>
              <a:rPr lang="tr-TR" sz="1550" dirty="0">
                <a:latin typeface="+mn-lt"/>
              </a:rPr>
              <a:t>Raporun hazırlanması aşamasından önce güncel şartnamenin baştan itibaren okunması tavsiye edilir. Rapor boyunca şartname maddelerine aykırı uygulamaların tespiti halinde yarışmacı gruplar diskalifiye edilebilecektir.</a:t>
            </a:r>
          </a:p>
          <a:p>
            <a:pPr marL="250631" indent="-250631" algn="just">
              <a:buFont typeface="Arial" panose="020B0604020202020204" pitchFamily="34" charset="0"/>
              <a:buChar char="•"/>
            </a:pPr>
            <a:r>
              <a:rPr lang="tr-TR" sz="1550" dirty="0">
                <a:latin typeface="+mn-lt"/>
              </a:rPr>
              <a:t>Bu rapor boyunca istisnasız tüm yazıların minimum yazı tipi boyutu 18 ve yazı tipi </a:t>
            </a:r>
            <a:r>
              <a:rPr lang="tr-TR" sz="1550" dirty="0" err="1">
                <a:latin typeface="+mn-lt"/>
              </a:rPr>
              <a:t>Calibri</a:t>
            </a:r>
            <a:r>
              <a:rPr lang="tr-TR" sz="1550" dirty="0">
                <a:latin typeface="+mn-lt"/>
              </a:rPr>
              <a:t> olmalıdır. Sadece tablolarda yazı tipi boyutu en az 14 kullanılabilir.</a:t>
            </a:r>
          </a:p>
          <a:p>
            <a:pPr marL="250631" indent="-250631" algn="just">
              <a:buFont typeface="Arial" panose="020B0604020202020204" pitchFamily="34" charset="0"/>
              <a:buChar char="•"/>
            </a:pPr>
            <a:r>
              <a:rPr lang="tr-TR" sz="1550" dirty="0">
                <a:latin typeface="+mn-lt"/>
              </a:rPr>
              <a:t>Paragraflar </a:t>
            </a:r>
            <a:r>
              <a:rPr lang="tr-TR" sz="1550" b="1" dirty="0">
                <a:latin typeface="+mn-lt"/>
              </a:rPr>
              <a:t>kalın (</a:t>
            </a:r>
            <a:r>
              <a:rPr lang="tr-TR" sz="1550" b="1" dirty="0" err="1">
                <a:latin typeface="+mn-lt"/>
              </a:rPr>
              <a:t>bold</a:t>
            </a:r>
            <a:r>
              <a:rPr lang="tr-TR" sz="1550" b="1" dirty="0">
                <a:latin typeface="+mn-lt"/>
              </a:rPr>
              <a:t>) </a:t>
            </a:r>
            <a:r>
              <a:rPr lang="tr-TR" sz="1550" dirty="0">
                <a:latin typeface="+mn-lt"/>
              </a:rPr>
              <a:t>ve </a:t>
            </a:r>
            <a:r>
              <a:rPr lang="tr-TR" sz="1550" dirty="0">
                <a:highlight>
                  <a:srgbClr val="FFFF00"/>
                </a:highlight>
                <a:latin typeface="+mn-lt"/>
              </a:rPr>
              <a:t>vurgulu (</a:t>
            </a:r>
            <a:r>
              <a:rPr lang="tr-TR" sz="1550" dirty="0" err="1">
                <a:highlight>
                  <a:srgbClr val="FFFF00"/>
                </a:highlight>
                <a:latin typeface="+mn-lt"/>
              </a:rPr>
              <a:t>highlighted</a:t>
            </a:r>
            <a:r>
              <a:rPr lang="tr-TR" sz="1550" dirty="0">
                <a:highlight>
                  <a:srgbClr val="FFFF00"/>
                </a:highlight>
                <a:latin typeface="+mn-lt"/>
              </a:rPr>
              <a:t>)</a:t>
            </a:r>
            <a:r>
              <a:rPr lang="tr-TR" sz="1550" dirty="0">
                <a:latin typeface="+mn-lt"/>
              </a:rPr>
              <a:t> olmamalıdır.</a:t>
            </a:r>
          </a:p>
          <a:p>
            <a:pPr marL="250631" indent="-250631" algn="just">
              <a:buFont typeface="Arial" panose="020B0604020202020204" pitchFamily="34" charset="0"/>
              <a:buChar char="•"/>
            </a:pPr>
            <a:r>
              <a:rPr lang="tr-TR" sz="1550" dirty="0">
                <a:latin typeface="+mn-lt"/>
              </a:rPr>
              <a:t>Rapor şablonunun kenar boşluklarına uyulmalıdır.</a:t>
            </a:r>
          </a:p>
          <a:p>
            <a:pPr marL="250631" indent="-250631" algn="just">
              <a:buFont typeface="Arial" panose="020B0604020202020204" pitchFamily="34" charset="0"/>
              <a:buChar char="•"/>
            </a:pPr>
            <a:r>
              <a:rPr lang="tr-TR" sz="1550" dirty="0">
                <a:latin typeface="+mn-lt"/>
              </a:rPr>
              <a:t>Raporda istenen bilgiler  ilgili bölümde yer almıyorsa puanlanmayacaktır.</a:t>
            </a:r>
          </a:p>
          <a:p>
            <a:pPr marL="250631" indent="-250631" algn="just">
              <a:buFont typeface="Arial" panose="020B0604020202020204" pitchFamily="34" charset="0"/>
              <a:buChar char="•"/>
            </a:pPr>
            <a:r>
              <a:rPr lang="tr-TR" sz="1550" dirty="0">
                <a:latin typeface="+mn-lt"/>
              </a:rPr>
              <a:t>Alıntı yapılan her türlü bilginin referansı paylaşılmalıdır. Referans direkt ilgili yansının alt kısmında olmalıdır. İntihal tespit edildiğinde takım doğrudan diskalifiye edilecektir.</a:t>
            </a:r>
          </a:p>
          <a:p>
            <a:pPr marL="250631" indent="-250631" algn="just">
              <a:buFont typeface="Arial" panose="020B0604020202020204" pitchFamily="34" charset="0"/>
              <a:buChar char="•"/>
            </a:pPr>
            <a:r>
              <a:rPr lang="tr-TR" sz="1550" dirty="0">
                <a:latin typeface="+mn-lt"/>
              </a:rPr>
              <a:t>Tablo, şema, denklem </a:t>
            </a:r>
            <a:r>
              <a:rPr lang="tr-TR" sz="1550" dirty="0" err="1">
                <a:latin typeface="+mn-lt"/>
              </a:rPr>
              <a:t>vs</a:t>
            </a:r>
            <a:r>
              <a:rPr lang="tr-TR" sz="1550" dirty="0">
                <a:latin typeface="+mn-lt"/>
              </a:rPr>
              <a:t> görseller için de referans verilmelidir.</a:t>
            </a:r>
          </a:p>
          <a:p>
            <a:pPr marL="250631" indent="-250631" algn="just">
              <a:buFont typeface="Arial" panose="020B0604020202020204" pitchFamily="34" charset="0"/>
              <a:buChar char="•"/>
            </a:pPr>
            <a:r>
              <a:rPr lang="tr-TR" sz="1550" dirty="0">
                <a:latin typeface="+mn-lt"/>
              </a:rPr>
              <a:t>Paylaşılan ölçüler teknik resim formatına uygun görsellerle sunulmalı ve raporda SI birim sistemi kullanılmalıdır. Eksik ölçü birimi olan ölçülendirmeler dikkate alınmayacaktır.</a:t>
            </a:r>
          </a:p>
          <a:p>
            <a:pPr marL="250631" indent="-250631" algn="just">
              <a:buFont typeface="Arial" panose="020B0604020202020204" pitchFamily="34" charset="0"/>
              <a:buChar char="•"/>
            </a:pPr>
            <a:r>
              <a:rPr lang="tr-TR" sz="1550" dirty="0">
                <a:latin typeface="+mn-lt"/>
              </a:rPr>
              <a:t>Grafik ve tablolar için başlık bilgisi yer almalıdır. Başlık bilgisi olmayan grafik ve tablolar değerlendirmeye alınmayacaktır.</a:t>
            </a:r>
          </a:p>
          <a:p>
            <a:pPr marL="250631" indent="-250631" algn="just">
              <a:buFont typeface="Arial" panose="020B0604020202020204" pitchFamily="34" charset="0"/>
              <a:buChar char="•"/>
            </a:pPr>
            <a:endParaRPr lang="tr-TR" sz="1550" dirty="0">
              <a:latin typeface="+mn-lt"/>
            </a:endParaRPr>
          </a:p>
        </p:txBody>
      </p:sp>
      <p:pic>
        <p:nvPicPr>
          <p:cNvPr id="11"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276225"/>
            <a:ext cx="1063165" cy="1063165"/>
          </a:xfrm>
          <a:prstGeom prst="rect">
            <a:avLst/>
          </a:prstGeom>
        </p:spPr>
      </p:pic>
      <p:sp>
        <p:nvSpPr>
          <p:cNvPr id="13" name="Footer Placeholder 8"/>
          <p:cNvSpPr>
            <a:spLocks noGrp="1"/>
          </p:cNvSpPr>
          <p:nvPr>
            <p:ph type="ftr" sz="quarter" idx="11"/>
          </p:nvPr>
        </p:nvSpPr>
        <p:spPr>
          <a:xfrm>
            <a:off x="3542189" y="6890180"/>
            <a:ext cx="3609023" cy="320245"/>
          </a:xfrm>
        </p:spPr>
        <p:txBody>
          <a:bodyPr/>
          <a:lstStyle/>
          <a:p>
            <a:pPr algn="ctr"/>
            <a:r>
              <a:rPr lang="tr-TR" dirty="0"/>
              <a:t>2026 TEKNOFEST DİKEY İNİŞLİ ROKET YARIŞMASI</a:t>
            </a:r>
          </a:p>
          <a:p>
            <a:pPr algn="ctr"/>
            <a:r>
              <a:rPr lang="tr-TR" dirty="0"/>
              <a:t>ATIŞA HAZIRLIK RAPORU (AHR)</a:t>
            </a:r>
          </a:p>
        </p:txBody>
      </p:sp>
    </p:spTree>
    <p:extLst>
      <p:ext uri="{BB962C8B-B14F-4D97-AF65-F5344CB8AC3E}">
        <p14:creationId xmlns:p14="http://schemas.microsoft.com/office/powerpoint/2010/main" val="3106135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35012" y="494808"/>
            <a:ext cx="8020050" cy="658651"/>
          </a:xfrm>
        </p:spPr>
        <p:txBody>
          <a:bodyPr>
            <a:normAutofit/>
          </a:bodyPr>
          <a:lstStyle/>
          <a:p>
            <a:r>
              <a:rPr lang="tr-TR" sz="3950" b="1" dirty="0">
                <a:solidFill>
                  <a:srgbClr val="FF0000"/>
                </a:solidFill>
                <a:latin typeface="+mn-lt"/>
                <a:cs typeface="Times New Roman" panose="02020603050405020304" pitchFamily="18" charset="0"/>
              </a:rPr>
              <a:t>UYARI </a:t>
            </a:r>
          </a:p>
        </p:txBody>
      </p:sp>
      <p:cxnSp>
        <p:nvCxnSpPr>
          <p:cNvPr id="5" name="Straight Connector 4"/>
          <p:cNvCxnSpPr/>
          <p:nvPr/>
        </p:nvCxnSpPr>
        <p:spPr>
          <a:xfrm flipV="1">
            <a:off x="0" y="1352684"/>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78851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9724145" y="6979608"/>
            <a:ext cx="201986" cy="161290"/>
          </a:xfrm>
        </p:spPr>
        <p:txBody>
          <a:bodyPr/>
          <a:lstStyle/>
          <a:p>
            <a:fld id="{87BEDC82-49FF-42E3-B7EA-26FF728940D5}" type="slidenum">
              <a:rPr lang="tr-TR" smtClean="0"/>
              <a:t>2</a:t>
            </a:fld>
            <a:endParaRPr lang="tr-TR" dirty="0"/>
          </a:p>
        </p:txBody>
      </p:sp>
      <p:sp>
        <p:nvSpPr>
          <p:cNvPr id="4" name="Date Placeholder 3"/>
          <p:cNvSpPr>
            <a:spLocks noGrp="1"/>
          </p:cNvSpPr>
          <p:nvPr>
            <p:ph type="dt" sz="half" idx="10"/>
          </p:nvPr>
        </p:nvSpPr>
        <p:spPr>
          <a:xfrm>
            <a:off x="802650" y="6979608"/>
            <a:ext cx="1321036" cy="161616"/>
          </a:xfrm>
        </p:spPr>
        <p:txBody>
          <a:bodyPr/>
          <a:lstStyle/>
          <a:p>
            <a:fld id="{051631E2-9A63-4015-B5AB-199AA3DD401C}" type="datetime2">
              <a:rPr lang="tr-TR" smtClean="0"/>
              <a:t>3 Temmuz 2026 Cuma</a:t>
            </a:fld>
            <a:endParaRPr lang="tr-TR"/>
          </a:p>
        </p:txBody>
      </p:sp>
      <p:sp>
        <p:nvSpPr>
          <p:cNvPr id="10" name="TextBox 9"/>
          <p:cNvSpPr txBox="1"/>
          <p:nvPr/>
        </p:nvSpPr>
        <p:spPr>
          <a:xfrm>
            <a:off x="-1" y="1841201"/>
            <a:ext cx="10270575" cy="4147289"/>
          </a:xfrm>
          <a:prstGeom prst="rect">
            <a:avLst/>
          </a:prstGeom>
          <a:noFill/>
        </p:spPr>
        <p:txBody>
          <a:bodyPr wrap="square" rtlCol="0">
            <a:spAutoFit/>
          </a:bodyPr>
          <a:lstStyle/>
          <a:p>
            <a:pPr marL="250631" indent="-250631" algn="just">
              <a:buFont typeface="Arial" panose="020B0604020202020204" pitchFamily="34" charset="0"/>
              <a:buChar char="•"/>
            </a:pPr>
            <a:r>
              <a:rPr lang="tr-TR" sz="1550" dirty="0">
                <a:latin typeface="+mn-lt"/>
              </a:rPr>
              <a:t>Sunuda verilen bilgiler anlaşılabilir olmalıdır. Tablo ve görseller ihtiyaç duyulan yerlerde  kullanılmalıdır.</a:t>
            </a:r>
          </a:p>
          <a:p>
            <a:pPr marL="250631" indent="-250631" algn="just">
              <a:buFont typeface="Arial" panose="020B0604020202020204" pitchFamily="34" charset="0"/>
              <a:buChar char="•"/>
            </a:pPr>
            <a:r>
              <a:rPr lang="tr-TR" sz="1550" dirty="0">
                <a:latin typeface="+mn-lt"/>
              </a:rPr>
              <a:t>Karşılaştırma sonucu seçilen nihai unsurun yazı tipi</a:t>
            </a:r>
            <a:r>
              <a:rPr lang="tr-TR" sz="1550" b="1" dirty="0">
                <a:solidFill>
                  <a:srgbClr val="00B050"/>
                </a:solidFill>
                <a:latin typeface="+mn-lt"/>
              </a:rPr>
              <a:t> koyu (</a:t>
            </a:r>
            <a:r>
              <a:rPr lang="tr-TR" sz="1550" b="1" dirty="0" err="1">
                <a:solidFill>
                  <a:srgbClr val="00B050"/>
                </a:solidFill>
                <a:latin typeface="+mn-lt"/>
              </a:rPr>
              <a:t>bold</a:t>
            </a:r>
            <a:r>
              <a:rPr lang="tr-TR" sz="1550" b="1" dirty="0">
                <a:solidFill>
                  <a:srgbClr val="00B050"/>
                </a:solidFill>
                <a:latin typeface="+mn-lt"/>
              </a:rPr>
              <a:t>) ve yazı rengi yeşil </a:t>
            </a:r>
            <a:r>
              <a:rPr lang="tr-TR" sz="1550" dirty="0">
                <a:latin typeface="+mn-lt"/>
              </a:rPr>
              <a:t>olmalıdır.</a:t>
            </a:r>
          </a:p>
          <a:p>
            <a:pPr marL="250631" indent="-250631" algn="just">
              <a:buFont typeface="Arial" panose="020B0604020202020204" pitchFamily="34" charset="0"/>
              <a:buChar char="•"/>
            </a:pPr>
            <a:r>
              <a:rPr lang="tr-TR" sz="1550" dirty="0">
                <a:latin typeface="+mn-lt"/>
              </a:rPr>
              <a:t>Rapor boyunca birden fazla istenen bilgiler, her istendiği yansıda birbirinden bağımsız olarak tekrar açıklanmalıdır. İlgili yerde bulunamayan bilgiler daha önce açıklanmış olsa dahi puanlamaya tabi tutulmayacaktır.</a:t>
            </a:r>
          </a:p>
          <a:p>
            <a:pPr marL="250631" indent="-250631" algn="just">
              <a:buFont typeface="Arial" panose="020B0604020202020204" pitchFamily="34" charset="0"/>
              <a:buChar char="•"/>
            </a:pPr>
            <a:r>
              <a:rPr lang="tr-TR" sz="1550" dirty="0" err="1">
                <a:latin typeface="+mn-lt"/>
              </a:rPr>
              <a:t>Ek’te</a:t>
            </a:r>
            <a:r>
              <a:rPr lang="tr-TR" sz="1550" dirty="0">
                <a:latin typeface="+mn-lt"/>
              </a:rPr>
              <a:t> istenen veya verilmesine izin verilen dokümanların (tablolar dahil) ismi, ilgili yansıda yer almalı ve dokümanlar KTR ile birlikte ve eksiksiz olarak sunulmalıdır.</a:t>
            </a:r>
          </a:p>
          <a:p>
            <a:pPr marL="250631" indent="-250631" algn="just">
              <a:buFont typeface="Arial" panose="020B0604020202020204" pitchFamily="34" charset="0"/>
              <a:buChar char="•"/>
            </a:pPr>
            <a:r>
              <a:rPr lang="tr-TR" sz="1550" dirty="0">
                <a:latin typeface="+mn-lt"/>
              </a:rPr>
              <a:t>AHR içerisinde veya </a:t>
            </a:r>
            <a:r>
              <a:rPr lang="tr-TR" sz="1550" dirty="0" err="1">
                <a:latin typeface="+mn-lt"/>
              </a:rPr>
              <a:t>EK’inde</a:t>
            </a:r>
            <a:r>
              <a:rPr lang="tr-TR" sz="1550" dirty="0">
                <a:latin typeface="+mn-lt"/>
              </a:rPr>
              <a:t> sunulacak tablolar sunulurken tabloların ekran görüntüleri </a:t>
            </a:r>
            <a:r>
              <a:rPr lang="tr-TR" sz="1550" b="1" u="sng" dirty="0">
                <a:latin typeface="+mn-lt"/>
              </a:rPr>
              <a:t>paylaşılmamalıdır.</a:t>
            </a:r>
          </a:p>
          <a:p>
            <a:pPr marL="250631" indent="-250631" algn="just">
              <a:buFont typeface="Arial" panose="020B0604020202020204" pitchFamily="34" charset="0"/>
              <a:buChar char="•"/>
            </a:pPr>
            <a:r>
              <a:rPr lang="tr-TR" sz="1550" dirty="0">
                <a:latin typeface="+mn-lt"/>
              </a:rPr>
              <a:t>AHR içerisinde veya </a:t>
            </a:r>
            <a:r>
              <a:rPr lang="tr-TR" sz="1550" dirty="0" err="1">
                <a:latin typeface="+mn-lt"/>
              </a:rPr>
              <a:t>EK’inde</a:t>
            </a:r>
            <a:r>
              <a:rPr lang="tr-TR" sz="1550" dirty="0">
                <a:latin typeface="+mn-lt"/>
              </a:rPr>
              <a:t> sunulacak metin, formül, denklem (</a:t>
            </a:r>
            <a:r>
              <a:rPr lang="tr-TR" sz="1550" dirty="0" err="1">
                <a:latin typeface="+mn-lt"/>
              </a:rPr>
              <a:t>Powerpoint’in</a:t>
            </a:r>
            <a:r>
              <a:rPr lang="tr-TR" sz="1550" dirty="0">
                <a:latin typeface="+mn-lt"/>
              </a:rPr>
              <a:t> formül ve denklem ekleyicisi kullanılmalıdır), bağıntılar vb. ekran görüntüsü şeklinde </a:t>
            </a:r>
            <a:r>
              <a:rPr lang="tr-TR" sz="1550" b="1" u="sng" dirty="0">
                <a:latin typeface="+mn-lt"/>
              </a:rPr>
              <a:t>sunulmamalıdır. </a:t>
            </a:r>
          </a:p>
          <a:p>
            <a:pPr marL="250631" indent="-250631" algn="just">
              <a:buFont typeface="Arial" panose="020B0604020202020204" pitchFamily="34" charset="0"/>
              <a:buChar char="•"/>
            </a:pPr>
            <a:r>
              <a:rPr lang="tr-TR" sz="1550" dirty="0">
                <a:latin typeface="+mn-lt"/>
              </a:rPr>
              <a:t>Raporun her sayfasında logo bulunmalı ve başlıklar kesinlikle değiştirilmemelidir. Yarışma Komitesi tarafından paylaşılan şablondaki yansılara yeni ve/veya farklı bir yansı </a:t>
            </a:r>
            <a:r>
              <a:rPr lang="tr-TR" sz="1550" b="1" u="sng" dirty="0">
                <a:latin typeface="+mn-lt"/>
              </a:rPr>
              <a:t>eklenmemelidir.</a:t>
            </a:r>
          </a:p>
          <a:p>
            <a:pPr marL="250631" indent="-250631" algn="just">
              <a:buFont typeface="Arial" panose="020B0604020202020204" pitchFamily="34" charset="0"/>
              <a:buChar char="•"/>
            </a:pPr>
            <a:r>
              <a:rPr lang="tr-TR" sz="1550" dirty="0">
                <a:latin typeface="+mn-lt"/>
              </a:rPr>
              <a:t>Rapor </a:t>
            </a:r>
            <a:r>
              <a:rPr lang="tr-TR" sz="1550" b="1" dirty="0">
                <a:latin typeface="+mn-lt"/>
              </a:rPr>
              <a:t>«PDF» </a:t>
            </a:r>
            <a:r>
              <a:rPr lang="tr-TR" sz="1550" dirty="0">
                <a:latin typeface="+mn-lt"/>
              </a:rPr>
              <a:t>formatında yüklenmelidir. </a:t>
            </a:r>
            <a:r>
              <a:rPr lang="tr-TR" sz="1550" dirty="0" err="1">
                <a:latin typeface="+mn-lt"/>
              </a:rPr>
              <a:t>PDF’den</a:t>
            </a:r>
            <a:r>
              <a:rPr lang="tr-TR" sz="1550" dirty="0">
                <a:latin typeface="+mn-lt"/>
              </a:rPr>
              <a:t> farklı bir formatta sunulan rapor</a:t>
            </a:r>
            <a:r>
              <a:rPr lang="tr-TR" sz="1550" b="1" dirty="0">
                <a:latin typeface="+mn-lt"/>
              </a:rPr>
              <a:t> </a:t>
            </a:r>
            <a:r>
              <a:rPr lang="tr-TR" sz="1550" b="1" u="sng" dirty="0">
                <a:latin typeface="+mn-lt"/>
              </a:rPr>
              <a:t>kesinlikle</a:t>
            </a:r>
            <a:r>
              <a:rPr lang="tr-TR" sz="1550" b="1" dirty="0">
                <a:latin typeface="+mn-lt"/>
              </a:rPr>
              <a:t> </a:t>
            </a:r>
            <a:r>
              <a:rPr lang="tr-TR" sz="1550" dirty="0">
                <a:latin typeface="+mn-lt"/>
              </a:rPr>
              <a:t>değerlendirilmeye alınmayacaktır.</a:t>
            </a:r>
            <a:r>
              <a:rPr lang="tr-TR" sz="1550" b="1" dirty="0">
                <a:solidFill>
                  <a:srgbClr val="FF0000"/>
                </a:solidFill>
                <a:latin typeface="+mn-lt"/>
              </a:rPr>
              <a:t> *.</a:t>
            </a:r>
            <a:r>
              <a:rPr lang="tr-TR" sz="1550" b="1" dirty="0" err="1">
                <a:solidFill>
                  <a:srgbClr val="FF0000"/>
                </a:solidFill>
                <a:latin typeface="+mn-lt"/>
              </a:rPr>
              <a:t>pptx</a:t>
            </a:r>
            <a:r>
              <a:rPr lang="tr-TR" sz="1550" b="1" dirty="0">
                <a:solidFill>
                  <a:srgbClr val="FF0000"/>
                </a:solidFill>
                <a:latin typeface="+mn-lt"/>
              </a:rPr>
              <a:t> ve *.</a:t>
            </a:r>
            <a:r>
              <a:rPr lang="tr-TR" sz="1550" b="1" dirty="0" err="1">
                <a:solidFill>
                  <a:srgbClr val="FF0000"/>
                </a:solidFill>
                <a:latin typeface="+mn-lt"/>
              </a:rPr>
              <a:t>ppt</a:t>
            </a:r>
            <a:r>
              <a:rPr lang="tr-TR" sz="1550" b="1" dirty="0">
                <a:solidFill>
                  <a:srgbClr val="FF0000"/>
                </a:solidFill>
                <a:latin typeface="+mn-lt"/>
              </a:rPr>
              <a:t> sunuları değerlendirilmeyecektir</a:t>
            </a:r>
            <a:r>
              <a:rPr lang="tr-TR" sz="1550" dirty="0">
                <a:latin typeface="+mn-lt"/>
              </a:rPr>
              <a:t>. Lütfen sisteme </a:t>
            </a:r>
            <a:r>
              <a:rPr lang="tr-TR" sz="1550" b="1" dirty="0">
                <a:latin typeface="+mn-lt"/>
              </a:rPr>
              <a:t>PDF</a:t>
            </a:r>
            <a:r>
              <a:rPr lang="tr-TR" sz="1550" dirty="0">
                <a:latin typeface="+mn-lt"/>
              </a:rPr>
              <a:t> dosyası yükleyiniz.</a:t>
            </a:r>
          </a:p>
          <a:p>
            <a:pPr marL="250631" indent="-250631" algn="just">
              <a:buFont typeface="Arial" panose="020B0604020202020204" pitchFamily="34" charset="0"/>
              <a:buChar char="•"/>
            </a:pPr>
            <a:r>
              <a:rPr lang="tr-TR" sz="1550" b="1" u="sng" dirty="0">
                <a:latin typeface="+mn-lt"/>
              </a:rPr>
              <a:t>Yukarıdaki maddelerde özel olarak belirtilmemiş olsa dahi AHR formatına uygun olarak verilmeyen bilgiler değerlendirmeye alınmayacaktır. </a:t>
            </a:r>
          </a:p>
          <a:p>
            <a:pPr marL="250631" indent="-250631" algn="just">
              <a:buFont typeface="Arial" panose="020B0604020202020204" pitchFamily="34" charset="0"/>
              <a:buChar char="•"/>
            </a:pPr>
            <a:r>
              <a:rPr lang="tr-TR" sz="1550" dirty="0">
                <a:latin typeface="+mn-lt"/>
              </a:rPr>
              <a:t>Yansılarda yarışmacılara rehber olan yazı (şartname maddeleri dahil), örnek görsel ve kutucukların tamamı </a:t>
            </a:r>
            <a:r>
              <a:rPr lang="tr-TR" sz="1550" b="1" u="sng" dirty="0">
                <a:latin typeface="+mn-lt"/>
              </a:rPr>
              <a:t>silinmelidir. </a:t>
            </a:r>
            <a:r>
              <a:rPr lang="tr-TR" sz="1550" dirty="0">
                <a:latin typeface="+mn-lt"/>
              </a:rPr>
              <a:t>Uyarı sayfaları okunduktan sonra </a:t>
            </a:r>
            <a:r>
              <a:rPr lang="tr-TR" sz="1550" b="1" u="sng" dirty="0">
                <a:latin typeface="+mn-lt"/>
              </a:rPr>
              <a:t>silinmeli</a:t>
            </a:r>
            <a:r>
              <a:rPr lang="tr-TR" sz="1550" dirty="0">
                <a:latin typeface="+mn-lt"/>
              </a:rPr>
              <a:t>, raporla birlikte </a:t>
            </a:r>
            <a:r>
              <a:rPr lang="tr-TR" sz="1550" b="1" u="sng" dirty="0">
                <a:latin typeface="+mn-lt"/>
              </a:rPr>
              <a:t>paylaşılmamalıdır.</a:t>
            </a:r>
          </a:p>
        </p:txBody>
      </p:sp>
      <p:pic>
        <p:nvPicPr>
          <p:cNvPr id="11"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276225"/>
            <a:ext cx="1063165" cy="1063165"/>
          </a:xfrm>
          <a:prstGeom prst="rect">
            <a:avLst/>
          </a:prstGeom>
        </p:spPr>
      </p:pic>
      <p:sp>
        <p:nvSpPr>
          <p:cNvPr id="13" name="Footer Placeholder 8">
            <a:extLst>
              <a:ext uri="{FF2B5EF4-FFF2-40B4-BE49-F238E27FC236}">
                <a16:creationId xmlns:a16="http://schemas.microsoft.com/office/drawing/2014/main" id="{E95882F1-AAC6-4356-995B-DD5A55E25415}"/>
              </a:ext>
            </a:extLst>
          </p:cNvPr>
          <p:cNvSpPr>
            <a:spLocks noGrp="1"/>
          </p:cNvSpPr>
          <p:nvPr>
            <p:ph type="ftr" sz="quarter" idx="11"/>
          </p:nvPr>
        </p:nvSpPr>
        <p:spPr>
          <a:xfrm>
            <a:off x="3542189" y="6890180"/>
            <a:ext cx="3609023" cy="320245"/>
          </a:xfrm>
        </p:spPr>
        <p:txBody>
          <a:bodyPr/>
          <a:lstStyle/>
          <a:p>
            <a:pPr algn="ctr"/>
            <a:r>
              <a:rPr lang="tr-TR" dirty="0"/>
              <a:t>2026 TEKNOFEST DİKEY İNİŞLİ ROKET YARIŞMASI</a:t>
            </a:r>
          </a:p>
          <a:p>
            <a:pPr algn="ctr"/>
            <a:r>
              <a:rPr lang="tr-TR" dirty="0"/>
              <a:t>ATIŞA HAZIRLIK RAPORU (AHR)</a:t>
            </a:r>
          </a:p>
        </p:txBody>
      </p:sp>
    </p:spTree>
    <p:extLst>
      <p:ext uri="{BB962C8B-B14F-4D97-AF65-F5344CB8AC3E}">
        <p14:creationId xmlns:p14="http://schemas.microsoft.com/office/powerpoint/2010/main" val="385748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8681" y="667563"/>
            <a:ext cx="8621554" cy="4729772"/>
          </a:xfrm>
        </p:spPr>
        <p:txBody>
          <a:bodyPr>
            <a:normAutofit/>
          </a:bodyPr>
          <a:lstStyle/>
          <a:p>
            <a:r>
              <a:rPr lang="tr-TR" sz="3950" dirty="0">
                <a:solidFill>
                  <a:srgbClr val="0070C0"/>
                </a:solidFill>
                <a:latin typeface="+mn-lt"/>
                <a:cs typeface="Times New Roman" panose="02020603050405020304" pitchFamily="18" charset="0"/>
              </a:rPr>
              <a:t>TEKNOFEST 2026</a:t>
            </a:r>
            <a:br>
              <a:rPr lang="tr-TR" sz="3950" dirty="0">
                <a:solidFill>
                  <a:srgbClr val="0070C0"/>
                </a:solidFill>
                <a:latin typeface="+mn-lt"/>
                <a:cs typeface="Times New Roman" panose="02020603050405020304" pitchFamily="18" charset="0"/>
              </a:rPr>
            </a:br>
            <a:r>
              <a:rPr lang="tr-TR" sz="3950" dirty="0">
                <a:solidFill>
                  <a:srgbClr val="0070C0"/>
                </a:solidFill>
                <a:latin typeface="+mn-lt"/>
                <a:cs typeface="Times New Roman" panose="02020603050405020304" pitchFamily="18" charset="0"/>
              </a:rPr>
              <a:t>Dikey İnişli Roket Yarışması </a:t>
            </a:r>
            <a:br>
              <a:rPr lang="tr-TR" sz="3950" dirty="0">
                <a:solidFill>
                  <a:srgbClr val="0070C0"/>
                </a:solidFill>
                <a:latin typeface="+mn-lt"/>
                <a:cs typeface="Times New Roman" panose="02020603050405020304" pitchFamily="18" charset="0"/>
              </a:rPr>
            </a:br>
            <a:r>
              <a:rPr lang="tr-TR" sz="3950" dirty="0">
                <a:solidFill>
                  <a:srgbClr val="0070C0"/>
                </a:solidFill>
                <a:latin typeface="+mn-lt"/>
                <a:cs typeface="Times New Roman" panose="02020603050405020304" pitchFamily="18" charset="0"/>
              </a:rPr>
              <a:t>Atışa Hazırlık Raporu (AHR)</a:t>
            </a:r>
            <a:br>
              <a:rPr lang="tr-TR" sz="3950" dirty="0">
                <a:solidFill>
                  <a:srgbClr val="0070C0"/>
                </a:solidFill>
                <a:latin typeface="+mn-lt"/>
                <a:cs typeface="Times New Roman" panose="02020603050405020304" pitchFamily="18" charset="0"/>
              </a:rPr>
            </a:br>
            <a:r>
              <a:rPr lang="tr-TR" sz="3950" dirty="0">
                <a:solidFill>
                  <a:srgbClr val="0070C0"/>
                </a:solidFill>
                <a:latin typeface="+mn-lt"/>
                <a:cs typeface="Times New Roman" panose="02020603050405020304" pitchFamily="18" charset="0"/>
              </a:rPr>
              <a:t>Sunuşu</a:t>
            </a:r>
            <a:br>
              <a:rPr lang="tr-TR" sz="3950" dirty="0">
                <a:solidFill>
                  <a:srgbClr val="0070C0"/>
                </a:solidFill>
                <a:latin typeface="+mn-lt"/>
                <a:cs typeface="Times New Roman" panose="02020603050405020304" pitchFamily="18" charset="0"/>
              </a:rPr>
            </a:br>
            <a:r>
              <a:rPr lang="tr-TR" sz="3950" dirty="0">
                <a:solidFill>
                  <a:srgbClr val="0070C0"/>
                </a:solidFill>
                <a:latin typeface="+mn-lt"/>
                <a:cs typeface="Times New Roman" panose="02020603050405020304" pitchFamily="18" charset="0"/>
              </a:rPr>
              <a:t>Takım Adı</a:t>
            </a:r>
            <a:br>
              <a:rPr lang="tr-TR" sz="3950" dirty="0">
                <a:solidFill>
                  <a:srgbClr val="0070C0"/>
                </a:solidFill>
                <a:latin typeface="+mn-lt"/>
                <a:cs typeface="Times New Roman" panose="02020603050405020304" pitchFamily="18" charset="0"/>
              </a:rPr>
            </a:br>
            <a:endParaRPr lang="tr-TR" sz="3950" b="1" dirty="0">
              <a:solidFill>
                <a:srgbClr val="0070C0"/>
              </a:solidFill>
              <a:latin typeface="+mn-lt"/>
              <a:cs typeface="Times New Roman" panose="02020603050405020304" pitchFamily="18" charset="0"/>
            </a:endParaRPr>
          </a:p>
        </p:txBody>
      </p:sp>
      <p:cxnSp>
        <p:nvCxnSpPr>
          <p:cNvPr id="5" name="Straight Connector 4"/>
          <p:cNvCxnSpPr/>
          <p:nvPr/>
        </p:nvCxnSpPr>
        <p:spPr>
          <a:xfrm flipV="1">
            <a:off x="0" y="1352684"/>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247292"/>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357" y="544652"/>
            <a:ext cx="1027922" cy="569387"/>
          </a:xfrm>
          <a:prstGeom prst="rect">
            <a:avLst/>
          </a:prstGeom>
          <a:noFill/>
          <a:ln>
            <a:solidFill>
              <a:schemeClr val="tx1"/>
            </a:solidFill>
          </a:ln>
        </p:spPr>
        <p:txBody>
          <a:bodyPr wrap="square" rtlCol="0">
            <a:spAutoFit/>
          </a:bodyPr>
          <a:lstStyle/>
          <a:p>
            <a:pPr algn="ctr"/>
            <a:r>
              <a:rPr lang="tr-TR" sz="1550" dirty="0">
                <a:latin typeface="+mn-lt"/>
              </a:rPr>
              <a:t>Takım Logosu</a:t>
            </a:r>
          </a:p>
        </p:txBody>
      </p:sp>
      <p:sp>
        <p:nvSpPr>
          <p:cNvPr id="3" name="Slide Number Placeholder 2"/>
          <p:cNvSpPr>
            <a:spLocks noGrp="1"/>
          </p:cNvSpPr>
          <p:nvPr>
            <p:ph type="sldNum" sz="quarter" idx="12"/>
          </p:nvPr>
        </p:nvSpPr>
        <p:spPr/>
        <p:txBody>
          <a:bodyPr/>
          <a:lstStyle/>
          <a:p>
            <a:fld id="{87BEDC82-49FF-42E3-B7EA-26FF728940D5}" type="slidenum">
              <a:rPr lang="tr-TR" smtClean="0"/>
              <a:t>3</a:t>
            </a:fld>
            <a:endParaRPr lang="tr-TR"/>
          </a:p>
        </p:txBody>
      </p:sp>
      <p:sp>
        <p:nvSpPr>
          <p:cNvPr id="4" name="Date Placeholder 3"/>
          <p:cNvSpPr>
            <a:spLocks noGrp="1"/>
          </p:cNvSpPr>
          <p:nvPr>
            <p:ph type="dt" sz="half" idx="10"/>
          </p:nvPr>
        </p:nvSpPr>
        <p:spPr/>
        <p:txBody>
          <a:bodyPr/>
          <a:lstStyle/>
          <a:p>
            <a:fld id="{59DDA077-FAF7-4DA0-AB3A-A88CC90F6C6C}" type="datetime2">
              <a:rPr lang="tr-TR" smtClean="0"/>
              <a:t>3 Temmuz 2026 Cuma</a:t>
            </a:fld>
            <a:endParaRPr lang="tr-TR"/>
          </a:p>
        </p:txBody>
      </p:sp>
      <p:pic>
        <p:nvPicPr>
          <p:cNvPr id="16"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276225"/>
            <a:ext cx="1063165" cy="1063165"/>
          </a:xfrm>
          <a:prstGeom prst="rect">
            <a:avLst/>
          </a:prstGeom>
        </p:spPr>
      </p:pic>
      <p:sp>
        <p:nvSpPr>
          <p:cNvPr id="10" name="Footer Placeholder 8">
            <a:extLst>
              <a:ext uri="{FF2B5EF4-FFF2-40B4-BE49-F238E27FC236}">
                <a16:creationId xmlns:a16="http://schemas.microsoft.com/office/drawing/2014/main" id="{FC31E6D4-6BB9-4C2C-A711-E120B284CCB1}"/>
              </a:ext>
            </a:extLst>
          </p:cNvPr>
          <p:cNvSpPr>
            <a:spLocks noGrp="1"/>
          </p:cNvSpPr>
          <p:nvPr>
            <p:ph type="ftr" sz="quarter" idx="11"/>
          </p:nvPr>
        </p:nvSpPr>
        <p:spPr>
          <a:xfrm>
            <a:off x="3542189" y="6348955"/>
            <a:ext cx="3609023" cy="320245"/>
          </a:xfrm>
        </p:spPr>
        <p:txBody>
          <a:bodyPr/>
          <a:lstStyle/>
          <a:p>
            <a:pPr algn="ctr"/>
            <a:r>
              <a:rPr lang="tr-TR" dirty="0"/>
              <a:t>2026 TEKNOFEST DİKEY İNİŞLİ ROKET YARIŞMASI </a:t>
            </a:r>
          </a:p>
          <a:p>
            <a:pPr algn="ctr"/>
            <a:r>
              <a:rPr lang="tr-TR" dirty="0"/>
              <a:t>ATIŞA HAZIRLIK RAPORU (AHR)</a:t>
            </a:r>
          </a:p>
        </p:txBody>
      </p:sp>
      <p:sp>
        <p:nvSpPr>
          <p:cNvPr id="7" name="Dikdörtgen 6">
            <a:extLst>
              <a:ext uri="{FF2B5EF4-FFF2-40B4-BE49-F238E27FC236}">
                <a16:creationId xmlns:a16="http://schemas.microsoft.com/office/drawing/2014/main" id="{29D28595-81F2-4FA2-A05A-241CC90C9365}"/>
              </a:ext>
            </a:extLst>
          </p:cNvPr>
          <p:cNvSpPr/>
          <p:nvPr/>
        </p:nvSpPr>
        <p:spPr>
          <a:xfrm>
            <a:off x="849459" y="6735120"/>
            <a:ext cx="8939997" cy="769441"/>
          </a:xfrm>
          <a:prstGeom prst="rect">
            <a:avLst/>
          </a:prstGeom>
        </p:spPr>
        <p:txBody>
          <a:bodyPr wrap="square">
            <a:spAutoFit/>
          </a:bodyPr>
          <a:lstStyle/>
          <a:p>
            <a:pPr algn="ctr"/>
            <a:r>
              <a:rPr lang="tr-TR" sz="1100" b="1" dirty="0">
                <a:solidFill>
                  <a:srgbClr val="FF0000"/>
                </a:solidFill>
                <a:latin typeface="+mn-lt"/>
                <a:cs typeface="Times New Roman" panose="02020603050405020304" pitchFamily="18" charset="0"/>
              </a:rPr>
              <a:t>UYARI:</a:t>
            </a:r>
            <a:br>
              <a:rPr lang="tr-TR" sz="1100" b="1" dirty="0">
                <a:solidFill>
                  <a:srgbClr val="0070C0"/>
                </a:solidFill>
                <a:latin typeface="+mn-lt"/>
                <a:cs typeface="Times New Roman" panose="02020603050405020304" pitchFamily="18" charset="0"/>
              </a:rPr>
            </a:br>
            <a:r>
              <a:rPr lang="tr-TR" sz="1100" b="1" dirty="0">
                <a:solidFill>
                  <a:srgbClr val="FF0000"/>
                </a:solidFill>
                <a:latin typeface="+mn-lt"/>
                <a:cs typeface="Times New Roman" panose="02020603050405020304" pitchFamily="18" charset="0"/>
              </a:rPr>
              <a:t>Bu Format dışında herhangi bir format </a:t>
            </a:r>
            <a:r>
              <a:rPr lang="tr-TR" sz="1100" b="1" u="sng" dirty="0">
                <a:solidFill>
                  <a:srgbClr val="FF0000"/>
                </a:solidFill>
                <a:latin typeface="+mn-lt"/>
                <a:cs typeface="Times New Roman" panose="02020603050405020304" pitchFamily="18" charset="0"/>
              </a:rPr>
              <a:t>kullanıl</a:t>
            </a:r>
            <a:r>
              <a:rPr lang="en-US" sz="1100" b="1" u="sng" dirty="0" err="1">
                <a:solidFill>
                  <a:srgbClr val="FF0000"/>
                </a:solidFill>
                <a:latin typeface="+mn-lt"/>
                <a:cs typeface="Times New Roman" panose="02020603050405020304" pitchFamily="18" charset="0"/>
              </a:rPr>
              <a:t>mayacaktır</a:t>
            </a:r>
            <a:r>
              <a:rPr lang="tr-TR" sz="1100" b="1" u="sng" dirty="0">
                <a:solidFill>
                  <a:srgbClr val="FF0000"/>
                </a:solidFill>
                <a:latin typeface="+mn-lt"/>
                <a:cs typeface="Times New Roman" panose="02020603050405020304" pitchFamily="18" charset="0"/>
              </a:rPr>
              <a:t>. </a:t>
            </a:r>
            <a:br>
              <a:rPr lang="tr-TR" sz="1100" b="1" dirty="0">
                <a:solidFill>
                  <a:srgbClr val="FF0000"/>
                </a:solidFill>
                <a:latin typeface="+mn-lt"/>
                <a:cs typeface="Times New Roman" panose="02020603050405020304" pitchFamily="18" charset="0"/>
              </a:rPr>
            </a:br>
            <a:r>
              <a:rPr lang="tr-TR" sz="1100" b="1" dirty="0">
                <a:solidFill>
                  <a:srgbClr val="FF0000"/>
                </a:solidFill>
                <a:latin typeface="+mn-lt"/>
                <a:cs typeface="Times New Roman" panose="02020603050405020304" pitchFamily="18" charset="0"/>
              </a:rPr>
              <a:t>Üretilen bilgilerin orijinal hali ile yansılara konulması (ekran görüntüsü alınmaması), çözünürlük ve okunurluğunun iyi olması ve profesyonel bir sunum hazırlanmasına özen gösterilmesi gerekmektedir.</a:t>
            </a:r>
            <a:r>
              <a:rPr lang="en-US" sz="1100" b="1" dirty="0">
                <a:solidFill>
                  <a:srgbClr val="FF0000"/>
                </a:solidFill>
                <a:latin typeface="+mn-lt"/>
                <a:cs typeface="Times New Roman" panose="02020603050405020304" pitchFamily="18" charset="0"/>
              </a:rPr>
              <a:t> </a:t>
            </a:r>
            <a:r>
              <a:rPr lang="tr-TR" sz="1100" b="1" dirty="0">
                <a:solidFill>
                  <a:srgbClr val="FF0000"/>
                </a:solidFill>
                <a:latin typeface="+mn-lt"/>
                <a:cs typeface="Times New Roman" panose="02020603050405020304" pitchFamily="18" charset="0"/>
              </a:rPr>
              <a:t>El çizimi yapılmamalıdır. Sunulan sayısal veriler birimleri ile birlikte gösterilmelidir.</a:t>
            </a:r>
            <a:endParaRPr lang="tr-TR" sz="1100" dirty="0">
              <a:latin typeface="+mn-lt"/>
            </a:endParaRPr>
          </a:p>
        </p:txBody>
      </p:sp>
    </p:spTree>
    <p:extLst>
      <p:ext uri="{BB962C8B-B14F-4D97-AF65-F5344CB8AC3E}">
        <p14:creationId xmlns:p14="http://schemas.microsoft.com/office/powerpoint/2010/main" val="3191868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35012" y="494808"/>
            <a:ext cx="8020050" cy="658651"/>
          </a:xfrm>
        </p:spPr>
        <p:txBody>
          <a:bodyPr>
            <a:noAutofit/>
          </a:bodyPr>
          <a:lstStyle/>
          <a:p>
            <a:r>
              <a:rPr lang="tr-TR" sz="3950" dirty="0">
                <a:solidFill>
                  <a:srgbClr val="0070C0"/>
                </a:solidFill>
                <a:latin typeface="+mn-lt"/>
                <a:cs typeface="Times New Roman" panose="02020603050405020304" pitchFamily="18" charset="0"/>
              </a:rPr>
              <a:t>Takım Yapısı</a:t>
            </a:r>
          </a:p>
        </p:txBody>
      </p:sp>
      <p:cxnSp>
        <p:nvCxnSpPr>
          <p:cNvPr id="5" name="Straight Connector 4"/>
          <p:cNvCxnSpPr/>
          <p:nvPr/>
        </p:nvCxnSpPr>
        <p:spPr>
          <a:xfrm flipV="1">
            <a:off x="0" y="1352684"/>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78851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9724145" y="6979608"/>
            <a:ext cx="201986" cy="161290"/>
          </a:xfrm>
        </p:spPr>
        <p:txBody>
          <a:bodyPr/>
          <a:lstStyle/>
          <a:p>
            <a:fld id="{87BEDC82-49FF-42E3-B7EA-26FF728940D5}" type="slidenum">
              <a:rPr lang="tr-TR" smtClean="0"/>
              <a:t>4</a:t>
            </a:fld>
            <a:endParaRPr lang="tr-TR"/>
          </a:p>
        </p:txBody>
      </p:sp>
      <p:sp>
        <p:nvSpPr>
          <p:cNvPr id="4" name="Date Placeholder 3"/>
          <p:cNvSpPr>
            <a:spLocks noGrp="1"/>
          </p:cNvSpPr>
          <p:nvPr>
            <p:ph type="dt" sz="half" idx="10"/>
          </p:nvPr>
        </p:nvSpPr>
        <p:spPr>
          <a:xfrm>
            <a:off x="802650" y="6979608"/>
            <a:ext cx="1321036" cy="161616"/>
          </a:xfrm>
        </p:spPr>
        <p:txBody>
          <a:bodyPr/>
          <a:lstStyle/>
          <a:p>
            <a:fld id="{DAE730AC-4816-48E9-827E-93FF79F53464}" type="datetime2">
              <a:rPr lang="tr-TR" smtClean="0"/>
              <a:t>3 Temmuz 2026 Cuma</a:t>
            </a:fld>
            <a:endParaRPr lang="tr-TR" dirty="0"/>
          </a:p>
        </p:txBody>
      </p:sp>
      <p:sp>
        <p:nvSpPr>
          <p:cNvPr id="10" name="TextBox 9"/>
          <p:cNvSpPr txBox="1"/>
          <p:nvPr/>
        </p:nvSpPr>
        <p:spPr>
          <a:xfrm>
            <a:off x="130844" y="1942124"/>
            <a:ext cx="9827385" cy="569387"/>
          </a:xfrm>
          <a:prstGeom prst="rect">
            <a:avLst/>
          </a:prstGeom>
          <a:noFill/>
        </p:spPr>
        <p:txBody>
          <a:bodyPr wrap="square" rtlCol="0">
            <a:spAutoFit/>
          </a:bodyPr>
          <a:lstStyle/>
          <a:p>
            <a:pPr marL="250631" indent="-250631" algn="just">
              <a:buFont typeface="Arial" panose="020B0604020202020204" pitchFamily="34" charset="0"/>
              <a:buChar char="•"/>
            </a:pPr>
            <a:r>
              <a:rPr lang="tr-TR" sz="1550" dirty="0">
                <a:latin typeface="+mn-lt"/>
              </a:rPr>
              <a:t>Takım üyelerinin bilgileri aşağıdaki tabloda gösterilen şekilde doldurulmalıdır. Bu bölüm 2 yansıyı geçmemelidir.</a:t>
            </a:r>
          </a:p>
          <a:p>
            <a:pPr algn="just"/>
            <a:endParaRPr lang="tr-TR" sz="1550" dirty="0">
              <a:latin typeface="+mn-lt"/>
            </a:endParaRPr>
          </a:p>
        </p:txBody>
      </p:sp>
      <p:pic>
        <p:nvPicPr>
          <p:cNvPr id="12"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276225"/>
            <a:ext cx="1063165" cy="1063165"/>
          </a:xfrm>
          <a:prstGeom prst="rect">
            <a:avLst/>
          </a:prstGeom>
        </p:spPr>
      </p:pic>
      <p:sp>
        <p:nvSpPr>
          <p:cNvPr id="14" name="Footer Placeholder 8"/>
          <p:cNvSpPr>
            <a:spLocks noGrp="1"/>
          </p:cNvSpPr>
          <p:nvPr>
            <p:ph type="ftr" sz="quarter" idx="11"/>
          </p:nvPr>
        </p:nvSpPr>
        <p:spPr>
          <a:xfrm>
            <a:off x="3542189" y="6890180"/>
            <a:ext cx="3609023" cy="320245"/>
          </a:xfrm>
        </p:spPr>
        <p:txBody>
          <a:bodyPr/>
          <a:lstStyle/>
          <a:p>
            <a:pPr algn="ctr"/>
            <a:r>
              <a:rPr lang="tr-TR" dirty="0"/>
              <a:t>2026 TEKNOFEST DİKEY İNİŞLİ ROKET YARIŞMASI </a:t>
            </a:r>
          </a:p>
          <a:p>
            <a:pPr algn="ctr"/>
            <a:r>
              <a:rPr lang="tr-TR" dirty="0"/>
              <a:t>ATIŞA HAZIRLIK RAPORU (AHR)</a:t>
            </a:r>
          </a:p>
        </p:txBody>
      </p:sp>
      <p:graphicFrame>
        <p:nvGraphicFramePr>
          <p:cNvPr id="15" name="Tablo 14">
            <a:extLst>
              <a:ext uri="{FF2B5EF4-FFF2-40B4-BE49-F238E27FC236}">
                <a16:creationId xmlns:a16="http://schemas.microsoft.com/office/drawing/2014/main" id="{1A5C506B-2CDC-DB46-BB6B-E3F9E9D2DFB8}"/>
              </a:ext>
            </a:extLst>
          </p:cNvPr>
          <p:cNvGraphicFramePr>
            <a:graphicFrameLocks noGrp="1"/>
          </p:cNvGraphicFramePr>
          <p:nvPr/>
        </p:nvGraphicFramePr>
        <p:xfrm>
          <a:off x="520319" y="2523299"/>
          <a:ext cx="9827385" cy="2334864"/>
        </p:xfrm>
        <a:graphic>
          <a:graphicData uri="http://schemas.openxmlformats.org/drawingml/2006/table">
            <a:tbl>
              <a:tblPr firstRow="1" bandRow="1">
                <a:tableStyleId>{5C22544A-7EE6-4342-B048-85BDC9FD1C3A}</a:tableStyleId>
              </a:tblPr>
              <a:tblGrid>
                <a:gridCol w="2279170">
                  <a:extLst>
                    <a:ext uri="{9D8B030D-6E8A-4147-A177-3AD203B41FA5}">
                      <a16:colId xmlns:a16="http://schemas.microsoft.com/office/drawing/2014/main" val="105920265"/>
                    </a:ext>
                  </a:extLst>
                </a:gridCol>
                <a:gridCol w="3914604">
                  <a:extLst>
                    <a:ext uri="{9D8B030D-6E8A-4147-A177-3AD203B41FA5}">
                      <a16:colId xmlns:a16="http://schemas.microsoft.com/office/drawing/2014/main" val="2985876437"/>
                    </a:ext>
                  </a:extLst>
                </a:gridCol>
                <a:gridCol w="2355447">
                  <a:extLst>
                    <a:ext uri="{9D8B030D-6E8A-4147-A177-3AD203B41FA5}">
                      <a16:colId xmlns:a16="http://schemas.microsoft.com/office/drawing/2014/main" val="834485790"/>
                    </a:ext>
                  </a:extLst>
                </a:gridCol>
                <a:gridCol w="1278164">
                  <a:extLst>
                    <a:ext uri="{9D8B030D-6E8A-4147-A177-3AD203B41FA5}">
                      <a16:colId xmlns:a16="http://schemas.microsoft.com/office/drawing/2014/main" val="3811128875"/>
                    </a:ext>
                  </a:extLst>
                </a:gridCol>
              </a:tblGrid>
              <a:tr h="389144">
                <a:tc>
                  <a:txBody>
                    <a:bodyPr/>
                    <a:lstStyle/>
                    <a:p>
                      <a:r>
                        <a:rPr lang="tr-TR" sz="1600" dirty="0"/>
                        <a:t>Personel Adı </a:t>
                      </a:r>
                    </a:p>
                  </a:txBody>
                  <a:tcPr marL="80201" marR="80201" marT="40100" marB="40100"/>
                </a:tc>
                <a:tc>
                  <a:txBody>
                    <a:bodyPr/>
                    <a:lstStyle/>
                    <a:p>
                      <a:r>
                        <a:rPr lang="tr-TR" sz="1600" dirty="0"/>
                        <a:t>Üniversite-Kurum Adı /Bölümü/Sınıfı</a:t>
                      </a:r>
                    </a:p>
                  </a:txBody>
                  <a:tcPr marL="80201" marR="80201" marT="40100" marB="40100"/>
                </a:tc>
                <a:tc>
                  <a:txBody>
                    <a:bodyPr/>
                    <a:lstStyle/>
                    <a:p>
                      <a:r>
                        <a:rPr lang="tr-TR" sz="1600" dirty="0"/>
                        <a:t>Görevi</a:t>
                      </a:r>
                    </a:p>
                  </a:txBody>
                  <a:tcPr marL="80201" marR="80201" marT="40100" marB="40100"/>
                </a:tc>
                <a:tc>
                  <a:txBody>
                    <a:bodyPr/>
                    <a:lstStyle/>
                    <a:p>
                      <a:pPr algn="ctr"/>
                      <a:r>
                        <a:rPr lang="tr-TR" sz="1600" dirty="0"/>
                        <a:t>Katıldığı Ülke</a:t>
                      </a:r>
                    </a:p>
                  </a:txBody>
                  <a:tcPr marL="80201" marR="80201" marT="40100" marB="40100"/>
                </a:tc>
                <a:extLst>
                  <a:ext uri="{0D108BD9-81ED-4DB2-BD59-A6C34878D82A}">
                    <a16:rowId xmlns:a16="http://schemas.microsoft.com/office/drawing/2014/main" val="2988959181"/>
                  </a:ext>
                </a:extLst>
              </a:tr>
              <a:tr h="389144">
                <a:tc>
                  <a:txBody>
                    <a:bodyPr/>
                    <a:lstStyle/>
                    <a:p>
                      <a:pPr algn="l"/>
                      <a:r>
                        <a:rPr lang="tr-TR" sz="1600" dirty="0"/>
                        <a:t>Ali Yıldırım</a:t>
                      </a:r>
                    </a:p>
                  </a:txBody>
                  <a:tcPr marL="80201" marR="80201" marT="40100" marB="40100"/>
                </a:tc>
                <a:tc>
                  <a:txBody>
                    <a:bodyPr/>
                    <a:lstStyle/>
                    <a:p>
                      <a:r>
                        <a:rPr lang="tr-TR" sz="1600" dirty="0"/>
                        <a:t>… Üniversitesi / Makina Müh. / 4. Sınıf</a:t>
                      </a:r>
                    </a:p>
                  </a:txBody>
                  <a:tcPr marL="80201" marR="80201" marT="40100" marB="40100"/>
                </a:tc>
                <a:tc>
                  <a:txBody>
                    <a:bodyPr/>
                    <a:lstStyle/>
                    <a:p>
                      <a:r>
                        <a:rPr lang="tr-TR" sz="1600" dirty="0"/>
                        <a:t>Takım Kaptanı, Mekanik</a:t>
                      </a:r>
                    </a:p>
                  </a:txBody>
                  <a:tcPr marL="80201" marR="80201" marT="40100" marB="40100"/>
                </a:tc>
                <a:tc>
                  <a:txBody>
                    <a:bodyPr/>
                    <a:lstStyle/>
                    <a:p>
                      <a:endParaRPr lang="tr-TR" sz="1600" dirty="0"/>
                    </a:p>
                  </a:txBody>
                  <a:tcPr marL="80201" marR="80201" marT="40100" marB="40100"/>
                </a:tc>
                <a:extLst>
                  <a:ext uri="{0D108BD9-81ED-4DB2-BD59-A6C34878D82A}">
                    <a16:rowId xmlns:a16="http://schemas.microsoft.com/office/drawing/2014/main" val="2951222699"/>
                  </a:ext>
                </a:extLst>
              </a:tr>
              <a:tr h="389144">
                <a:tc>
                  <a:txBody>
                    <a:bodyPr/>
                    <a:lstStyle/>
                    <a:p>
                      <a:r>
                        <a:rPr lang="tr-TR" sz="1600" dirty="0"/>
                        <a:t>Ahmet Şimşek</a:t>
                      </a:r>
                    </a:p>
                  </a:txBody>
                  <a:tcPr marL="80201" marR="80201" marT="40100" marB="40100"/>
                </a:tc>
                <a:tc>
                  <a:txBody>
                    <a:bodyPr/>
                    <a:lstStyle/>
                    <a:p>
                      <a:r>
                        <a:rPr lang="tr-TR" sz="1600" dirty="0"/>
                        <a:t>… Üniversitesi / Bilgisayar Müh. / 4. Sınıf</a:t>
                      </a:r>
                    </a:p>
                  </a:txBody>
                  <a:tcPr marL="80201" marR="80201" marT="40100" marB="40100"/>
                </a:tc>
                <a:tc>
                  <a:txBody>
                    <a:bodyPr/>
                    <a:lstStyle/>
                    <a:p>
                      <a:r>
                        <a:rPr lang="tr-TR" sz="1600" dirty="0" err="1"/>
                        <a:t>Aviyonik</a:t>
                      </a:r>
                      <a:r>
                        <a:rPr lang="tr-TR" sz="1600" dirty="0"/>
                        <a:t> </a:t>
                      </a:r>
                    </a:p>
                  </a:txBody>
                  <a:tcPr marL="80201" marR="80201" marT="40100" marB="40100"/>
                </a:tc>
                <a:tc>
                  <a:txBody>
                    <a:bodyPr/>
                    <a:lstStyle/>
                    <a:p>
                      <a:endParaRPr lang="tr-TR" sz="1600" dirty="0"/>
                    </a:p>
                  </a:txBody>
                  <a:tcPr marL="80201" marR="80201" marT="40100" marB="40100"/>
                </a:tc>
                <a:extLst>
                  <a:ext uri="{0D108BD9-81ED-4DB2-BD59-A6C34878D82A}">
                    <a16:rowId xmlns:a16="http://schemas.microsoft.com/office/drawing/2014/main" val="2550263999"/>
                  </a:ext>
                </a:extLst>
              </a:tr>
              <a:tr h="389144">
                <a:tc>
                  <a:txBody>
                    <a:bodyPr/>
                    <a:lstStyle/>
                    <a:p>
                      <a:r>
                        <a:rPr lang="tr-TR" sz="1600" dirty="0"/>
                        <a:t>Mehmet Sönmez</a:t>
                      </a:r>
                    </a:p>
                  </a:txBody>
                  <a:tcPr marL="80201" marR="80201" marT="40100" marB="40100"/>
                </a:tc>
                <a:tc>
                  <a:txBody>
                    <a:bodyPr/>
                    <a:lstStyle/>
                    <a:p>
                      <a:r>
                        <a:rPr lang="tr-TR" sz="1600" dirty="0"/>
                        <a:t>… Üniversitesi / Elektronik Müh. / 4. Sınıf</a:t>
                      </a:r>
                    </a:p>
                  </a:txBody>
                  <a:tcPr marL="80201" marR="80201" marT="40100" marB="40100"/>
                </a:tc>
                <a:tc>
                  <a:txBody>
                    <a:bodyPr/>
                    <a:lstStyle/>
                    <a:p>
                      <a:r>
                        <a:rPr lang="tr-TR" sz="1600" dirty="0"/>
                        <a:t>Elektronik Donanım</a:t>
                      </a:r>
                    </a:p>
                  </a:txBody>
                  <a:tcPr marL="80201" marR="80201" marT="40100" marB="40100"/>
                </a:tc>
                <a:tc>
                  <a:txBody>
                    <a:bodyPr/>
                    <a:lstStyle/>
                    <a:p>
                      <a:endParaRPr lang="tr-TR" sz="1600"/>
                    </a:p>
                  </a:txBody>
                  <a:tcPr marL="80201" marR="80201" marT="40100" marB="40100"/>
                </a:tc>
                <a:extLst>
                  <a:ext uri="{0D108BD9-81ED-4DB2-BD59-A6C34878D82A}">
                    <a16:rowId xmlns:a16="http://schemas.microsoft.com/office/drawing/2014/main" val="1618148774"/>
                  </a:ext>
                </a:extLst>
              </a:tr>
              <a:tr h="389144">
                <a:tc>
                  <a:txBody>
                    <a:bodyPr/>
                    <a:lstStyle/>
                    <a:p>
                      <a:r>
                        <a:rPr lang="tr-TR" sz="1600" dirty="0"/>
                        <a:t>Ayşe Durmuş</a:t>
                      </a:r>
                    </a:p>
                  </a:txBody>
                  <a:tcPr marL="80201" marR="80201" marT="40100" marB="40100"/>
                </a:tc>
                <a:tc>
                  <a:txBody>
                    <a:bodyPr/>
                    <a:lstStyle/>
                    <a:p>
                      <a:r>
                        <a:rPr lang="tr-TR" sz="1600" dirty="0"/>
                        <a:t>… Üniversitesi / Uçak Müh. / 4. Sınıf</a:t>
                      </a:r>
                    </a:p>
                  </a:txBody>
                  <a:tcPr marL="80201" marR="80201" marT="40100" marB="40100"/>
                </a:tc>
                <a:tc>
                  <a:txBody>
                    <a:bodyPr/>
                    <a:lstStyle/>
                    <a:p>
                      <a:r>
                        <a:rPr lang="tr-TR" sz="1600" dirty="0"/>
                        <a:t>Akışkan Gücü</a:t>
                      </a:r>
                    </a:p>
                  </a:txBody>
                  <a:tcPr marL="80201" marR="80201" marT="40100" marB="40100"/>
                </a:tc>
                <a:tc>
                  <a:txBody>
                    <a:bodyPr/>
                    <a:lstStyle/>
                    <a:p>
                      <a:endParaRPr lang="tr-TR" sz="1600"/>
                    </a:p>
                  </a:txBody>
                  <a:tcPr marL="80201" marR="80201" marT="40100" marB="40100"/>
                </a:tc>
                <a:extLst>
                  <a:ext uri="{0D108BD9-81ED-4DB2-BD59-A6C34878D82A}">
                    <a16:rowId xmlns:a16="http://schemas.microsoft.com/office/drawing/2014/main" val="881151962"/>
                  </a:ext>
                </a:extLst>
              </a:tr>
              <a:tr h="389144">
                <a:tc>
                  <a:txBody>
                    <a:bodyPr/>
                    <a:lstStyle/>
                    <a:p>
                      <a:endParaRPr lang="tr-TR" sz="1600"/>
                    </a:p>
                  </a:txBody>
                  <a:tcPr marL="80201" marR="80201" marT="40100" marB="40100"/>
                </a:tc>
                <a:tc>
                  <a:txBody>
                    <a:bodyPr/>
                    <a:lstStyle/>
                    <a:p>
                      <a:endParaRPr lang="tr-TR" sz="1600"/>
                    </a:p>
                  </a:txBody>
                  <a:tcPr marL="80201" marR="80201" marT="40100" marB="40100"/>
                </a:tc>
                <a:tc>
                  <a:txBody>
                    <a:bodyPr/>
                    <a:lstStyle/>
                    <a:p>
                      <a:endParaRPr lang="tr-TR" sz="1600" dirty="0"/>
                    </a:p>
                  </a:txBody>
                  <a:tcPr marL="80201" marR="80201" marT="40100" marB="40100"/>
                </a:tc>
                <a:tc>
                  <a:txBody>
                    <a:bodyPr/>
                    <a:lstStyle/>
                    <a:p>
                      <a:endParaRPr lang="tr-TR" sz="1600" dirty="0"/>
                    </a:p>
                  </a:txBody>
                  <a:tcPr marL="80201" marR="80201" marT="40100" marB="40100"/>
                </a:tc>
                <a:extLst>
                  <a:ext uri="{0D108BD9-81ED-4DB2-BD59-A6C34878D82A}">
                    <a16:rowId xmlns:a16="http://schemas.microsoft.com/office/drawing/2014/main" val="910225869"/>
                  </a:ext>
                </a:extLst>
              </a:tr>
            </a:tbl>
          </a:graphicData>
        </a:graphic>
      </p:graphicFrame>
      <p:sp>
        <p:nvSpPr>
          <p:cNvPr id="13" name="Dikdörtgen 12">
            <a:extLst>
              <a:ext uri="{FF2B5EF4-FFF2-40B4-BE49-F238E27FC236}">
                <a16:creationId xmlns:a16="http://schemas.microsoft.com/office/drawing/2014/main" id="{8FB48935-112F-4C8C-927A-098B395FA44A}"/>
              </a:ext>
            </a:extLst>
          </p:cNvPr>
          <p:cNvSpPr/>
          <p:nvPr/>
        </p:nvSpPr>
        <p:spPr>
          <a:xfrm>
            <a:off x="6357" y="6376063"/>
            <a:ext cx="10687043" cy="461665"/>
          </a:xfrm>
          <a:prstGeom prst="rect">
            <a:avLst/>
          </a:prstGeom>
        </p:spPr>
        <p:txBody>
          <a:bodyPr wrap="square">
            <a:spAutoFit/>
          </a:bodyPr>
          <a:lstStyle/>
          <a:p>
            <a:pPr marL="171450" indent="-171450" algn="just">
              <a:buFont typeface="Arial" panose="020B0604020202020204" pitchFamily="34" charset="0"/>
              <a:buChar char="•"/>
            </a:pPr>
            <a:r>
              <a:rPr lang="tr-TR" sz="1200" i="1" dirty="0">
                <a:solidFill>
                  <a:schemeClr val="tx1"/>
                </a:solidFill>
                <a:latin typeface="+mn-lt"/>
              </a:rPr>
              <a:t>Bu bölümdeki bilgiler ile </a:t>
            </a:r>
            <a:r>
              <a:rPr lang="tr-TR" sz="1200" b="1" i="1" dirty="0">
                <a:solidFill>
                  <a:schemeClr val="tx1"/>
                </a:solidFill>
                <a:latin typeface="+mn-lt"/>
              </a:rPr>
              <a:t>3.1.4</a:t>
            </a:r>
            <a:r>
              <a:rPr lang="tr-TR" sz="1200" i="1" dirty="0">
                <a:solidFill>
                  <a:schemeClr val="tx1"/>
                </a:solidFill>
                <a:latin typeface="+mn-lt"/>
              </a:rPr>
              <a:t>, </a:t>
            </a:r>
            <a:r>
              <a:rPr lang="tr-TR" sz="1200" b="1" i="1" dirty="0">
                <a:solidFill>
                  <a:schemeClr val="tx1"/>
                </a:solidFill>
                <a:latin typeface="+mn-lt"/>
              </a:rPr>
              <a:t>3.1.5</a:t>
            </a:r>
            <a:r>
              <a:rPr lang="tr-TR" sz="1200" i="1" dirty="0">
                <a:solidFill>
                  <a:schemeClr val="tx1"/>
                </a:solidFill>
                <a:latin typeface="+mn-lt"/>
              </a:rPr>
              <a:t>, </a:t>
            </a:r>
            <a:r>
              <a:rPr lang="tr-TR" sz="1200" b="1" i="1" dirty="0">
                <a:solidFill>
                  <a:schemeClr val="tx1"/>
                </a:solidFill>
                <a:latin typeface="+mn-lt"/>
              </a:rPr>
              <a:t>3.1.6</a:t>
            </a:r>
            <a:r>
              <a:rPr lang="tr-TR" sz="1200" i="1" dirty="0">
                <a:solidFill>
                  <a:schemeClr val="tx1"/>
                </a:solidFill>
                <a:latin typeface="+mn-lt"/>
              </a:rPr>
              <a:t>, </a:t>
            </a:r>
            <a:r>
              <a:rPr lang="tr-TR" sz="1200" b="1" i="1" dirty="0">
                <a:solidFill>
                  <a:schemeClr val="tx1"/>
                </a:solidFill>
                <a:latin typeface="+mn-lt"/>
              </a:rPr>
              <a:t>3.1.7</a:t>
            </a:r>
            <a:r>
              <a:rPr lang="tr-TR" sz="1200" i="1" dirty="0">
                <a:solidFill>
                  <a:schemeClr val="tx1"/>
                </a:solidFill>
                <a:latin typeface="+mn-lt"/>
              </a:rPr>
              <a:t>, </a:t>
            </a:r>
            <a:r>
              <a:rPr lang="tr-TR" sz="1200" b="1" i="1" dirty="0">
                <a:solidFill>
                  <a:schemeClr val="tx1"/>
                </a:solidFill>
                <a:latin typeface="+mn-lt"/>
              </a:rPr>
              <a:t>3.1.8</a:t>
            </a:r>
            <a:r>
              <a:rPr lang="tr-TR" sz="1200" i="1" dirty="0">
                <a:solidFill>
                  <a:schemeClr val="tx1"/>
                </a:solidFill>
                <a:latin typeface="+mn-lt"/>
              </a:rPr>
              <a:t>, </a:t>
            </a:r>
            <a:r>
              <a:rPr lang="tr-TR" sz="1200" b="1" i="1" dirty="0">
                <a:solidFill>
                  <a:schemeClr val="tx1"/>
                </a:solidFill>
                <a:latin typeface="+mn-lt"/>
              </a:rPr>
              <a:t>3.1.9</a:t>
            </a:r>
            <a:r>
              <a:rPr lang="tr-TR" sz="1200" i="1" dirty="0">
                <a:solidFill>
                  <a:schemeClr val="tx1"/>
                </a:solidFill>
                <a:latin typeface="+mn-lt"/>
              </a:rPr>
              <a:t>, </a:t>
            </a:r>
            <a:r>
              <a:rPr lang="tr-TR" sz="1200" b="1" i="1" dirty="0">
                <a:solidFill>
                  <a:schemeClr val="tx1"/>
                </a:solidFill>
                <a:latin typeface="+mn-lt"/>
              </a:rPr>
              <a:t>3.1.12, 3.1.14, 3.1.18, 3.1.19, 3.1.20, 3.1.21, 3.1.22, 3.1.23, 3.1.24, 3.1.25 ve 3.1.26 </a:t>
            </a:r>
            <a:r>
              <a:rPr lang="tr-TR" sz="1200" i="1" dirty="0">
                <a:solidFill>
                  <a:schemeClr val="tx1"/>
                </a:solidFill>
                <a:latin typeface="+mn-lt"/>
              </a:rPr>
              <a:t>numaralı maddelerde yer alan kuralların ihlalinin tespit edilmesi durumunda takımlar diskalifiye edilebilecektir.</a:t>
            </a:r>
          </a:p>
        </p:txBody>
      </p:sp>
      <p:sp>
        <p:nvSpPr>
          <p:cNvPr id="7" name="TextBox 6">
            <a:extLst>
              <a:ext uri="{FF2B5EF4-FFF2-40B4-BE49-F238E27FC236}">
                <a16:creationId xmlns:a16="http://schemas.microsoft.com/office/drawing/2014/main" id="{FB7904A1-868A-A359-95D9-EA14744E093E}"/>
              </a:ext>
            </a:extLst>
          </p:cNvPr>
          <p:cNvSpPr txBox="1"/>
          <p:nvPr/>
        </p:nvSpPr>
        <p:spPr>
          <a:xfrm>
            <a:off x="6357" y="544652"/>
            <a:ext cx="1027922" cy="569387"/>
          </a:xfrm>
          <a:prstGeom prst="rect">
            <a:avLst/>
          </a:prstGeom>
          <a:noFill/>
          <a:ln>
            <a:solidFill>
              <a:schemeClr val="tx1"/>
            </a:solidFill>
          </a:ln>
        </p:spPr>
        <p:txBody>
          <a:bodyPr wrap="square" rtlCol="0">
            <a:spAutoFit/>
          </a:bodyPr>
          <a:lstStyle/>
          <a:p>
            <a:pPr algn="ctr"/>
            <a:r>
              <a:rPr lang="tr-TR" sz="1550" dirty="0">
                <a:latin typeface="+mn-lt"/>
              </a:rPr>
              <a:t>Takım Logosu</a:t>
            </a:r>
          </a:p>
        </p:txBody>
      </p:sp>
    </p:spTree>
    <p:extLst>
      <p:ext uri="{BB962C8B-B14F-4D97-AF65-F5344CB8AC3E}">
        <p14:creationId xmlns:p14="http://schemas.microsoft.com/office/powerpoint/2010/main" val="4255664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6675" y="498768"/>
            <a:ext cx="8020050" cy="658651"/>
          </a:xfrm>
        </p:spPr>
        <p:txBody>
          <a:bodyPr>
            <a:noAutofit/>
          </a:bodyPr>
          <a:lstStyle/>
          <a:p>
            <a:r>
              <a:rPr lang="tr-TR" sz="3950" dirty="0">
                <a:solidFill>
                  <a:srgbClr val="0070C0"/>
                </a:solidFill>
                <a:latin typeface="+mn-lt"/>
                <a:cs typeface="Times New Roman" panose="02020603050405020304" pitchFamily="18" charset="0"/>
              </a:rPr>
              <a:t>Genel Bilgi </a:t>
            </a:r>
          </a:p>
        </p:txBody>
      </p:sp>
      <p:cxnSp>
        <p:nvCxnSpPr>
          <p:cNvPr id="5" name="Straight Connector 4"/>
          <p:cNvCxnSpPr/>
          <p:nvPr/>
        </p:nvCxnSpPr>
        <p:spPr>
          <a:xfrm flipV="1">
            <a:off x="0" y="1352684"/>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78851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9724145" y="6979608"/>
            <a:ext cx="201986" cy="161290"/>
          </a:xfrm>
        </p:spPr>
        <p:txBody>
          <a:bodyPr/>
          <a:lstStyle/>
          <a:p>
            <a:fld id="{87BEDC82-49FF-42E3-B7EA-26FF728940D5}" type="slidenum">
              <a:rPr lang="tr-TR" smtClean="0"/>
              <a:t>5</a:t>
            </a:fld>
            <a:endParaRPr lang="tr-TR"/>
          </a:p>
        </p:txBody>
      </p:sp>
      <p:sp>
        <p:nvSpPr>
          <p:cNvPr id="4" name="Date Placeholder 3"/>
          <p:cNvSpPr>
            <a:spLocks noGrp="1"/>
          </p:cNvSpPr>
          <p:nvPr>
            <p:ph type="dt" sz="half" idx="10"/>
          </p:nvPr>
        </p:nvSpPr>
        <p:spPr>
          <a:xfrm>
            <a:off x="802650" y="6979608"/>
            <a:ext cx="1321036" cy="161616"/>
          </a:xfrm>
        </p:spPr>
        <p:txBody>
          <a:bodyPr/>
          <a:lstStyle/>
          <a:p>
            <a:fld id="{AD0ED423-009F-42C9-830B-24533D2D5942}" type="datetime2">
              <a:rPr lang="tr-TR" smtClean="0"/>
              <a:t>3 Temmuz 2026 Cuma</a:t>
            </a:fld>
            <a:endParaRPr lang="tr-TR" dirty="0"/>
          </a:p>
        </p:txBody>
      </p:sp>
      <p:graphicFrame>
        <p:nvGraphicFramePr>
          <p:cNvPr id="15" name="Table 14"/>
          <p:cNvGraphicFramePr>
            <a:graphicFrameLocks noGrp="1"/>
          </p:cNvGraphicFramePr>
          <p:nvPr/>
        </p:nvGraphicFramePr>
        <p:xfrm>
          <a:off x="138312" y="2386125"/>
          <a:ext cx="6008781" cy="1395713"/>
        </p:xfrm>
        <a:graphic>
          <a:graphicData uri="http://schemas.openxmlformats.org/drawingml/2006/table">
            <a:tbl>
              <a:tblPr/>
              <a:tblGrid>
                <a:gridCol w="1778862">
                  <a:extLst>
                    <a:ext uri="{9D8B030D-6E8A-4147-A177-3AD203B41FA5}">
                      <a16:colId xmlns:a16="http://schemas.microsoft.com/office/drawing/2014/main" val="20000"/>
                    </a:ext>
                  </a:extLst>
                </a:gridCol>
                <a:gridCol w="1519129">
                  <a:extLst>
                    <a:ext uri="{9D8B030D-6E8A-4147-A177-3AD203B41FA5}">
                      <a16:colId xmlns:a16="http://schemas.microsoft.com/office/drawing/2014/main" val="20001"/>
                    </a:ext>
                  </a:extLst>
                </a:gridCol>
                <a:gridCol w="537078">
                  <a:extLst>
                    <a:ext uri="{9D8B030D-6E8A-4147-A177-3AD203B41FA5}">
                      <a16:colId xmlns:a16="http://schemas.microsoft.com/office/drawing/2014/main" val="20002"/>
                    </a:ext>
                  </a:extLst>
                </a:gridCol>
                <a:gridCol w="537078">
                  <a:extLst>
                    <a:ext uri="{9D8B030D-6E8A-4147-A177-3AD203B41FA5}">
                      <a16:colId xmlns:a16="http://schemas.microsoft.com/office/drawing/2014/main" val="20003"/>
                    </a:ext>
                  </a:extLst>
                </a:gridCol>
                <a:gridCol w="537078">
                  <a:extLst>
                    <a:ext uri="{9D8B030D-6E8A-4147-A177-3AD203B41FA5}">
                      <a16:colId xmlns:a16="http://schemas.microsoft.com/office/drawing/2014/main" val="20004"/>
                    </a:ext>
                  </a:extLst>
                </a:gridCol>
                <a:gridCol w="537078">
                  <a:extLst>
                    <a:ext uri="{9D8B030D-6E8A-4147-A177-3AD203B41FA5}">
                      <a16:colId xmlns:a16="http://schemas.microsoft.com/office/drawing/2014/main" val="20005"/>
                    </a:ext>
                  </a:extLst>
                </a:gridCol>
                <a:gridCol w="537078">
                  <a:extLst>
                    <a:ext uri="{9D8B030D-6E8A-4147-A177-3AD203B41FA5}">
                      <a16:colId xmlns:a16="http://schemas.microsoft.com/office/drawing/2014/main" val="20006"/>
                    </a:ext>
                  </a:extLst>
                </a:gridCol>
                <a:gridCol w="25400">
                  <a:extLst>
                    <a:ext uri="{9D8B030D-6E8A-4147-A177-3AD203B41FA5}">
                      <a16:colId xmlns:a16="http://schemas.microsoft.com/office/drawing/2014/main" val="20007"/>
                    </a:ext>
                  </a:extLst>
                </a:gridCol>
              </a:tblGrid>
              <a:tr h="175439">
                <a:tc>
                  <a:txBody>
                    <a:bodyPr/>
                    <a:lstStyle/>
                    <a:p>
                      <a:pPr algn="ctr" fontAlgn="b"/>
                      <a:r>
                        <a:rPr lang="tr-TR" sz="1100" b="1" i="0" u="none" strike="noStrike" dirty="0">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tr-TR" sz="1100" b="1" i="0" u="none" strike="noStrike" dirty="0">
                          <a:solidFill>
                            <a:schemeClr val="tx1"/>
                          </a:solidFill>
                          <a:effectLst/>
                          <a:latin typeface="Calibri" panose="020F0502020204030204" pitchFamily="34" charset="0"/>
                        </a:rPr>
                        <a:t>Değer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gridSpan="6">
                  <a:txBody>
                    <a:bodyPr/>
                    <a:lstStyle/>
                    <a:p>
                      <a:pPr algn="ctr" fontAlgn="b"/>
                      <a:r>
                        <a:rPr lang="tr-TR" sz="1100" b="1" i="0" u="none" strike="noStrike" dirty="0">
                          <a:solidFill>
                            <a:srgbClr val="000000"/>
                          </a:solidFill>
                          <a:effectLst/>
                          <a:latin typeface="Calibri" panose="020F0502020204030204" pitchFamily="34" charset="0"/>
                        </a:rPr>
                        <a:t>Yorum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hMerge="1">
                  <a:txBody>
                    <a:bodyPr/>
                    <a:lstStyle/>
                    <a:p>
                      <a:endParaRPr lang="tr-TR"/>
                    </a:p>
                  </a:txBody>
                  <a:tcPr/>
                </a:tc>
                <a:tc hMerge="1">
                  <a:txBody>
                    <a:bodyPr/>
                    <a:lstStyle/>
                    <a:p>
                      <a:endParaRPr lang="tr-TR"/>
                    </a:p>
                  </a:txBody>
                  <a:tcPr/>
                </a:tc>
                <a:tc hMerge="1">
                  <a:txBody>
                    <a:bodyPr/>
                    <a:lstStyle/>
                    <a:p>
                      <a:endParaRPr lang="tr-TR"/>
                    </a:p>
                  </a:txBody>
                  <a:tcPr/>
                </a:tc>
                <a:tc hMerge="1">
                  <a:txBody>
                    <a:bodyPr/>
                    <a:lstStyle/>
                    <a:p>
                      <a:endParaRPr lang="tr-TR"/>
                    </a:p>
                  </a:txBody>
                  <a:tcPr/>
                </a:tc>
                <a:tc hMerge="1">
                  <a:txBody>
                    <a:bodyPr/>
                    <a:lstStyle/>
                    <a:p>
                      <a:endParaRPr lang="tr-TR"/>
                    </a:p>
                  </a:txBody>
                  <a:tcPr/>
                </a:tc>
                <a:extLst>
                  <a:ext uri="{0D108BD9-81ED-4DB2-BD59-A6C34878D82A}">
                    <a16:rowId xmlns:a16="http://schemas.microsoft.com/office/drawing/2014/main" val="10000"/>
                  </a:ext>
                </a:extLst>
              </a:tr>
              <a:tr h="175439">
                <a:tc>
                  <a:txBody>
                    <a:bodyPr/>
                    <a:lstStyle/>
                    <a:p>
                      <a:pPr algn="r" fontAlgn="b"/>
                      <a:r>
                        <a:rPr lang="tr-TR" sz="1100" b="0" i="0" u="none" strike="noStrike" dirty="0">
                          <a:solidFill>
                            <a:schemeClr val="tx1"/>
                          </a:solidFill>
                          <a:effectLst/>
                          <a:latin typeface="Calibri" panose="020F0502020204030204" pitchFamily="34" charset="0"/>
                        </a:rPr>
                        <a:t>Boy (metre):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tr-TR" sz="800" b="0" i="0" u="none" strike="noStrike" dirty="0">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6">
                  <a:txBody>
                    <a:bodyPr/>
                    <a:lstStyle/>
                    <a:p>
                      <a:pPr algn="ctr" fontAlgn="b"/>
                      <a:r>
                        <a:rPr lang="tr-TR" sz="800" b="0" i="0" u="none" strike="noStrike" dirty="0">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endParaRPr lang="tr-TR"/>
                    </a:p>
                  </a:txBody>
                  <a:tcPr/>
                </a:tc>
                <a:tc hMerge="1">
                  <a:txBody>
                    <a:bodyPr/>
                    <a:lstStyle/>
                    <a:p>
                      <a:endParaRPr lang="tr-TR"/>
                    </a:p>
                  </a:txBody>
                  <a:tcPr/>
                </a:tc>
                <a:tc hMerge="1">
                  <a:txBody>
                    <a:bodyPr/>
                    <a:lstStyle/>
                    <a:p>
                      <a:endParaRPr lang="tr-TR"/>
                    </a:p>
                  </a:txBody>
                  <a:tcPr/>
                </a:tc>
                <a:tc hMerge="1">
                  <a:txBody>
                    <a:bodyPr/>
                    <a:lstStyle/>
                    <a:p>
                      <a:endParaRPr lang="tr-TR"/>
                    </a:p>
                  </a:txBody>
                  <a:tcPr/>
                </a:tc>
                <a:tc hMerge="1">
                  <a:txBody>
                    <a:bodyPr/>
                    <a:lstStyle/>
                    <a:p>
                      <a:endParaRPr lang="tr-TR"/>
                    </a:p>
                  </a:txBody>
                  <a:tcPr/>
                </a:tc>
                <a:extLst>
                  <a:ext uri="{0D108BD9-81ED-4DB2-BD59-A6C34878D82A}">
                    <a16:rowId xmlns:a16="http://schemas.microsoft.com/office/drawing/2014/main" val="10001"/>
                  </a:ext>
                </a:extLst>
              </a:tr>
              <a:tr h="175439">
                <a:tc>
                  <a:txBody>
                    <a:bodyPr/>
                    <a:lstStyle/>
                    <a:p>
                      <a:pPr algn="r" fontAlgn="b"/>
                      <a:r>
                        <a:rPr lang="tr-TR" sz="1100" b="0" i="0" u="none" strike="noStrike" dirty="0">
                          <a:solidFill>
                            <a:schemeClr val="tx1"/>
                          </a:solidFill>
                          <a:effectLst/>
                          <a:latin typeface="Calibri" panose="020F0502020204030204" pitchFamily="34" charset="0"/>
                        </a:rPr>
                        <a:t>Çap (metre):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tr-TR" sz="800" b="0" i="0" u="none" strike="noStrike" dirty="0">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6">
                  <a:txBody>
                    <a:bodyPr/>
                    <a:lstStyle/>
                    <a:p>
                      <a:pPr algn="ctr" fontAlgn="b"/>
                      <a:r>
                        <a:rPr lang="tr-TR" sz="800" b="0" i="0" u="none" strike="noStrike" dirty="0">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endParaRPr lang="tr-TR"/>
                    </a:p>
                  </a:txBody>
                  <a:tcPr/>
                </a:tc>
                <a:tc hMerge="1">
                  <a:txBody>
                    <a:bodyPr/>
                    <a:lstStyle/>
                    <a:p>
                      <a:endParaRPr lang="tr-TR"/>
                    </a:p>
                  </a:txBody>
                  <a:tcPr/>
                </a:tc>
                <a:tc hMerge="1">
                  <a:txBody>
                    <a:bodyPr/>
                    <a:lstStyle/>
                    <a:p>
                      <a:endParaRPr lang="tr-TR"/>
                    </a:p>
                  </a:txBody>
                  <a:tcPr/>
                </a:tc>
                <a:tc hMerge="1">
                  <a:txBody>
                    <a:bodyPr/>
                    <a:lstStyle/>
                    <a:p>
                      <a:endParaRPr lang="tr-TR"/>
                    </a:p>
                  </a:txBody>
                  <a:tcPr/>
                </a:tc>
                <a:tc hMerge="1">
                  <a:txBody>
                    <a:bodyPr/>
                    <a:lstStyle/>
                    <a:p>
                      <a:endParaRPr lang="tr-TR"/>
                    </a:p>
                  </a:txBody>
                  <a:tcPr/>
                </a:tc>
                <a:extLst>
                  <a:ext uri="{0D108BD9-81ED-4DB2-BD59-A6C34878D82A}">
                    <a16:rowId xmlns:a16="http://schemas.microsoft.com/office/drawing/2014/main" val="10002"/>
                  </a:ext>
                </a:extLst>
              </a:tr>
              <a:tr h="175439">
                <a:tc>
                  <a:txBody>
                    <a:bodyPr/>
                    <a:lstStyle/>
                    <a:p>
                      <a:pPr algn="r" fontAlgn="b"/>
                      <a:r>
                        <a:rPr lang="tr-TR" sz="1100" b="0" i="0" u="none" strike="noStrike" dirty="0">
                          <a:solidFill>
                            <a:schemeClr val="tx1"/>
                          </a:solidFill>
                          <a:effectLst/>
                          <a:latin typeface="Calibri" panose="020F0502020204030204" pitchFamily="34" charset="0"/>
                        </a:rPr>
                        <a:t>Statik </a:t>
                      </a:r>
                      <a:r>
                        <a:rPr lang="tr-TR" sz="1100" b="0" i="0" u="none" strike="noStrike" dirty="0" err="1">
                          <a:solidFill>
                            <a:schemeClr val="tx1"/>
                          </a:solidFill>
                          <a:effectLst/>
                          <a:latin typeface="Calibri" panose="020F0502020204030204" pitchFamily="34" charset="0"/>
                        </a:rPr>
                        <a:t>Marjin</a:t>
                      </a:r>
                      <a:r>
                        <a:rPr lang="tr-TR" sz="1100" b="0" i="0" u="none" strike="noStrike" dirty="0">
                          <a:solidFill>
                            <a:schemeClr val="tx1"/>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tr-TR" sz="800" b="0" i="0" u="none" strike="noStrike" dirty="0">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6">
                  <a:txBody>
                    <a:bodyPr/>
                    <a:lstStyle/>
                    <a:p>
                      <a:pPr algn="ctr" fontAlgn="b"/>
                      <a:endParaRPr lang="tr-TR" sz="800" b="0" i="0" u="none" strike="noStrike" dirty="0">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endParaRPr lang="tr-TR"/>
                    </a:p>
                  </a:txBody>
                  <a:tcPr/>
                </a:tc>
                <a:tc hMerge="1">
                  <a:txBody>
                    <a:bodyPr/>
                    <a:lstStyle/>
                    <a:p>
                      <a:endParaRPr lang="tr-TR"/>
                    </a:p>
                  </a:txBody>
                  <a:tcPr/>
                </a:tc>
                <a:tc hMerge="1">
                  <a:txBody>
                    <a:bodyPr/>
                    <a:lstStyle/>
                    <a:p>
                      <a:endParaRPr lang="tr-TR"/>
                    </a:p>
                  </a:txBody>
                  <a:tcPr/>
                </a:tc>
                <a:tc hMerge="1">
                  <a:txBody>
                    <a:bodyPr/>
                    <a:lstStyle/>
                    <a:p>
                      <a:endParaRPr lang="tr-TR"/>
                    </a:p>
                  </a:txBody>
                  <a:tcPr/>
                </a:tc>
                <a:tc hMerge="1">
                  <a:txBody>
                    <a:bodyPr/>
                    <a:lstStyle/>
                    <a:p>
                      <a:endParaRPr lang="tr-TR"/>
                    </a:p>
                  </a:txBody>
                  <a:tcPr/>
                </a:tc>
                <a:extLst>
                  <a:ext uri="{0D108BD9-81ED-4DB2-BD59-A6C34878D82A}">
                    <a16:rowId xmlns:a16="http://schemas.microsoft.com/office/drawing/2014/main" val="3418403571"/>
                  </a:ext>
                </a:extLst>
              </a:tr>
              <a:tr h="175439">
                <a:tc>
                  <a:txBody>
                    <a:bodyPr/>
                    <a:lstStyle/>
                    <a:p>
                      <a:pPr algn="r" fontAlgn="b"/>
                      <a:r>
                        <a:rPr lang="tr-TR" sz="1100" b="0" i="0" u="none" strike="noStrike" dirty="0">
                          <a:solidFill>
                            <a:schemeClr val="tx1"/>
                          </a:solidFill>
                          <a:effectLst/>
                          <a:latin typeface="Calibri" panose="020F0502020204030204" pitchFamily="34" charset="0"/>
                        </a:rPr>
                        <a:t>Roket Toplam Kütlesi :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tr-TR" sz="800" b="0" i="0" u="none" strike="noStrike" dirty="0">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6">
                  <a:txBody>
                    <a:bodyPr/>
                    <a:lstStyle/>
                    <a:p>
                      <a:pPr algn="ctr" fontAlgn="b"/>
                      <a:endParaRPr lang="tr-TR" sz="800" b="0" i="0" u="none" strike="noStrike" dirty="0">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endParaRPr lang="tr-TR"/>
                    </a:p>
                  </a:txBody>
                  <a:tcPr/>
                </a:tc>
                <a:tc hMerge="1">
                  <a:txBody>
                    <a:bodyPr/>
                    <a:lstStyle/>
                    <a:p>
                      <a:endParaRPr lang="tr-TR"/>
                    </a:p>
                  </a:txBody>
                  <a:tcPr/>
                </a:tc>
                <a:tc hMerge="1">
                  <a:txBody>
                    <a:bodyPr/>
                    <a:lstStyle/>
                    <a:p>
                      <a:endParaRPr lang="tr-TR"/>
                    </a:p>
                  </a:txBody>
                  <a:tcPr/>
                </a:tc>
                <a:tc hMerge="1">
                  <a:txBody>
                    <a:bodyPr/>
                    <a:lstStyle/>
                    <a:p>
                      <a:endParaRPr lang="tr-TR"/>
                    </a:p>
                  </a:txBody>
                  <a:tcPr/>
                </a:tc>
                <a:tc hMerge="1">
                  <a:txBody>
                    <a:bodyPr/>
                    <a:lstStyle/>
                    <a:p>
                      <a:endParaRPr lang="tr-TR"/>
                    </a:p>
                  </a:txBody>
                  <a:tcPr/>
                </a:tc>
                <a:extLst>
                  <a:ext uri="{0D108BD9-81ED-4DB2-BD59-A6C34878D82A}">
                    <a16:rowId xmlns:a16="http://schemas.microsoft.com/office/drawing/2014/main" val="1519678917"/>
                  </a:ext>
                </a:extLst>
              </a:tr>
              <a:tr h="175439">
                <a:tc>
                  <a:txBody>
                    <a:bodyPr/>
                    <a:lstStyle/>
                    <a:p>
                      <a:pPr algn="r" fontAlgn="b"/>
                      <a:r>
                        <a:rPr lang="tr-TR" sz="1100" b="0" i="0" u="none" strike="noStrike" dirty="0">
                          <a:solidFill>
                            <a:schemeClr val="tx1"/>
                          </a:solidFill>
                          <a:effectLst/>
                          <a:latin typeface="Calibri" panose="020F0502020204030204" pitchFamily="34" charset="0"/>
                        </a:rPr>
                        <a:t>Roket Atalet Momenti Matrisi: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tr-TR" sz="800" b="0" i="0" u="none" strike="noStrike" dirty="0">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6">
                  <a:txBody>
                    <a:bodyPr/>
                    <a:lstStyle/>
                    <a:p>
                      <a:pPr algn="ctr" fontAlgn="b"/>
                      <a:endParaRPr lang="tr-TR" sz="800" b="0" i="0" u="none" strike="noStrike" dirty="0">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endParaRPr lang="tr-TR"/>
                    </a:p>
                  </a:txBody>
                  <a:tcPr/>
                </a:tc>
                <a:tc hMerge="1">
                  <a:txBody>
                    <a:bodyPr/>
                    <a:lstStyle/>
                    <a:p>
                      <a:endParaRPr lang="tr-TR"/>
                    </a:p>
                  </a:txBody>
                  <a:tcPr/>
                </a:tc>
                <a:tc hMerge="1">
                  <a:txBody>
                    <a:bodyPr/>
                    <a:lstStyle/>
                    <a:p>
                      <a:endParaRPr lang="tr-TR"/>
                    </a:p>
                  </a:txBody>
                  <a:tcPr/>
                </a:tc>
                <a:tc hMerge="1">
                  <a:txBody>
                    <a:bodyPr/>
                    <a:lstStyle/>
                    <a:p>
                      <a:endParaRPr lang="tr-TR"/>
                    </a:p>
                  </a:txBody>
                  <a:tcPr/>
                </a:tc>
                <a:tc hMerge="1">
                  <a:txBody>
                    <a:bodyPr/>
                    <a:lstStyle/>
                    <a:p>
                      <a:endParaRPr lang="tr-TR"/>
                    </a:p>
                  </a:txBody>
                  <a:tcPr/>
                </a:tc>
                <a:extLst>
                  <a:ext uri="{0D108BD9-81ED-4DB2-BD59-A6C34878D82A}">
                    <a16:rowId xmlns:a16="http://schemas.microsoft.com/office/drawing/2014/main" val="3623621534"/>
                  </a:ext>
                </a:extLst>
              </a:tr>
              <a:tr h="160401">
                <a:tc>
                  <a:txBody>
                    <a:bodyPr/>
                    <a:lstStyle/>
                    <a:p>
                      <a:pPr algn="r" fontAlgn="b"/>
                      <a:r>
                        <a:rPr lang="tr-TR" sz="1100" b="0" i="0" u="none" strike="noStrike" dirty="0">
                          <a:solidFill>
                            <a:schemeClr val="tx1"/>
                          </a:solidFill>
                          <a:effectLst/>
                          <a:latin typeface="Calibri" panose="020F0502020204030204" pitchFamily="34" charset="0"/>
                        </a:rPr>
                        <a:t>Gaz Tank Hacmi :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tr-TR" sz="800" b="0" i="0" u="none" strike="noStrike" dirty="0">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tr-TR" sz="800" b="0" i="0" u="none" strike="noStrike" dirty="0">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tr-TR"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tr-TR"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tr-TR" sz="800" b="0"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tr-TR" sz="800" b="0"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tr-TR" sz="800" b="0" i="0" u="none" strike="noStrike" dirty="0">
                          <a:solidFill>
                            <a:srgbClr val="000000"/>
                          </a:solidFill>
                          <a:effectLst/>
                          <a:latin typeface="Calibri" panose="020F050202020403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75439">
                <a:tc>
                  <a:txBody>
                    <a:bodyPr/>
                    <a:lstStyle/>
                    <a:p>
                      <a:pPr algn="r" fontAlgn="b"/>
                      <a:r>
                        <a:rPr lang="tr-TR" sz="1100" b="0" i="0" u="none" strike="noStrike" dirty="0">
                          <a:solidFill>
                            <a:schemeClr val="tx1"/>
                          </a:solidFill>
                          <a:effectLst/>
                          <a:latin typeface="Calibri" panose="020F0502020204030204" pitchFamily="34" charset="0"/>
                        </a:rPr>
                        <a:t>Gaz Tank Dolum Basıncı :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tr-TR" sz="800" b="0" i="0" u="none" strike="noStrike" dirty="0">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6">
                  <a:txBody>
                    <a:bodyPr/>
                    <a:lstStyle/>
                    <a:p>
                      <a:pPr algn="ctr" fontAlgn="b"/>
                      <a:r>
                        <a:rPr lang="tr-TR" sz="800" b="0" i="0" u="none" strike="noStrike" dirty="0">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endParaRPr lang="tr-TR"/>
                    </a:p>
                  </a:txBody>
                  <a:tcPr/>
                </a:tc>
                <a:tc hMerge="1">
                  <a:txBody>
                    <a:bodyPr/>
                    <a:lstStyle/>
                    <a:p>
                      <a:endParaRPr lang="tr-TR"/>
                    </a:p>
                  </a:txBody>
                  <a:tcPr/>
                </a:tc>
                <a:tc hMerge="1">
                  <a:txBody>
                    <a:bodyPr/>
                    <a:lstStyle/>
                    <a:p>
                      <a:endParaRPr lang="tr-TR"/>
                    </a:p>
                  </a:txBody>
                  <a:tcPr/>
                </a:tc>
                <a:tc hMerge="1">
                  <a:txBody>
                    <a:bodyPr/>
                    <a:lstStyle/>
                    <a:p>
                      <a:endParaRPr lang="tr-TR"/>
                    </a:p>
                  </a:txBody>
                  <a:tcPr/>
                </a:tc>
                <a:tc hMerge="1">
                  <a:txBody>
                    <a:bodyPr/>
                    <a:lstStyle/>
                    <a:p>
                      <a:endParaRPr lang="tr-TR"/>
                    </a:p>
                  </a:txBody>
                  <a:tcPr/>
                </a:tc>
                <a:extLst>
                  <a:ext uri="{0D108BD9-81ED-4DB2-BD59-A6C34878D82A}">
                    <a16:rowId xmlns:a16="http://schemas.microsoft.com/office/drawing/2014/main" val="10008"/>
                  </a:ext>
                </a:extLst>
              </a:tr>
            </a:tbl>
          </a:graphicData>
        </a:graphic>
      </p:graphicFrame>
      <p:sp>
        <p:nvSpPr>
          <p:cNvPr id="17" name="Rectangle 16"/>
          <p:cNvSpPr/>
          <p:nvPr/>
        </p:nvSpPr>
        <p:spPr>
          <a:xfrm>
            <a:off x="138313" y="2003771"/>
            <a:ext cx="6005747" cy="3614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550" dirty="0"/>
              <a:t>Yarışma Roketi Hakkınd</a:t>
            </a:r>
            <a:r>
              <a:rPr lang="en-US" sz="1550" dirty="0">
                <a:solidFill>
                  <a:schemeClr val="bg1"/>
                </a:solidFill>
              </a:rPr>
              <a:t>a</a:t>
            </a:r>
            <a:r>
              <a:rPr lang="tr-TR" sz="1550" dirty="0"/>
              <a:t> Genel Bilgiler </a:t>
            </a:r>
          </a:p>
        </p:txBody>
      </p:sp>
      <p:sp>
        <p:nvSpPr>
          <p:cNvPr id="20" name="Rectangle 19"/>
          <p:cNvSpPr/>
          <p:nvPr/>
        </p:nvSpPr>
        <p:spPr>
          <a:xfrm>
            <a:off x="6612381" y="3034528"/>
            <a:ext cx="3802055" cy="3614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550" dirty="0"/>
              <a:t>İtki Sistemi</a:t>
            </a:r>
          </a:p>
        </p:txBody>
      </p:sp>
      <p:sp>
        <p:nvSpPr>
          <p:cNvPr id="21" name="Rectangle 20"/>
          <p:cNvSpPr/>
          <p:nvPr/>
        </p:nvSpPr>
        <p:spPr>
          <a:xfrm>
            <a:off x="6612381" y="4626534"/>
            <a:ext cx="3802055" cy="1541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550" dirty="0"/>
              <a:t>Takımlar rokete ait genel bilgileri tabloya yerleştirmelidir. </a:t>
            </a:r>
          </a:p>
          <a:p>
            <a:pPr algn="ctr"/>
            <a:endParaRPr lang="tr-TR" sz="1550" dirty="0"/>
          </a:p>
          <a:p>
            <a:pPr algn="ctr"/>
            <a:r>
              <a:rPr lang="tr-TR" sz="1550" dirty="0"/>
              <a:t>Bu bölümün en son doldurulması tavsiye edilmektedir.</a:t>
            </a:r>
          </a:p>
        </p:txBody>
      </p:sp>
      <p:pic>
        <p:nvPicPr>
          <p:cNvPr id="22"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276225"/>
            <a:ext cx="1063165" cy="1063165"/>
          </a:xfrm>
          <a:prstGeom prst="rect">
            <a:avLst/>
          </a:prstGeom>
        </p:spPr>
      </p:pic>
      <p:sp>
        <p:nvSpPr>
          <p:cNvPr id="23" name="Footer Placeholder 8"/>
          <p:cNvSpPr>
            <a:spLocks noGrp="1"/>
          </p:cNvSpPr>
          <p:nvPr>
            <p:ph type="ftr" sz="quarter" idx="11"/>
          </p:nvPr>
        </p:nvSpPr>
        <p:spPr>
          <a:xfrm>
            <a:off x="3542189" y="6890180"/>
            <a:ext cx="3609023" cy="320245"/>
          </a:xfrm>
        </p:spPr>
        <p:txBody>
          <a:bodyPr/>
          <a:lstStyle/>
          <a:p>
            <a:pPr algn="ctr"/>
            <a:r>
              <a:rPr lang="tr-TR" dirty="0"/>
              <a:t>2026 TEKNOFEST DİKEY İNİŞLİ ROKET YARIŞMASI</a:t>
            </a:r>
          </a:p>
          <a:p>
            <a:pPr algn="ctr"/>
            <a:r>
              <a:rPr lang="tr-TR" dirty="0"/>
              <a:t>ATIŞA HAZIRLIK RAPORU (AHR)</a:t>
            </a:r>
          </a:p>
        </p:txBody>
      </p:sp>
      <p:graphicFrame>
        <p:nvGraphicFramePr>
          <p:cNvPr id="24" name="Table 14">
            <a:extLst>
              <a:ext uri="{FF2B5EF4-FFF2-40B4-BE49-F238E27FC236}">
                <a16:creationId xmlns:a16="http://schemas.microsoft.com/office/drawing/2014/main" id="{2D1A5BB7-8A22-4FE2-9A49-A0AA616C69FA}"/>
              </a:ext>
            </a:extLst>
          </p:cNvPr>
          <p:cNvGraphicFramePr>
            <a:graphicFrameLocks noGrp="1"/>
          </p:cNvGraphicFramePr>
          <p:nvPr/>
        </p:nvGraphicFramePr>
        <p:xfrm>
          <a:off x="6612376" y="3404139"/>
          <a:ext cx="3802059" cy="1048911"/>
        </p:xfrm>
        <a:graphic>
          <a:graphicData uri="http://schemas.openxmlformats.org/drawingml/2006/table">
            <a:tbl>
              <a:tblPr/>
              <a:tblGrid>
                <a:gridCol w="1801035">
                  <a:extLst>
                    <a:ext uri="{9D8B030D-6E8A-4147-A177-3AD203B41FA5}">
                      <a16:colId xmlns:a16="http://schemas.microsoft.com/office/drawing/2014/main" val="20000"/>
                    </a:ext>
                  </a:extLst>
                </a:gridCol>
                <a:gridCol w="596254">
                  <a:extLst>
                    <a:ext uri="{9D8B030D-6E8A-4147-A177-3AD203B41FA5}">
                      <a16:colId xmlns:a16="http://schemas.microsoft.com/office/drawing/2014/main" val="20001"/>
                    </a:ext>
                  </a:extLst>
                </a:gridCol>
                <a:gridCol w="1404770">
                  <a:extLst>
                    <a:ext uri="{9D8B030D-6E8A-4147-A177-3AD203B41FA5}">
                      <a16:colId xmlns:a16="http://schemas.microsoft.com/office/drawing/2014/main" val="20002"/>
                    </a:ext>
                  </a:extLst>
                </a:gridCol>
              </a:tblGrid>
              <a:tr h="173863">
                <a:tc>
                  <a:txBody>
                    <a:bodyPr/>
                    <a:lstStyle/>
                    <a:p>
                      <a:pPr algn="ctr" fontAlgn="b"/>
                      <a:r>
                        <a:rPr lang="tr-TR" sz="1100" b="1" i="0" u="none" strike="noStrike" dirty="0">
                          <a:solidFill>
                            <a:schemeClr val="tx1"/>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tr-TR" sz="1100" b="1" i="0" u="none" strike="noStrike" dirty="0">
                          <a:solidFill>
                            <a:schemeClr val="tx1"/>
                          </a:solidFill>
                          <a:effectLst/>
                          <a:latin typeface="Calibri" panose="020F0502020204030204" pitchFamily="34" charset="0"/>
                        </a:rPr>
                        <a:t>Değer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tr-TR" sz="1100" b="1" i="0" u="none" strike="noStrike" dirty="0">
                          <a:solidFill>
                            <a:srgbClr val="000000"/>
                          </a:solidFill>
                          <a:effectLst/>
                          <a:latin typeface="Calibri" panose="020F0502020204030204" pitchFamily="34" charset="0"/>
                        </a:rPr>
                        <a:t>Yorum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0000"/>
                  </a:ext>
                </a:extLst>
              </a:tr>
              <a:tr h="160401">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tr-TR" sz="1100" b="0" i="0" u="none" strike="noStrike" dirty="0">
                          <a:solidFill>
                            <a:schemeClr val="tx1"/>
                          </a:solidFill>
                          <a:effectLst/>
                          <a:latin typeface="Calibri" panose="020F0502020204030204" pitchFamily="34" charset="0"/>
                        </a:rPr>
                        <a:t>Lüle Sayısı :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tr-TR" sz="800" b="0" i="0" u="none" strike="noStrike" dirty="0">
                        <a:solidFill>
                          <a:schemeClr val="tx1"/>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tr-TR" sz="800" b="0" i="0" u="none" strike="noStrike" dirty="0">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50558818"/>
                  </a:ext>
                </a:extLst>
              </a:tr>
              <a:tr h="173863">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tr-TR" sz="1100" b="0" i="0" u="none" strike="noStrike" dirty="0">
                          <a:solidFill>
                            <a:schemeClr val="tx1"/>
                          </a:solidFill>
                          <a:effectLst/>
                          <a:latin typeface="Calibri" panose="020F0502020204030204" pitchFamily="34" charset="0"/>
                        </a:rPr>
                        <a:t>Tek Bir Lülenin İtki Kuvveti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tr-TR" sz="800" b="0" i="0" u="none" strike="noStrike" dirty="0">
                        <a:solidFill>
                          <a:schemeClr val="tx1"/>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tr-TR" sz="800" b="0" i="0" u="none" strike="noStrike" dirty="0">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669129856"/>
                  </a:ext>
                </a:extLst>
              </a:tr>
              <a:tr h="173863">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tr-TR" sz="1100" b="0" i="0" u="none" strike="noStrike" dirty="0">
                          <a:solidFill>
                            <a:schemeClr val="tx1"/>
                          </a:solidFill>
                          <a:effectLst/>
                          <a:latin typeface="Calibri" panose="020F0502020204030204" pitchFamily="34" charset="0"/>
                        </a:rPr>
                        <a:t>Lüle Tasarım Mach Sayısı :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tr-TR" sz="800" b="0" i="0" u="none" strike="noStrike" dirty="0">
                        <a:solidFill>
                          <a:schemeClr val="tx1"/>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tr-TR" sz="800" b="0" i="0" u="none" strike="noStrike" dirty="0">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8195554"/>
                  </a:ext>
                </a:extLst>
              </a:tr>
              <a:tr h="185819">
                <a:tc>
                  <a:txBody>
                    <a:bodyPr/>
                    <a:lstStyle/>
                    <a:p>
                      <a:pPr algn="r" fontAlgn="b"/>
                      <a:r>
                        <a:rPr lang="tr-TR" sz="1100" b="0" i="0" u="none" strike="noStrike" dirty="0">
                          <a:solidFill>
                            <a:schemeClr val="tx1"/>
                          </a:solidFill>
                          <a:effectLst/>
                          <a:latin typeface="Calibri" panose="020F0502020204030204" pitchFamily="34" charset="0"/>
                        </a:rPr>
                        <a:t>Lüle</a:t>
                      </a:r>
                      <a:r>
                        <a:rPr lang="tr-TR" sz="1100" b="0" i="0" u="none" strike="noStrike" baseline="0" dirty="0">
                          <a:solidFill>
                            <a:schemeClr val="tx1"/>
                          </a:solidFill>
                          <a:effectLst/>
                          <a:latin typeface="Calibri" panose="020F0502020204030204" pitchFamily="34" charset="0"/>
                        </a:rPr>
                        <a:t> Giriş </a:t>
                      </a:r>
                      <a:r>
                        <a:rPr lang="tr-TR" sz="1100" b="0" i="0" u="none" strike="noStrike" dirty="0">
                          <a:solidFill>
                            <a:schemeClr val="tx1"/>
                          </a:solidFill>
                          <a:effectLst/>
                          <a:latin typeface="Calibri" panose="020F0502020204030204" pitchFamily="34" charset="0"/>
                        </a:rPr>
                        <a:t>Basıncı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tr-TR" sz="800" b="0" i="0" u="none" strike="noStrike" dirty="0">
                        <a:solidFill>
                          <a:schemeClr val="tx1"/>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tr-TR" sz="800" b="0" i="0" u="none" strike="noStrike" dirty="0">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73863">
                <a:tc>
                  <a:txBody>
                    <a:bodyPr/>
                    <a:lstStyle/>
                    <a:p>
                      <a:pPr algn="r" fontAlgn="b"/>
                      <a:r>
                        <a:rPr lang="tr-TR" sz="1100" b="0" i="0" u="none" strike="noStrike" dirty="0">
                          <a:solidFill>
                            <a:schemeClr val="tx1"/>
                          </a:solidFill>
                          <a:effectLst/>
                          <a:latin typeface="Calibri" panose="020F0502020204030204" pitchFamily="34" charset="0"/>
                        </a:rPr>
                        <a:t>Toplam Kütlesel Debi :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tr-TR" sz="800" b="0" i="0" u="none" strike="noStrike" dirty="0">
                        <a:solidFill>
                          <a:schemeClr val="tx1"/>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tr-TR" sz="800" b="0" i="0" u="none" strike="noStrike" dirty="0">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104703000"/>
                  </a:ext>
                </a:extLst>
              </a:tr>
            </a:tbl>
          </a:graphicData>
        </a:graphic>
      </p:graphicFrame>
      <p:graphicFrame>
        <p:nvGraphicFramePr>
          <p:cNvPr id="19" name="Table 15">
            <a:extLst>
              <a:ext uri="{FF2B5EF4-FFF2-40B4-BE49-F238E27FC236}">
                <a16:creationId xmlns:a16="http://schemas.microsoft.com/office/drawing/2014/main" id="{8C98A235-3A93-42BF-BD35-0D5021EC35A4}"/>
              </a:ext>
            </a:extLst>
          </p:cNvPr>
          <p:cNvGraphicFramePr>
            <a:graphicFrameLocks noGrp="1"/>
          </p:cNvGraphicFramePr>
          <p:nvPr/>
        </p:nvGraphicFramePr>
        <p:xfrm>
          <a:off x="6612381" y="2342529"/>
          <a:ext cx="3802059" cy="678359"/>
        </p:xfrm>
        <a:graphic>
          <a:graphicData uri="http://schemas.openxmlformats.org/drawingml/2006/table">
            <a:tbl>
              <a:tblPr/>
              <a:tblGrid>
                <a:gridCol w="1070353">
                  <a:extLst>
                    <a:ext uri="{9D8B030D-6E8A-4147-A177-3AD203B41FA5}">
                      <a16:colId xmlns:a16="http://schemas.microsoft.com/office/drawing/2014/main" val="20000"/>
                    </a:ext>
                  </a:extLst>
                </a:gridCol>
                <a:gridCol w="1044055">
                  <a:extLst>
                    <a:ext uri="{9D8B030D-6E8A-4147-A177-3AD203B41FA5}">
                      <a16:colId xmlns:a16="http://schemas.microsoft.com/office/drawing/2014/main" val="20001"/>
                    </a:ext>
                  </a:extLst>
                </a:gridCol>
                <a:gridCol w="1687651">
                  <a:extLst>
                    <a:ext uri="{9D8B030D-6E8A-4147-A177-3AD203B41FA5}">
                      <a16:colId xmlns:a16="http://schemas.microsoft.com/office/drawing/2014/main" val="20002"/>
                    </a:ext>
                  </a:extLst>
                </a:gridCol>
              </a:tblGrid>
              <a:tr h="160401">
                <a:tc>
                  <a:txBody>
                    <a:bodyPr/>
                    <a:lstStyle/>
                    <a:p>
                      <a:pPr algn="ctr" fontAlgn="b"/>
                      <a:r>
                        <a:rPr lang="tr-TR" sz="1100" b="1" i="0" u="none" strike="noStrike" dirty="0">
                          <a:solidFill>
                            <a:schemeClr val="tx1"/>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tr-TR" sz="1100" b="1" i="0" u="none" strike="noStrike" dirty="0">
                          <a:solidFill>
                            <a:schemeClr val="tx1"/>
                          </a:solidFill>
                          <a:effectLst/>
                          <a:latin typeface="Calibri" panose="020F0502020204030204" pitchFamily="34" charset="0"/>
                        </a:rPr>
                        <a:t>Değer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tr-TR" sz="1100" b="1" i="0" u="none" strike="noStrike" dirty="0">
                          <a:solidFill>
                            <a:srgbClr val="000000"/>
                          </a:solidFill>
                          <a:effectLst/>
                          <a:latin typeface="Calibri" panose="020F0502020204030204" pitchFamily="34" charset="0"/>
                        </a:rPr>
                        <a:t>Yorum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0000"/>
                  </a:ext>
                </a:extLst>
              </a:tr>
              <a:tr h="175439">
                <a:tc>
                  <a:txBody>
                    <a:bodyPr/>
                    <a:lstStyle/>
                    <a:p>
                      <a:pPr algn="r" fontAlgn="b"/>
                      <a:r>
                        <a:rPr lang="tr-TR" sz="1100" b="0" i="0" u="none" strike="noStrike" dirty="0">
                          <a:solidFill>
                            <a:schemeClr val="tx1"/>
                          </a:solidFill>
                          <a:effectLst/>
                          <a:latin typeface="Calibri" panose="020F0502020204030204" pitchFamily="34" charset="0"/>
                        </a:rPr>
                        <a:t>En Yüksek Hız(m/s):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tr-TR" sz="800" b="0" i="0" u="none" strike="noStrike" dirty="0">
                          <a:solidFill>
                            <a:schemeClr val="tx1"/>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tr-TR" sz="900" b="0" i="0" u="none" strike="noStrike" dirty="0">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75439">
                <a:tc>
                  <a:txBody>
                    <a:bodyPr/>
                    <a:lstStyle/>
                    <a:p>
                      <a:pPr algn="r" fontAlgn="b"/>
                      <a:r>
                        <a:rPr lang="tr-TR" sz="1100" b="0" i="0" u="none" strike="noStrike" dirty="0">
                          <a:solidFill>
                            <a:schemeClr val="tx1"/>
                          </a:solidFill>
                          <a:effectLst/>
                          <a:latin typeface="Calibri" panose="020F0502020204030204" pitchFamily="34" charset="0"/>
                        </a:rPr>
                        <a:t>İrtifa(m):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tr-TR" sz="800" b="0" i="0" u="none" strike="noStrike" dirty="0">
                          <a:solidFill>
                            <a:schemeClr val="tx1"/>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tr-TR" sz="900" b="0" i="0" u="none" strike="noStrike" dirty="0">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27" name="Rectangle 11">
            <a:extLst>
              <a:ext uri="{FF2B5EF4-FFF2-40B4-BE49-F238E27FC236}">
                <a16:creationId xmlns:a16="http://schemas.microsoft.com/office/drawing/2014/main" id="{86B699EF-44E5-44A9-9DD6-14370BE9B16A}"/>
              </a:ext>
            </a:extLst>
          </p:cNvPr>
          <p:cNvSpPr/>
          <p:nvPr/>
        </p:nvSpPr>
        <p:spPr>
          <a:xfrm>
            <a:off x="6612382" y="1958556"/>
            <a:ext cx="3802061" cy="3614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550" dirty="0"/>
              <a:t>Tahmin Edilen Uçuş Verileri ve Analizleri</a:t>
            </a:r>
          </a:p>
        </p:txBody>
      </p:sp>
      <p:sp>
        <p:nvSpPr>
          <p:cNvPr id="28" name="Rectangle 19">
            <a:extLst>
              <a:ext uri="{FF2B5EF4-FFF2-40B4-BE49-F238E27FC236}">
                <a16:creationId xmlns:a16="http://schemas.microsoft.com/office/drawing/2014/main" id="{1CC4DD8E-51C1-4D50-AAF0-68016D3B5A2D}"/>
              </a:ext>
            </a:extLst>
          </p:cNvPr>
          <p:cNvSpPr/>
          <p:nvPr/>
        </p:nvSpPr>
        <p:spPr>
          <a:xfrm>
            <a:off x="138312" y="3885828"/>
            <a:ext cx="6005747" cy="3614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550" dirty="0"/>
              <a:t>Güdüm Kontrol Sistemi</a:t>
            </a:r>
          </a:p>
        </p:txBody>
      </p:sp>
      <p:graphicFrame>
        <p:nvGraphicFramePr>
          <p:cNvPr id="29" name="Table 14">
            <a:extLst>
              <a:ext uri="{FF2B5EF4-FFF2-40B4-BE49-F238E27FC236}">
                <a16:creationId xmlns:a16="http://schemas.microsoft.com/office/drawing/2014/main" id="{417231ED-866A-4733-8E79-80BCA63283B4}"/>
              </a:ext>
            </a:extLst>
          </p:cNvPr>
          <p:cNvGraphicFramePr>
            <a:graphicFrameLocks noGrp="1"/>
          </p:cNvGraphicFramePr>
          <p:nvPr/>
        </p:nvGraphicFramePr>
        <p:xfrm>
          <a:off x="138312" y="4256396"/>
          <a:ext cx="6005748" cy="1911824"/>
        </p:xfrm>
        <a:graphic>
          <a:graphicData uri="http://schemas.openxmlformats.org/drawingml/2006/table">
            <a:tbl>
              <a:tblPr/>
              <a:tblGrid>
                <a:gridCol w="1683902">
                  <a:extLst>
                    <a:ext uri="{9D8B030D-6E8A-4147-A177-3AD203B41FA5}">
                      <a16:colId xmlns:a16="http://schemas.microsoft.com/office/drawing/2014/main" val="20000"/>
                    </a:ext>
                  </a:extLst>
                </a:gridCol>
                <a:gridCol w="2058250">
                  <a:extLst>
                    <a:ext uri="{9D8B030D-6E8A-4147-A177-3AD203B41FA5}">
                      <a16:colId xmlns:a16="http://schemas.microsoft.com/office/drawing/2014/main" val="20001"/>
                    </a:ext>
                  </a:extLst>
                </a:gridCol>
                <a:gridCol w="2263596">
                  <a:extLst>
                    <a:ext uri="{9D8B030D-6E8A-4147-A177-3AD203B41FA5}">
                      <a16:colId xmlns:a16="http://schemas.microsoft.com/office/drawing/2014/main" val="20002"/>
                    </a:ext>
                  </a:extLst>
                </a:gridCol>
              </a:tblGrid>
              <a:tr h="211294">
                <a:tc>
                  <a:txBody>
                    <a:bodyPr/>
                    <a:lstStyle/>
                    <a:p>
                      <a:pPr algn="ctr" fontAlgn="b"/>
                      <a:r>
                        <a:rPr lang="tr-TR" sz="1100" b="1" i="0" u="none" strike="noStrike" dirty="0">
                          <a:solidFill>
                            <a:schemeClr val="tx1"/>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tr-TR" sz="1100" b="1" i="0" u="none" strike="noStrike" dirty="0">
                          <a:solidFill>
                            <a:schemeClr val="tx1"/>
                          </a:solidFill>
                          <a:effectLst/>
                          <a:latin typeface="Calibri" panose="020F0502020204030204" pitchFamily="34" charset="0"/>
                        </a:rPr>
                        <a:t>Değer/Tanım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tr-TR" sz="1100" b="1" i="0" u="none" strike="noStrike" dirty="0">
                          <a:solidFill>
                            <a:srgbClr val="000000"/>
                          </a:solidFill>
                          <a:effectLst/>
                          <a:latin typeface="Calibri" panose="020F0502020204030204" pitchFamily="34" charset="0"/>
                        </a:rPr>
                        <a:t>Yorum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0000"/>
                  </a:ext>
                </a:extLst>
              </a:tr>
              <a:tr h="560033">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tr-TR" sz="1100" b="0" i="0" u="none" strike="noStrike" dirty="0">
                          <a:solidFill>
                            <a:schemeClr val="tx1"/>
                          </a:solidFill>
                          <a:effectLst/>
                          <a:latin typeface="Calibri" panose="020F0502020204030204" pitchFamily="34" charset="0"/>
                        </a:rPr>
                        <a:t>Ağırlık Merkezi (</a:t>
                      </a:r>
                      <a:r>
                        <a:rPr lang="tr-TR" sz="1100" b="0" i="0" u="none" strike="noStrike" dirty="0" err="1">
                          <a:solidFill>
                            <a:schemeClr val="tx1"/>
                          </a:solidFill>
                          <a:effectLst/>
                          <a:latin typeface="Calibri" panose="020F0502020204030204" pitchFamily="34" charset="0"/>
                        </a:rPr>
                        <a:t>Cg</a:t>
                      </a:r>
                      <a:r>
                        <a:rPr lang="tr-TR" sz="1100" b="0" i="0" u="none" strike="noStrike" dirty="0">
                          <a:solidFill>
                            <a:schemeClr val="tx1"/>
                          </a:solidFill>
                          <a:effectLst/>
                          <a:latin typeface="Calibri" panose="020F0502020204030204" pitchFamily="34" charset="0"/>
                        </a:rPr>
                        <a:t>) etrafındaki Moment Vektörü:</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tr-TR" sz="800" b="0" i="0" u="none" strike="noStrike" dirty="0">
                        <a:solidFill>
                          <a:schemeClr val="tx1"/>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tr-TR"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120750650"/>
                  </a:ext>
                </a:extLst>
              </a:tr>
              <a:tr h="291301">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tr-TR" sz="1100" b="0" i="0" u="none" strike="noStrike" dirty="0">
                        <a:solidFill>
                          <a:schemeClr val="tx1"/>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marL="0" algn="ctr" defTabSz="914400" rtl="0" eaLnBrk="1" fontAlgn="b" latinLnBrk="0" hangingPunct="1"/>
                      <a:r>
                        <a:rPr lang="tr-TR" sz="1100" b="1" i="0" u="none" strike="noStrike" kern="1200" dirty="0">
                          <a:solidFill>
                            <a:schemeClr val="tx1"/>
                          </a:solidFill>
                          <a:effectLst/>
                          <a:latin typeface="Calibri" panose="020F0502020204030204" pitchFamily="34" charset="0"/>
                          <a:ea typeface="+mn-ea"/>
                          <a:cs typeface="+mn-cs"/>
                        </a:rPr>
                        <a:t>Yöntemin Adı</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marL="0" algn="ctr" defTabSz="914400" rtl="0" eaLnBrk="1" fontAlgn="b" latinLnBrk="0" hangingPunct="1"/>
                      <a:r>
                        <a:rPr lang="tr-TR" sz="1100" b="1" i="0" u="none" strike="noStrike" kern="1200" dirty="0">
                          <a:solidFill>
                            <a:schemeClr val="tx1"/>
                          </a:solidFill>
                          <a:effectLst/>
                          <a:latin typeface="Calibri" panose="020F0502020204030204" pitchFamily="34" charset="0"/>
                          <a:ea typeface="+mn-ea"/>
                          <a:cs typeface="+mn-cs"/>
                        </a:rPr>
                        <a:t>Bileşenleri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269377525"/>
                  </a:ext>
                </a:extLst>
              </a:tr>
              <a:tr h="46283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tr-TR" sz="1100" b="0" i="0" u="none" strike="noStrike" dirty="0">
                          <a:solidFill>
                            <a:schemeClr val="tx1"/>
                          </a:solidFill>
                          <a:effectLst/>
                          <a:latin typeface="Calibri" panose="020F0502020204030204" pitchFamily="34" charset="0"/>
                        </a:rPr>
                        <a:t>İtki Sistemi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171450" indent="-171450" algn="l" fontAlgn="b">
                        <a:buFont typeface="Wingdings" panose="05000000000000000000" pitchFamily="2" charset="2"/>
                        <a:buChar char="o"/>
                      </a:pPr>
                      <a:r>
                        <a:rPr lang="tr-TR" sz="900" b="0" i="0" u="none" strike="noStrike" dirty="0">
                          <a:solidFill>
                            <a:schemeClr val="tx1"/>
                          </a:solidFill>
                          <a:effectLst/>
                          <a:latin typeface="Calibri" panose="020F0502020204030204" pitchFamily="34" charset="0"/>
                          <a:sym typeface="Wingdings" panose="05000000000000000000" pitchFamily="2" charset="2"/>
                        </a:rPr>
                        <a:t>İtiş </a:t>
                      </a:r>
                      <a:r>
                        <a:rPr lang="tr-TR" sz="900" b="0" i="0" u="none" strike="noStrike" dirty="0" err="1">
                          <a:solidFill>
                            <a:schemeClr val="tx1"/>
                          </a:solidFill>
                          <a:effectLst/>
                          <a:latin typeface="Calibri" panose="020F0502020204030204" pitchFamily="34" charset="0"/>
                          <a:sym typeface="Wingdings" panose="05000000000000000000" pitchFamily="2" charset="2"/>
                        </a:rPr>
                        <a:t>Vektörlemesi</a:t>
                      </a:r>
                      <a:endParaRPr lang="tr-TR" sz="900" b="0" i="0" u="none" strike="noStrike" dirty="0">
                        <a:solidFill>
                          <a:schemeClr val="tx1"/>
                        </a:solidFill>
                        <a:effectLst/>
                        <a:latin typeface="Calibri" panose="020F0502020204030204" pitchFamily="34" charset="0"/>
                        <a:sym typeface="Wingdings" panose="05000000000000000000" pitchFamily="2" charset="2"/>
                      </a:endParaRPr>
                    </a:p>
                    <a:p>
                      <a:pPr marL="171450" indent="-171450" algn="l" fontAlgn="b">
                        <a:buFont typeface="Wingdings" panose="05000000000000000000" pitchFamily="2" charset="2"/>
                        <a:buChar char="o"/>
                      </a:pPr>
                      <a:r>
                        <a:rPr lang="tr-TR" sz="900" b="0" i="0" u="none" strike="noStrike" dirty="0">
                          <a:solidFill>
                            <a:schemeClr val="tx1"/>
                          </a:solidFill>
                          <a:effectLst/>
                          <a:latin typeface="Calibri" panose="020F0502020204030204" pitchFamily="34" charset="0"/>
                          <a:sym typeface="Wingdings" panose="05000000000000000000" pitchFamily="2" charset="2"/>
                        </a:rPr>
                        <a:t>Sabit Lüle</a:t>
                      </a:r>
                    </a:p>
                    <a:p>
                      <a:pPr marL="171450" indent="-171450" algn="l" fontAlgn="b">
                        <a:buFont typeface="Wingdings" panose="05000000000000000000" pitchFamily="2" charset="2"/>
                        <a:buChar char="o"/>
                      </a:pPr>
                      <a:r>
                        <a:rPr lang="tr-TR" sz="900" b="0" i="0" u="none" strike="noStrike" dirty="0">
                          <a:solidFill>
                            <a:schemeClr val="tx1"/>
                          </a:solidFill>
                          <a:effectLst/>
                          <a:latin typeface="Calibri" panose="020F0502020204030204" pitchFamily="34" charset="0"/>
                          <a:sym typeface="Wingdings" panose="05000000000000000000" pitchFamily="2" charset="2"/>
                        </a:rPr>
                        <a:t>Diğer (Açıklayınız)</a:t>
                      </a:r>
                      <a:endParaRPr lang="tr-TR" sz="900" b="0" i="0" u="none" strike="noStrike" dirty="0">
                        <a:solidFill>
                          <a:schemeClr val="tx1"/>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tr-TR"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420516621"/>
                  </a:ext>
                </a:extLst>
              </a:tr>
              <a:tr h="386366">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tr-TR" sz="1100" b="0" i="0" u="none" strike="noStrike" dirty="0">
                          <a:solidFill>
                            <a:schemeClr val="tx1"/>
                          </a:solidFill>
                          <a:effectLst/>
                          <a:latin typeface="Calibri" panose="020F0502020204030204" pitchFamily="34" charset="0"/>
                        </a:rPr>
                        <a:t>Reaksiyon Kontrol Sistemi (Varsa)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tr-TR" sz="800" b="0" i="0" u="none" strike="noStrike" dirty="0">
                        <a:solidFill>
                          <a:schemeClr val="tx1"/>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tr-TR"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152525331"/>
                  </a:ext>
                </a:extLst>
              </a:tr>
            </a:tbl>
          </a:graphicData>
        </a:graphic>
      </p:graphicFrame>
      <p:sp>
        <p:nvSpPr>
          <p:cNvPr id="7" name="TextBox 6">
            <a:extLst>
              <a:ext uri="{FF2B5EF4-FFF2-40B4-BE49-F238E27FC236}">
                <a16:creationId xmlns:a16="http://schemas.microsoft.com/office/drawing/2014/main" id="{3541BF68-3742-B136-CC32-E655568EC151}"/>
              </a:ext>
            </a:extLst>
          </p:cNvPr>
          <p:cNvSpPr txBox="1"/>
          <p:nvPr/>
        </p:nvSpPr>
        <p:spPr>
          <a:xfrm>
            <a:off x="6357" y="544652"/>
            <a:ext cx="1027922" cy="569387"/>
          </a:xfrm>
          <a:prstGeom prst="rect">
            <a:avLst/>
          </a:prstGeom>
          <a:noFill/>
          <a:ln>
            <a:solidFill>
              <a:schemeClr val="tx1"/>
            </a:solidFill>
          </a:ln>
        </p:spPr>
        <p:txBody>
          <a:bodyPr wrap="square" rtlCol="0">
            <a:spAutoFit/>
          </a:bodyPr>
          <a:lstStyle/>
          <a:p>
            <a:pPr algn="ctr"/>
            <a:r>
              <a:rPr lang="tr-TR" sz="1550" dirty="0">
                <a:latin typeface="+mn-lt"/>
              </a:rPr>
              <a:t>Takım Logosu</a:t>
            </a:r>
          </a:p>
        </p:txBody>
      </p:sp>
    </p:spTree>
    <p:extLst>
      <p:ext uri="{BB962C8B-B14F-4D97-AF65-F5344CB8AC3E}">
        <p14:creationId xmlns:p14="http://schemas.microsoft.com/office/powerpoint/2010/main" val="2797570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flipV="1">
            <a:off x="0" y="1352684"/>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78851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9724145" y="6979608"/>
            <a:ext cx="201986" cy="161290"/>
          </a:xfrm>
        </p:spPr>
        <p:txBody>
          <a:bodyPr/>
          <a:lstStyle/>
          <a:p>
            <a:fld id="{87BEDC82-49FF-42E3-B7EA-26FF728940D5}" type="slidenum">
              <a:rPr lang="tr-TR" smtClean="0"/>
              <a:t>6</a:t>
            </a:fld>
            <a:endParaRPr lang="tr-TR"/>
          </a:p>
        </p:txBody>
      </p:sp>
      <p:sp>
        <p:nvSpPr>
          <p:cNvPr id="4" name="Date Placeholder 3"/>
          <p:cNvSpPr>
            <a:spLocks noGrp="1"/>
          </p:cNvSpPr>
          <p:nvPr>
            <p:ph type="dt" sz="half" idx="10"/>
          </p:nvPr>
        </p:nvSpPr>
        <p:spPr>
          <a:xfrm>
            <a:off x="802650" y="6979608"/>
            <a:ext cx="1321036" cy="161616"/>
          </a:xfrm>
        </p:spPr>
        <p:txBody>
          <a:bodyPr/>
          <a:lstStyle/>
          <a:p>
            <a:fld id="{DC7142F4-940C-4A27-99BA-D2905BD7F5D3}" type="datetime2">
              <a:rPr lang="tr-TR" smtClean="0"/>
              <a:t>3 Temmuz 2026 Cuma</a:t>
            </a:fld>
            <a:endParaRPr lang="tr-TR"/>
          </a:p>
        </p:txBody>
      </p:sp>
      <p:pic>
        <p:nvPicPr>
          <p:cNvPr id="11"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276225"/>
            <a:ext cx="1063165" cy="1063165"/>
          </a:xfrm>
          <a:prstGeom prst="rect">
            <a:avLst/>
          </a:prstGeom>
        </p:spPr>
      </p:pic>
      <p:sp>
        <p:nvSpPr>
          <p:cNvPr id="12" name="Footer Placeholder 8"/>
          <p:cNvSpPr>
            <a:spLocks noGrp="1"/>
          </p:cNvSpPr>
          <p:nvPr>
            <p:ph type="ftr" sz="quarter" idx="11"/>
          </p:nvPr>
        </p:nvSpPr>
        <p:spPr>
          <a:xfrm>
            <a:off x="3542189" y="6890180"/>
            <a:ext cx="3609023" cy="320245"/>
          </a:xfrm>
        </p:spPr>
        <p:txBody>
          <a:bodyPr/>
          <a:lstStyle/>
          <a:p>
            <a:pPr algn="ctr"/>
            <a:r>
              <a:rPr lang="tr-TR" dirty="0"/>
              <a:t>2026 TEKNOFEST DİKEY İNİŞLİ ROKET YARIŞMASI</a:t>
            </a:r>
          </a:p>
          <a:p>
            <a:pPr algn="ctr"/>
            <a:r>
              <a:rPr lang="tr-TR" dirty="0"/>
              <a:t>ATIŞA HAZIRLIK RAPORU (AHR)</a:t>
            </a:r>
          </a:p>
        </p:txBody>
      </p:sp>
      <p:sp>
        <p:nvSpPr>
          <p:cNvPr id="13" name="TextBox 9"/>
          <p:cNvSpPr txBox="1"/>
          <p:nvPr/>
        </p:nvSpPr>
        <p:spPr>
          <a:xfrm>
            <a:off x="433008" y="2078219"/>
            <a:ext cx="9827385" cy="569387"/>
          </a:xfrm>
          <a:prstGeom prst="rect">
            <a:avLst/>
          </a:prstGeom>
          <a:noFill/>
        </p:spPr>
        <p:txBody>
          <a:bodyPr wrap="square" rtlCol="0">
            <a:spAutoFit/>
          </a:bodyPr>
          <a:lstStyle/>
          <a:p>
            <a:pPr marL="250631" indent="-250631" algn="just">
              <a:buFont typeface="Arial" panose="020B0604020202020204" pitchFamily="34" charset="0"/>
              <a:buChar char="•"/>
            </a:pPr>
            <a:r>
              <a:rPr lang="tr-TR" sz="1550" dirty="0">
                <a:latin typeface="+mn-lt"/>
              </a:rPr>
              <a:t>Bu bölümde, </a:t>
            </a:r>
            <a:r>
              <a:rPr lang="tr-TR" sz="1550" b="1" u="sng" dirty="0">
                <a:latin typeface="+mn-lt"/>
              </a:rPr>
              <a:t>üretimi yapılan </a:t>
            </a:r>
            <a:r>
              <a:rPr lang="tr-TR" sz="1550" dirty="0">
                <a:latin typeface="+mn-lt"/>
              </a:rPr>
              <a:t>yarışma roketinin genel görünümünü veren fotoğraflar eklenmelidir.</a:t>
            </a:r>
          </a:p>
          <a:p>
            <a:pPr marL="250631" indent="-250631" algn="just">
              <a:buFont typeface="Arial" panose="020B0604020202020204" pitchFamily="34" charset="0"/>
              <a:buChar char="•"/>
            </a:pPr>
            <a:r>
              <a:rPr lang="tr-TR" sz="1550" dirty="0">
                <a:latin typeface="+mn-lt"/>
              </a:rPr>
              <a:t>Roket sistemini oluşturan ana ünite/modüller fotoğraf üzerinde gösterilmelidir.</a:t>
            </a:r>
          </a:p>
        </p:txBody>
      </p:sp>
      <p:sp>
        <p:nvSpPr>
          <p:cNvPr id="7" name="Title 1">
            <a:extLst>
              <a:ext uri="{FF2B5EF4-FFF2-40B4-BE49-F238E27FC236}">
                <a16:creationId xmlns:a16="http://schemas.microsoft.com/office/drawing/2014/main" id="{EEB57B39-13F5-2B18-1B97-C9E07D64FA70}"/>
              </a:ext>
            </a:extLst>
          </p:cNvPr>
          <p:cNvSpPr txBox="1">
            <a:spLocks/>
          </p:cNvSpPr>
          <p:nvPr/>
        </p:nvSpPr>
        <p:spPr>
          <a:xfrm>
            <a:off x="1435745" y="381162"/>
            <a:ext cx="8020050" cy="857583"/>
          </a:xfrm>
          <a:prstGeom prst="rect">
            <a:avLst/>
          </a:prstGeom>
          <a:ln>
            <a:noFill/>
          </a:ln>
        </p:spPr>
        <p:txBody>
          <a:bodyPr vert="horz" lIns="80201" tIns="40100" rIns="80201" bIns="4010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3950" b="1" dirty="0">
                <a:solidFill>
                  <a:srgbClr val="0070C0"/>
                </a:solidFill>
                <a:latin typeface="+mn-lt"/>
                <a:cs typeface="Times New Roman" panose="02020603050405020304" pitchFamily="18" charset="0"/>
              </a:rPr>
              <a:t>Yarışma Roketi Genel Görünümü</a:t>
            </a:r>
          </a:p>
        </p:txBody>
      </p:sp>
      <p:sp>
        <p:nvSpPr>
          <p:cNvPr id="2" name="TextBox 1">
            <a:extLst>
              <a:ext uri="{FF2B5EF4-FFF2-40B4-BE49-F238E27FC236}">
                <a16:creationId xmlns:a16="http://schemas.microsoft.com/office/drawing/2014/main" id="{598DC122-661A-13AE-8A5C-734DB42150C3}"/>
              </a:ext>
            </a:extLst>
          </p:cNvPr>
          <p:cNvSpPr txBox="1"/>
          <p:nvPr/>
        </p:nvSpPr>
        <p:spPr>
          <a:xfrm>
            <a:off x="6357" y="544652"/>
            <a:ext cx="1027922" cy="569387"/>
          </a:xfrm>
          <a:prstGeom prst="rect">
            <a:avLst/>
          </a:prstGeom>
          <a:noFill/>
          <a:ln>
            <a:solidFill>
              <a:schemeClr val="tx1"/>
            </a:solidFill>
          </a:ln>
        </p:spPr>
        <p:txBody>
          <a:bodyPr wrap="square" rtlCol="0">
            <a:spAutoFit/>
          </a:bodyPr>
          <a:lstStyle/>
          <a:p>
            <a:pPr algn="ctr"/>
            <a:r>
              <a:rPr lang="tr-TR" sz="1550" dirty="0">
                <a:latin typeface="+mn-lt"/>
              </a:rPr>
              <a:t>Takım Logosu</a:t>
            </a:r>
          </a:p>
        </p:txBody>
      </p:sp>
    </p:spTree>
    <p:extLst>
      <p:ext uri="{BB962C8B-B14F-4D97-AF65-F5344CB8AC3E}">
        <p14:creationId xmlns:p14="http://schemas.microsoft.com/office/powerpoint/2010/main" val="15190133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flipV="1">
            <a:off x="0" y="1352684"/>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78851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9724145" y="6979608"/>
            <a:ext cx="201986" cy="161290"/>
          </a:xfrm>
        </p:spPr>
        <p:txBody>
          <a:bodyPr/>
          <a:lstStyle/>
          <a:p>
            <a:fld id="{87BEDC82-49FF-42E3-B7EA-26FF728940D5}" type="slidenum">
              <a:rPr lang="tr-TR" smtClean="0"/>
              <a:t>7</a:t>
            </a:fld>
            <a:endParaRPr lang="tr-TR" dirty="0"/>
          </a:p>
        </p:txBody>
      </p:sp>
      <p:sp>
        <p:nvSpPr>
          <p:cNvPr id="4" name="Date Placeholder 3"/>
          <p:cNvSpPr>
            <a:spLocks noGrp="1"/>
          </p:cNvSpPr>
          <p:nvPr>
            <p:ph type="dt" sz="half" idx="10"/>
          </p:nvPr>
        </p:nvSpPr>
        <p:spPr>
          <a:xfrm>
            <a:off x="802650" y="6979608"/>
            <a:ext cx="1321036" cy="161616"/>
          </a:xfrm>
        </p:spPr>
        <p:txBody>
          <a:bodyPr/>
          <a:lstStyle/>
          <a:p>
            <a:fld id="{C99613F8-C3F3-4C84-894A-2786E7BA87E0}" type="datetime2">
              <a:rPr lang="tr-TR" smtClean="0"/>
              <a:t>3 Temmuz 2026 Cuma</a:t>
            </a:fld>
            <a:endParaRPr lang="tr-TR"/>
          </a:p>
        </p:txBody>
      </p:sp>
      <p:sp>
        <p:nvSpPr>
          <p:cNvPr id="10" name="TextBox 9"/>
          <p:cNvSpPr txBox="1"/>
          <p:nvPr/>
        </p:nvSpPr>
        <p:spPr>
          <a:xfrm>
            <a:off x="166280" y="1999784"/>
            <a:ext cx="10157515" cy="1762021"/>
          </a:xfrm>
          <a:prstGeom prst="rect">
            <a:avLst/>
          </a:prstGeom>
          <a:noFill/>
        </p:spPr>
        <p:txBody>
          <a:bodyPr wrap="square" rtlCol="0">
            <a:spAutoFit/>
          </a:bodyPr>
          <a:lstStyle/>
          <a:p>
            <a:pPr marL="250631" indent="-250631" algn="just">
              <a:buFont typeface="Arial" panose="020B0604020202020204" pitchFamily="34" charset="0"/>
              <a:buChar char="•"/>
            </a:pPr>
            <a:r>
              <a:rPr lang="tr-TR" sz="1550" dirty="0">
                <a:latin typeface="+mn-lt"/>
              </a:rPr>
              <a:t>Roket tasarımının görseli ekran görüntüsü olarak sunulmalıdır.</a:t>
            </a:r>
          </a:p>
          <a:p>
            <a:pPr algn="just"/>
            <a:endParaRPr lang="tr-TR" sz="1550" dirty="0">
              <a:latin typeface="+mn-lt"/>
            </a:endParaRPr>
          </a:p>
          <a:p>
            <a:pPr marL="250631" indent="-250631" algn="just">
              <a:buFont typeface="Arial" panose="020B0604020202020204" pitchFamily="34" charset="0"/>
              <a:buChar char="•"/>
            </a:pPr>
            <a:r>
              <a:rPr lang="tr-TR" sz="1550" dirty="0">
                <a:latin typeface="+mn-lt"/>
              </a:rPr>
              <a:t>Üretilen roketin fotoğrafı paylaşılmalıdır.</a:t>
            </a:r>
          </a:p>
          <a:p>
            <a:pPr marL="250631" indent="-250631" algn="just">
              <a:buFont typeface="Arial" panose="020B0604020202020204" pitchFamily="34" charset="0"/>
              <a:buChar char="•"/>
            </a:pPr>
            <a:endParaRPr lang="tr-TR" sz="1550" dirty="0">
              <a:latin typeface="+mn-lt"/>
            </a:endParaRPr>
          </a:p>
          <a:p>
            <a:pPr marL="250631" indent="-250631" algn="just">
              <a:buFont typeface="Arial" panose="020B0604020202020204" pitchFamily="34" charset="0"/>
              <a:buChar char="•"/>
            </a:pPr>
            <a:r>
              <a:rPr lang="tr-TR" sz="1550" dirty="0">
                <a:latin typeface="+mn-lt"/>
              </a:rPr>
              <a:t>Fiziksel ölçüler görsel üzerinde verilmelidir. </a:t>
            </a:r>
          </a:p>
          <a:p>
            <a:pPr algn="just"/>
            <a:endParaRPr lang="tr-TR" sz="1550" dirty="0">
              <a:latin typeface="+mn-lt"/>
            </a:endParaRPr>
          </a:p>
          <a:p>
            <a:pPr marL="250631" indent="-250631" algn="just">
              <a:buFont typeface="Arial" panose="020B0604020202020204" pitchFamily="34" charset="0"/>
              <a:buChar char="•"/>
            </a:pPr>
            <a:r>
              <a:rPr lang="tr-TR" sz="1550" dirty="0">
                <a:latin typeface="+mn-lt"/>
              </a:rPr>
              <a:t>Bu bölüm 2 yansıyı geçmemelidir. Roketin </a:t>
            </a:r>
            <a:r>
              <a:rPr lang="tr-TR" sz="1550" u="sng" dirty="0">
                <a:latin typeface="+mn-lt"/>
              </a:rPr>
              <a:t>en güncel durumunu yansıtmalıdır. </a:t>
            </a:r>
          </a:p>
        </p:txBody>
      </p:sp>
      <p:pic>
        <p:nvPicPr>
          <p:cNvPr id="12"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276225"/>
            <a:ext cx="1063165" cy="1063165"/>
          </a:xfrm>
          <a:prstGeom prst="rect">
            <a:avLst/>
          </a:prstGeom>
        </p:spPr>
      </p:pic>
      <p:sp>
        <p:nvSpPr>
          <p:cNvPr id="16" name="Title 1"/>
          <p:cNvSpPr txBox="1">
            <a:spLocks/>
          </p:cNvSpPr>
          <p:nvPr/>
        </p:nvSpPr>
        <p:spPr>
          <a:xfrm>
            <a:off x="1235012" y="494808"/>
            <a:ext cx="8020050" cy="658651"/>
          </a:xfrm>
          <a:prstGeom prst="rect">
            <a:avLst/>
          </a:prstGeom>
        </p:spPr>
        <p:txBody>
          <a:bodyPr vert="horz" lIns="80201" tIns="40100" rIns="80201" bIns="4010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3950" b="1" dirty="0">
                <a:solidFill>
                  <a:srgbClr val="0070C0"/>
                </a:solidFill>
                <a:latin typeface="+mn-lt"/>
                <a:cs typeface="Times New Roman" panose="02020603050405020304" pitchFamily="18" charset="0"/>
              </a:rPr>
              <a:t>Genel Tasarım</a:t>
            </a:r>
          </a:p>
        </p:txBody>
      </p:sp>
      <p:sp>
        <p:nvSpPr>
          <p:cNvPr id="17" name="Footer Placeholder 8">
            <a:extLst>
              <a:ext uri="{FF2B5EF4-FFF2-40B4-BE49-F238E27FC236}">
                <a16:creationId xmlns:a16="http://schemas.microsoft.com/office/drawing/2014/main" id="{128B0FF0-5360-4057-8FC3-6526251E69EB}"/>
              </a:ext>
            </a:extLst>
          </p:cNvPr>
          <p:cNvSpPr>
            <a:spLocks noGrp="1"/>
          </p:cNvSpPr>
          <p:nvPr>
            <p:ph type="ftr" sz="quarter" idx="11"/>
          </p:nvPr>
        </p:nvSpPr>
        <p:spPr>
          <a:xfrm>
            <a:off x="3542189" y="6890180"/>
            <a:ext cx="3609023" cy="320245"/>
          </a:xfrm>
        </p:spPr>
        <p:txBody>
          <a:bodyPr/>
          <a:lstStyle/>
          <a:p>
            <a:pPr algn="ctr"/>
            <a:r>
              <a:rPr lang="tr-TR" dirty="0"/>
              <a:t>2026 TEKNOFEST DİKEY İNİŞLİ ROKET YARIŞMASI</a:t>
            </a:r>
          </a:p>
          <a:p>
            <a:pPr algn="ctr"/>
            <a:r>
              <a:rPr lang="tr-TR" dirty="0"/>
              <a:t>ATIŞA HAZIRLIK RAPORU (AHR)</a:t>
            </a:r>
          </a:p>
        </p:txBody>
      </p:sp>
      <p:pic>
        <p:nvPicPr>
          <p:cNvPr id="13" name="Picture 6">
            <a:extLst>
              <a:ext uri="{FF2B5EF4-FFF2-40B4-BE49-F238E27FC236}">
                <a16:creationId xmlns:a16="http://schemas.microsoft.com/office/drawing/2014/main" id="{1F8B54C9-937A-453E-9280-6782AB34A7DE}"/>
              </a:ext>
            </a:extLst>
          </p:cNvPr>
          <p:cNvPicPr>
            <a:picLocks noChangeAspect="1"/>
          </p:cNvPicPr>
          <p:nvPr/>
        </p:nvPicPr>
        <p:blipFill>
          <a:blip r:embed="rId4"/>
          <a:stretch>
            <a:fillRect/>
          </a:stretch>
        </p:blipFill>
        <p:spPr>
          <a:xfrm rot="2713484">
            <a:off x="2933166" y="4097664"/>
            <a:ext cx="1874517" cy="1709559"/>
          </a:xfrm>
          <a:prstGeom prst="rect">
            <a:avLst/>
          </a:prstGeom>
        </p:spPr>
      </p:pic>
      <p:pic>
        <p:nvPicPr>
          <p:cNvPr id="18" name="Picture 8">
            <a:extLst>
              <a:ext uri="{FF2B5EF4-FFF2-40B4-BE49-F238E27FC236}">
                <a16:creationId xmlns:a16="http://schemas.microsoft.com/office/drawing/2014/main" id="{17CA7925-94CD-4F93-BE61-38F1766E828B}"/>
              </a:ext>
            </a:extLst>
          </p:cNvPr>
          <p:cNvPicPr>
            <a:picLocks noChangeAspect="1"/>
          </p:cNvPicPr>
          <p:nvPr/>
        </p:nvPicPr>
        <p:blipFill>
          <a:blip r:embed="rId5"/>
          <a:stretch>
            <a:fillRect/>
          </a:stretch>
        </p:blipFill>
        <p:spPr>
          <a:xfrm>
            <a:off x="5981502" y="4010928"/>
            <a:ext cx="1107129" cy="1968230"/>
          </a:xfrm>
          <a:prstGeom prst="rect">
            <a:avLst/>
          </a:prstGeom>
        </p:spPr>
      </p:pic>
      <p:sp>
        <p:nvSpPr>
          <p:cNvPr id="19" name="Metin kutusu 8">
            <a:extLst>
              <a:ext uri="{FF2B5EF4-FFF2-40B4-BE49-F238E27FC236}">
                <a16:creationId xmlns:a16="http://schemas.microsoft.com/office/drawing/2014/main" id="{B8D5EF7A-EE75-4250-8FD4-A4C61E66D7D6}"/>
              </a:ext>
            </a:extLst>
          </p:cNvPr>
          <p:cNvSpPr txBox="1"/>
          <p:nvPr/>
        </p:nvSpPr>
        <p:spPr>
          <a:xfrm rot="20856548">
            <a:off x="5717688" y="4599185"/>
            <a:ext cx="1634756" cy="902042"/>
          </a:xfrm>
          <a:prstGeom prst="rect">
            <a:avLst/>
          </a:prstGeom>
          <a:noFill/>
        </p:spPr>
        <p:txBody>
          <a:bodyPr wrap="square" rtlCol="0">
            <a:spAutoFit/>
          </a:bodyPr>
          <a:lstStyle/>
          <a:p>
            <a:r>
              <a:rPr lang="tr-TR" sz="2631" b="1" dirty="0">
                <a:solidFill>
                  <a:srgbClr val="FF0000"/>
                </a:solidFill>
              </a:rPr>
              <a:t>ÖRNEKTİR</a:t>
            </a:r>
          </a:p>
        </p:txBody>
      </p:sp>
      <p:sp>
        <p:nvSpPr>
          <p:cNvPr id="15" name="Rectangle 13">
            <a:extLst>
              <a:ext uri="{FF2B5EF4-FFF2-40B4-BE49-F238E27FC236}">
                <a16:creationId xmlns:a16="http://schemas.microsoft.com/office/drawing/2014/main" id="{5208B2C9-B060-4C71-AADC-E037A84529F0}"/>
              </a:ext>
            </a:extLst>
          </p:cNvPr>
          <p:cNvSpPr/>
          <p:nvPr/>
        </p:nvSpPr>
        <p:spPr>
          <a:xfrm>
            <a:off x="6358" y="6524625"/>
            <a:ext cx="8908987" cy="276999"/>
          </a:xfrm>
          <a:prstGeom prst="rect">
            <a:avLst/>
          </a:prstGeom>
        </p:spPr>
        <p:txBody>
          <a:bodyPr wrap="square">
            <a:spAutoFit/>
          </a:bodyPr>
          <a:lstStyle/>
          <a:p>
            <a:pPr marL="171450" indent="-171450">
              <a:buFont typeface="Arial" panose="020B0604020202020204" pitchFamily="34" charset="0"/>
              <a:buChar char="•"/>
            </a:pPr>
            <a:r>
              <a:rPr lang="tr-TR" sz="1200" i="1" dirty="0">
                <a:latin typeface="+mn-lt"/>
              </a:rPr>
              <a:t>Bu bölümde şartnamede yer alan </a:t>
            </a:r>
            <a:r>
              <a:rPr lang="tr-TR" sz="1200" b="1" i="1" dirty="0">
                <a:latin typeface="+mn-lt"/>
              </a:rPr>
              <a:t>4.3.1, 4.3.2, 4.3.3, 4.3.5 ve 4.3.7 </a:t>
            </a:r>
            <a:r>
              <a:rPr lang="tr-TR" sz="1200" i="1" dirty="0">
                <a:latin typeface="+mn-lt"/>
              </a:rPr>
              <a:t>numaralı gereksinimlerin karşılanıp karşılanmadığı kontrol edilecektir.</a:t>
            </a:r>
          </a:p>
        </p:txBody>
      </p:sp>
      <p:sp>
        <p:nvSpPr>
          <p:cNvPr id="2" name="TextBox 1">
            <a:extLst>
              <a:ext uri="{FF2B5EF4-FFF2-40B4-BE49-F238E27FC236}">
                <a16:creationId xmlns:a16="http://schemas.microsoft.com/office/drawing/2014/main" id="{C46FDB97-0480-E5A4-3069-27130D7840EA}"/>
              </a:ext>
            </a:extLst>
          </p:cNvPr>
          <p:cNvSpPr txBox="1"/>
          <p:nvPr/>
        </p:nvSpPr>
        <p:spPr>
          <a:xfrm>
            <a:off x="6357" y="544652"/>
            <a:ext cx="1027922" cy="569387"/>
          </a:xfrm>
          <a:prstGeom prst="rect">
            <a:avLst/>
          </a:prstGeom>
          <a:noFill/>
          <a:ln>
            <a:solidFill>
              <a:schemeClr val="tx1"/>
            </a:solidFill>
          </a:ln>
        </p:spPr>
        <p:txBody>
          <a:bodyPr wrap="square" rtlCol="0">
            <a:spAutoFit/>
          </a:bodyPr>
          <a:lstStyle/>
          <a:p>
            <a:pPr algn="ctr"/>
            <a:r>
              <a:rPr lang="tr-TR" sz="1550" dirty="0">
                <a:latin typeface="+mn-lt"/>
              </a:rPr>
              <a:t>Takım Logosu</a:t>
            </a:r>
          </a:p>
        </p:txBody>
      </p:sp>
    </p:spTree>
    <p:extLst>
      <p:ext uri="{BB962C8B-B14F-4D97-AF65-F5344CB8AC3E}">
        <p14:creationId xmlns:p14="http://schemas.microsoft.com/office/powerpoint/2010/main" val="1951886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5" name="Straight Connector 5"/>
          <p:cNvCxnSpPr/>
          <p:nvPr/>
        </p:nvCxnSpPr>
        <p:spPr>
          <a:xfrm flipV="1">
            <a:off x="0" y="6714360"/>
            <a:ext cx="10693440" cy="23040"/>
          </a:xfrm>
          <a:prstGeom prst="straightConnector1">
            <a:avLst/>
          </a:prstGeom>
          <a:ln w="38100">
            <a:solidFill>
              <a:srgbClr val="4A7EBB"/>
            </a:solidFill>
            <a:round/>
          </a:ln>
        </p:spPr>
      </p:cxnSp>
      <p:sp>
        <p:nvSpPr>
          <p:cNvPr id="116" name="PlaceHolder 1"/>
          <p:cNvSpPr>
            <a:spLocks noGrp="1"/>
          </p:cNvSpPr>
          <p:nvPr>
            <p:ph type="sldNum" idx="44"/>
          </p:nvPr>
        </p:nvSpPr>
        <p:spPr>
          <a:xfrm>
            <a:off x="9724320" y="6905520"/>
            <a:ext cx="201600" cy="16092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86DC6CED-2AF5-477E-B1C9-28313939CD84}" type="slidenum">
              <a:rPr lang="tr-TR" sz="1050" b="0" u="none" strike="noStrike">
                <a:solidFill>
                  <a:srgbClr val="898989"/>
                </a:solidFill>
                <a:effectLst/>
                <a:uFillTx/>
                <a:latin typeface="Calibri"/>
              </a:rPr>
              <a:t>8</a:t>
            </a:fld>
            <a:endParaRPr lang="tr-TR" sz="1050" b="0" u="none" strike="noStrike">
              <a:solidFill>
                <a:srgbClr val="000000"/>
              </a:solidFill>
              <a:effectLst/>
              <a:uFillTx/>
              <a:latin typeface="Times New Roman"/>
            </a:endParaRPr>
          </a:p>
        </p:txBody>
      </p:sp>
      <p:pic>
        <p:nvPicPr>
          <p:cNvPr id="118" name="Picture 6"/>
          <p:cNvPicPr/>
          <p:nvPr/>
        </p:nvPicPr>
        <p:blipFill>
          <a:blip r:embed="rId3"/>
          <a:stretch/>
        </p:blipFill>
        <p:spPr>
          <a:xfrm>
            <a:off x="9630360" y="276120"/>
            <a:ext cx="1062720" cy="1062720"/>
          </a:xfrm>
          <a:prstGeom prst="rect">
            <a:avLst/>
          </a:prstGeom>
          <a:noFill/>
          <a:ln w="0">
            <a:noFill/>
          </a:ln>
        </p:spPr>
      </p:pic>
      <p:cxnSp>
        <p:nvCxnSpPr>
          <p:cNvPr id="119" name="Straight Connector 4"/>
          <p:cNvCxnSpPr/>
          <p:nvPr/>
        </p:nvCxnSpPr>
        <p:spPr>
          <a:xfrm flipV="1">
            <a:off x="0" y="1320120"/>
            <a:ext cx="10693440" cy="22680"/>
          </a:xfrm>
          <a:prstGeom prst="straightConnector1">
            <a:avLst/>
          </a:prstGeom>
          <a:ln w="38100">
            <a:solidFill>
              <a:srgbClr val="4A7EBB"/>
            </a:solidFill>
            <a:round/>
          </a:ln>
        </p:spPr>
      </p:cxnSp>
      <p:sp>
        <p:nvSpPr>
          <p:cNvPr id="121" name="Title 1"/>
          <p:cNvSpPr/>
          <p:nvPr/>
        </p:nvSpPr>
        <p:spPr>
          <a:xfrm>
            <a:off x="1181160" y="494640"/>
            <a:ext cx="8240040" cy="658440"/>
          </a:xfrm>
          <a:prstGeom prst="rect">
            <a:avLst/>
          </a:prstGeom>
          <a:noFill/>
          <a:ln w="0">
            <a:noFill/>
          </a:ln>
        </p:spPr>
        <p:style>
          <a:lnRef idx="0">
            <a:scrgbClr r="0" g="0" b="0"/>
          </a:lnRef>
          <a:fillRef idx="0">
            <a:scrgbClr r="0" g="0" b="0"/>
          </a:fillRef>
          <a:effectRef idx="0">
            <a:scrgbClr r="0" g="0" b="0"/>
          </a:effectRef>
          <a:fontRef idx="minor"/>
        </p:style>
        <p:txBody>
          <a:bodyPr lIns="80280" tIns="39960" rIns="80280" bIns="39960" anchor="b">
            <a:normAutofit/>
          </a:bodyPr>
          <a:lstStyle/>
          <a:p>
            <a:pPr algn="ctr" defTabSz="914400">
              <a:lnSpc>
                <a:spcPct val="90000"/>
              </a:lnSpc>
            </a:pPr>
            <a:r>
              <a:rPr lang="tr-TR" sz="3950" b="1" u="none" strike="noStrike">
                <a:solidFill>
                  <a:srgbClr val="0070C0"/>
                </a:solidFill>
                <a:effectLst/>
                <a:uFillTx/>
                <a:latin typeface="Calibri"/>
              </a:rPr>
              <a:t>Operasyon Konsepti (CONOPS)</a:t>
            </a:r>
            <a:endParaRPr lang="tr-TR" sz="3950" b="0" u="none" strike="noStrike">
              <a:solidFill>
                <a:srgbClr val="000000"/>
              </a:solidFill>
              <a:effectLst/>
              <a:uFillTx/>
              <a:latin typeface="Arial"/>
            </a:endParaRPr>
          </a:p>
        </p:txBody>
      </p:sp>
      <p:sp>
        <p:nvSpPr>
          <p:cNvPr id="125" name="TextBox 6"/>
          <p:cNvSpPr/>
          <p:nvPr/>
        </p:nvSpPr>
        <p:spPr>
          <a:xfrm>
            <a:off x="6480" y="544680"/>
            <a:ext cx="1027440" cy="569880"/>
          </a:xfrm>
          <a:prstGeom prst="rect">
            <a:avLst/>
          </a:prstGeom>
          <a:noFill/>
          <a:ln w="0">
            <a:solidFill>
              <a:srgbClr val="000000"/>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tr-TR" sz="1550" b="0" u="none" strike="noStrike">
                <a:solidFill>
                  <a:srgbClr val="000000"/>
                </a:solidFill>
                <a:effectLst/>
                <a:uFillTx/>
                <a:latin typeface="Calibri"/>
              </a:rPr>
              <a:t>Takım Logosu</a:t>
            </a:r>
            <a:endParaRPr lang="tr-TR" sz="1550" b="0" u="none" strike="noStrike">
              <a:solidFill>
                <a:srgbClr val="000000"/>
              </a:solidFill>
              <a:effectLst/>
              <a:uFillTx/>
              <a:latin typeface="Arial"/>
            </a:endParaRPr>
          </a:p>
        </p:txBody>
      </p:sp>
      <p:sp>
        <p:nvSpPr>
          <p:cNvPr id="126" name="PlaceHolder 2"/>
          <p:cNvSpPr>
            <a:spLocks noGrp="1"/>
          </p:cNvSpPr>
          <p:nvPr>
            <p:ph type="dt" idx="45"/>
          </p:nvPr>
        </p:nvSpPr>
        <p:spPr>
          <a:xfrm>
            <a:off x="802800" y="6905520"/>
            <a:ext cx="1320840" cy="161280"/>
          </a:xfrm>
          <a:prstGeom prst="rect">
            <a:avLst/>
          </a:prstGeom>
          <a:noFill/>
          <a:ln w="0">
            <a:noFill/>
          </a:ln>
        </p:spPr>
        <p:txBody>
          <a:bodyPr lIns="0" tIns="0" rIns="0" bIns="0" anchor="t">
            <a:noAutofit/>
          </a:bodyPr>
          <a:lstStyle>
            <a:lvl1pPr indent="0">
              <a:lnSpc>
                <a:spcPct val="100000"/>
              </a:lnSpc>
              <a:buNone/>
              <a:defRPr lang="tr-TR" sz="1050" b="0" u="none" strike="noStrike">
                <a:solidFill>
                  <a:srgbClr val="898989"/>
                </a:solidFill>
                <a:effectLst/>
                <a:uFillTx/>
                <a:latin typeface="Calibri"/>
              </a:defRPr>
            </a:lvl1pPr>
          </a:lstStyle>
          <a:p>
            <a:pPr indent="0">
              <a:lnSpc>
                <a:spcPct val="100000"/>
              </a:lnSpc>
              <a:buNone/>
            </a:pPr>
            <a:fld id="{A7A707E1-1504-456E-B143-7857A15E2920}" type="datetime2">
              <a:rPr lang="tr-TR" sz="1050" b="0" u="none" strike="noStrike">
                <a:solidFill>
                  <a:srgbClr val="898989"/>
                </a:solidFill>
                <a:effectLst/>
                <a:uFillTx/>
                <a:latin typeface="Calibri"/>
              </a:rPr>
              <a:t>3 Temmuz 2026 Cuma</a:t>
            </a:fld>
            <a:endParaRPr lang="tr-TR" sz="1050" b="0" u="none" strike="noStrike">
              <a:solidFill>
                <a:srgbClr val="000000"/>
              </a:solidFill>
              <a:effectLst/>
              <a:uFillTx/>
              <a:latin typeface="Times New Roman"/>
            </a:endParaRPr>
          </a:p>
        </p:txBody>
      </p:sp>
      <p:sp>
        <p:nvSpPr>
          <p:cNvPr id="127" name="PlaceHolder 3"/>
          <p:cNvSpPr>
            <a:spLocks noGrp="1"/>
          </p:cNvSpPr>
          <p:nvPr>
            <p:ph type="ftr" idx="46"/>
          </p:nvPr>
        </p:nvSpPr>
        <p:spPr>
          <a:xfrm>
            <a:off x="3542040" y="6814080"/>
            <a:ext cx="3608640" cy="320040"/>
          </a:xfrm>
          <a:prstGeom prst="rect">
            <a:avLst/>
          </a:prstGeom>
          <a:noFill/>
          <a:ln w="0">
            <a:noFill/>
          </a:ln>
        </p:spPr>
        <p:txBody>
          <a:bodyPr lIns="0" tIns="0" rIns="0" bIns="0" anchor="t">
            <a:noAutofit/>
          </a:bodyPr>
          <a:lstStyle>
            <a:lvl1pPr indent="0" algn="ctr">
              <a:lnSpc>
                <a:spcPct val="100000"/>
              </a:lnSpc>
              <a:buNone/>
              <a:defRPr lang="tr-TR" sz="1050" b="0" u="none" strike="noStrike">
                <a:solidFill>
                  <a:srgbClr val="898989"/>
                </a:solidFill>
                <a:effectLst/>
                <a:uFillTx/>
                <a:latin typeface="Calibri"/>
              </a:defRPr>
            </a:lvl1pPr>
          </a:lstStyle>
          <a:p>
            <a:pPr indent="0" algn="ctr">
              <a:lnSpc>
                <a:spcPct val="100000"/>
              </a:lnSpc>
              <a:buNone/>
            </a:pPr>
            <a:r>
              <a:rPr lang="tr-TR" sz="1050" b="0" u="none" strike="noStrike" dirty="0">
                <a:solidFill>
                  <a:srgbClr val="898989"/>
                </a:solidFill>
                <a:effectLst/>
                <a:uFillTx/>
                <a:latin typeface="Calibri"/>
              </a:rPr>
              <a:t>2026 TEKNOFEST DİKEY İNİŞLİ ROKET YARIŞMASI</a:t>
            </a:r>
            <a:br>
              <a:rPr sz="1050" dirty="0"/>
            </a:br>
            <a:r>
              <a:rPr lang="tr-TR" sz="1050" b="0" u="none" strike="noStrike" dirty="0">
                <a:solidFill>
                  <a:srgbClr val="898989"/>
                </a:solidFill>
                <a:effectLst/>
                <a:uFillTx/>
                <a:latin typeface="Calibri"/>
              </a:rPr>
              <a:t> </a:t>
            </a:r>
            <a:r>
              <a:rPr lang="en-US" sz="1050" b="0" u="none" strike="noStrike" dirty="0">
                <a:solidFill>
                  <a:srgbClr val="898989"/>
                </a:solidFill>
                <a:effectLst/>
                <a:uFillTx/>
                <a:latin typeface="Calibri"/>
              </a:rPr>
              <a:t>KRİTİK</a:t>
            </a:r>
            <a:r>
              <a:rPr lang="tr-TR" sz="1050" b="0" u="none" strike="noStrike" dirty="0">
                <a:solidFill>
                  <a:srgbClr val="898989"/>
                </a:solidFill>
                <a:effectLst/>
                <a:uFillTx/>
                <a:latin typeface="Calibri"/>
              </a:rPr>
              <a:t> TASARIM RAPORU (</a:t>
            </a:r>
            <a:r>
              <a:rPr lang="en-US" sz="1050" b="0" u="none" strike="noStrike" dirty="0">
                <a:solidFill>
                  <a:srgbClr val="898989"/>
                </a:solidFill>
                <a:effectLst/>
                <a:uFillTx/>
                <a:latin typeface="Calibri"/>
              </a:rPr>
              <a:t>K</a:t>
            </a:r>
            <a:r>
              <a:rPr lang="tr-TR" sz="1050" b="0" u="none" strike="noStrike" dirty="0">
                <a:solidFill>
                  <a:srgbClr val="898989"/>
                </a:solidFill>
                <a:effectLst/>
                <a:uFillTx/>
                <a:latin typeface="Calibri"/>
              </a:rPr>
              <a:t>TR)</a:t>
            </a:r>
            <a:endParaRPr lang="tr-TR" sz="1050" b="0" u="none" strike="noStrike" dirty="0">
              <a:solidFill>
                <a:srgbClr val="000000"/>
              </a:solidFill>
              <a:effectLst/>
              <a:uFillTx/>
              <a:latin typeface="Times New Roman"/>
            </a:endParaRPr>
          </a:p>
        </p:txBody>
      </p:sp>
      <p:sp>
        <p:nvSpPr>
          <p:cNvPr id="17" name="Metin kutusu 16">
            <a:extLst>
              <a:ext uri="{FF2B5EF4-FFF2-40B4-BE49-F238E27FC236}">
                <a16:creationId xmlns:a16="http://schemas.microsoft.com/office/drawing/2014/main" id="{99B8793E-C17D-4020-848E-3FE3065FB3E1}"/>
              </a:ext>
            </a:extLst>
          </p:cNvPr>
          <p:cNvSpPr txBox="1"/>
          <p:nvPr/>
        </p:nvSpPr>
        <p:spPr>
          <a:xfrm>
            <a:off x="164760" y="1626082"/>
            <a:ext cx="10363200" cy="4616648"/>
          </a:xfrm>
          <a:prstGeom prst="rect">
            <a:avLst/>
          </a:prstGeom>
          <a:noFill/>
        </p:spPr>
        <p:txBody>
          <a:bodyPr wrap="square">
            <a:spAutoFit/>
          </a:bodyPr>
          <a:lstStyle/>
          <a:p>
            <a:pPr algn="just"/>
            <a:r>
              <a:rPr lang="tr-TR" sz="1400" b="1" dirty="0">
                <a:latin typeface="+mn-lt"/>
              </a:rPr>
              <a:t>A. Yerden Kalkış</a:t>
            </a:r>
          </a:p>
          <a:p>
            <a:pPr algn="just"/>
            <a:r>
              <a:rPr lang="tr-TR" sz="1400" dirty="0">
                <a:latin typeface="+mn-lt"/>
              </a:rPr>
              <a:t>Roket, askı sistemi yardımıyla 2 metre yüksekliğe kaldırılacaktır. Roket, Aviyonik uzaktan tetiklenerek kontrollü bir şekilde 3 metre yüksekliğe çıkacak ve bu yükseklikte hızını 0 m/s hızda 5 saniye süresince tutarak havada askıda kalması (</a:t>
            </a:r>
            <a:r>
              <a:rPr lang="tr-TR" sz="1400" dirty="0" err="1">
                <a:latin typeface="+mn-lt"/>
              </a:rPr>
              <a:t>hovering</a:t>
            </a:r>
            <a:r>
              <a:rPr lang="tr-TR" sz="1400" dirty="0">
                <a:latin typeface="+mn-lt"/>
              </a:rPr>
              <a:t>) beklenmektedir.</a:t>
            </a:r>
          </a:p>
          <a:p>
            <a:pPr algn="just"/>
            <a:endParaRPr lang="tr-TR" sz="1400" dirty="0">
              <a:latin typeface="+mn-lt"/>
            </a:endParaRPr>
          </a:p>
          <a:p>
            <a:pPr algn="just"/>
            <a:r>
              <a:rPr lang="tr-TR" sz="1400" b="1" dirty="0">
                <a:latin typeface="+mn-lt"/>
              </a:rPr>
              <a:t>B. Esnek Halatlı Yumuşak İniş</a:t>
            </a:r>
          </a:p>
          <a:p>
            <a:pPr algn="just"/>
            <a:r>
              <a:rPr lang="tr-TR" sz="1400" dirty="0">
                <a:latin typeface="+mn-lt"/>
              </a:rPr>
              <a:t>Roket, askı sistemiyle en fazla 9 m irtifaya kaldırılacaktır. Askı sistemi roketi serbest bıraktıktan bir süre sonra </a:t>
            </a:r>
            <a:r>
              <a:rPr lang="tr-TR" sz="1400" dirty="0" err="1">
                <a:latin typeface="+mn-lt"/>
              </a:rPr>
              <a:t>aviyonik</a:t>
            </a:r>
            <a:r>
              <a:rPr lang="tr-TR" sz="1400" dirty="0">
                <a:latin typeface="+mn-lt"/>
              </a:rPr>
              <a:t> sistemin devreye girmesi beklenmekte ve iniş senaryosunun otonom kontrol sistemi sayesinde icra edilerek her bir soğuk gaz itki sisteminden anlık gerekli kuvvetin elde edilmesi beklenmektedir. Bu şekilde aracın yere paralel kalarak otonom kontrollü iniş senaryosunu gerçekleştirmesi beklenmektedir. </a:t>
            </a:r>
          </a:p>
          <a:p>
            <a:pPr algn="just"/>
            <a:endParaRPr lang="tr-TR" sz="1400" dirty="0">
              <a:latin typeface="+mn-lt"/>
            </a:endParaRPr>
          </a:p>
          <a:p>
            <a:pPr algn="just"/>
            <a:r>
              <a:rPr lang="tr-TR" sz="1400" b="1" dirty="0">
                <a:latin typeface="+mn-lt"/>
              </a:rPr>
              <a:t>C. Yumuşak İniş</a:t>
            </a:r>
          </a:p>
          <a:p>
            <a:pPr algn="just"/>
            <a:r>
              <a:rPr lang="tr-TR" sz="1400" dirty="0">
                <a:latin typeface="+mn-lt"/>
              </a:rPr>
              <a:t>Roket, askı sistemiyle en fazla 9 m irtifaya kaldırılacaktır. Askı sistemi roketi serbest bıraktıktan bir süre sonra </a:t>
            </a:r>
            <a:r>
              <a:rPr lang="tr-TR" sz="1400" dirty="0" err="1">
                <a:latin typeface="+mn-lt"/>
              </a:rPr>
              <a:t>aviyonik</a:t>
            </a:r>
            <a:r>
              <a:rPr lang="tr-TR" sz="1400" dirty="0">
                <a:latin typeface="+mn-lt"/>
              </a:rPr>
              <a:t> sistemin devreye girmesi beklenmekte ve iniş senaryosunun otonom kontrol sistemi sayesinde icra edilerek her bir soğuk gaz itki sisteminden anlık gerekli kuvvetin elde edilmesi beklenmektedir. Roketin iniş esnasında bozucu etkilere karşı cevap üreterek yere paralelliği koruyabilmesi istenmektedir.</a:t>
            </a:r>
          </a:p>
          <a:p>
            <a:pPr algn="just"/>
            <a:endParaRPr lang="tr-TR" sz="1400" dirty="0">
              <a:latin typeface="+mn-lt"/>
            </a:endParaRPr>
          </a:p>
          <a:p>
            <a:pPr algn="just"/>
            <a:r>
              <a:rPr lang="tr-TR" sz="1400" dirty="0">
                <a:latin typeface="+mn-lt"/>
              </a:rPr>
              <a:t>Uçuş profillerinin güncel halleri görsel olarak verilmelidir. Uçuş profilinde yapılan değişiklik varsa özellikle belirtilmelidir. (Operasyonel olarak uçuşun hangi aşamasında nelerin gerçekleştirileceği bu görsel üzerinde belirtilecektir. El çizimi yasaktır. Operasyon sırasında rokete uzaktan erişim, haberleşme ve veri depolanması süreci hakkında özet bilgi verilecektir.</a:t>
            </a:r>
          </a:p>
          <a:p>
            <a:pPr algn="just"/>
            <a:r>
              <a:rPr lang="tr-TR" sz="1400" dirty="0">
                <a:latin typeface="+mn-lt"/>
              </a:rPr>
              <a:t>Bu bölüm  3 yansıyı geçmemelidir.</a:t>
            </a:r>
          </a:p>
          <a:p>
            <a:pPr algn="just"/>
            <a:endParaRPr lang="tr-TR" sz="1400" dirty="0">
              <a:latin typeface="+mn-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35012" y="494808"/>
            <a:ext cx="8020050" cy="658651"/>
          </a:xfrm>
        </p:spPr>
        <p:txBody>
          <a:bodyPr>
            <a:noAutofit/>
          </a:bodyPr>
          <a:lstStyle/>
          <a:p>
            <a:r>
              <a:rPr lang="tr-TR" sz="3950" dirty="0">
                <a:solidFill>
                  <a:srgbClr val="0070C0"/>
                </a:solidFill>
                <a:latin typeface="+mn-lt"/>
                <a:cs typeface="Times New Roman" panose="02020603050405020304" pitchFamily="18" charset="0"/>
              </a:rPr>
              <a:t>Operasyon Konsepti (CONOPS) </a:t>
            </a:r>
          </a:p>
        </p:txBody>
      </p:sp>
      <p:cxnSp>
        <p:nvCxnSpPr>
          <p:cNvPr id="5" name="Straight Connector 4"/>
          <p:cNvCxnSpPr/>
          <p:nvPr/>
        </p:nvCxnSpPr>
        <p:spPr>
          <a:xfrm flipV="1">
            <a:off x="0" y="1352684"/>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78851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9724145" y="6979608"/>
            <a:ext cx="201986" cy="161290"/>
          </a:xfrm>
        </p:spPr>
        <p:txBody>
          <a:bodyPr/>
          <a:lstStyle/>
          <a:p>
            <a:fld id="{87BEDC82-49FF-42E3-B7EA-26FF728940D5}" type="slidenum">
              <a:rPr lang="tr-TR" smtClean="0"/>
              <a:t>9</a:t>
            </a:fld>
            <a:endParaRPr lang="tr-TR"/>
          </a:p>
        </p:txBody>
      </p:sp>
      <p:sp>
        <p:nvSpPr>
          <p:cNvPr id="4" name="Date Placeholder 3"/>
          <p:cNvSpPr>
            <a:spLocks noGrp="1"/>
          </p:cNvSpPr>
          <p:nvPr>
            <p:ph type="dt" sz="half" idx="10"/>
          </p:nvPr>
        </p:nvSpPr>
        <p:spPr>
          <a:xfrm>
            <a:off x="802650" y="6979608"/>
            <a:ext cx="1321036" cy="161616"/>
          </a:xfrm>
        </p:spPr>
        <p:txBody>
          <a:bodyPr/>
          <a:lstStyle/>
          <a:p>
            <a:fld id="{71688D85-5522-40F2-B3C0-77BB162C9A7C}" type="datetime2">
              <a:rPr lang="tr-TR" smtClean="0"/>
              <a:t>3 Temmuz 2026 Cuma</a:t>
            </a:fld>
            <a:endParaRPr lang="tr-TR" dirty="0"/>
          </a:p>
        </p:txBody>
      </p:sp>
      <p:pic>
        <p:nvPicPr>
          <p:cNvPr id="12"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276225"/>
            <a:ext cx="1063165" cy="1063165"/>
          </a:xfrm>
          <a:prstGeom prst="rect">
            <a:avLst/>
          </a:prstGeom>
        </p:spPr>
      </p:pic>
      <p:sp>
        <p:nvSpPr>
          <p:cNvPr id="34" name="Footer Placeholder 8"/>
          <p:cNvSpPr>
            <a:spLocks noGrp="1"/>
          </p:cNvSpPr>
          <p:nvPr>
            <p:ph type="ftr" sz="quarter" idx="11"/>
          </p:nvPr>
        </p:nvSpPr>
        <p:spPr>
          <a:xfrm>
            <a:off x="3542189" y="6890180"/>
            <a:ext cx="3609023" cy="320245"/>
          </a:xfrm>
        </p:spPr>
        <p:txBody>
          <a:bodyPr/>
          <a:lstStyle/>
          <a:p>
            <a:pPr algn="ctr"/>
            <a:r>
              <a:rPr lang="tr-TR" dirty="0"/>
              <a:t>2026 TEKNOFEST DİKEY İNİŞLİ ROKET YARIŞMASI</a:t>
            </a:r>
          </a:p>
          <a:p>
            <a:pPr algn="ctr"/>
            <a:r>
              <a:rPr lang="tr-TR" dirty="0"/>
              <a:t>ATIŞA HAZIRLIK RAPORU (AHR)</a:t>
            </a:r>
          </a:p>
        </p:txBody>
      </p:sp>
      <p:sp>
        <p:nvSpPr>
          <p:cNvPr id="35" name="TextBox 34"/>
          <p:cNvSpPr txBox="1"/>
          <p:nvPr/>
        </p:nvSpPr>
        <p:spPr>
          <a:xfrm>
            <a:off x="6358" y="1419225"/>
            <a:ext cx="10693399" cy="5101397"/>
          </a:xfrm>
          <a:prstGeom prst="rect">
            <a:avLst/>
          </a:prstGeom>
          <a:noFill/>
        </p:spPr>
        <p:txBody>
          <a:bodyPr wrap="square" rtlCol="0">
            <a:spAutoFit/>
          </a:bodyPr>
          <a:lstStyle/>
          <a:p>
            <a:pPr algn="just"/>
            <a:r>
              <a:rPr lang="tr-TR" sz="1550" dirty="0">
                <a:latin typeface="+mn-lt"/>
              </a:rPr>
              <a:t> </a:t>
            </a:r>
            <a:r>
              <a:rPr lang="tr-TR" sz="1550" b="1" dirty="0">
                <a:latin typeface="+mn-lt"/>
              </a:rPr>
              <a:t>Atış öncesi </a:t>
            </a:r>
            <a:r>
              <a:rPr lang="tr-TR" sz="1550" b="1" dirty="0">
                <a:latin typeface="+mn-lt"/>
                <a:cs typeface="Times New Roman" panose="02020603050405020304" pitchFamily="18" charset="0"/>
              </a:rPr>
              <a:t>süreçte </a:t>
            </a:r>
            <a:r>
              <a:rPr lang="tr-TR" sz="1550" dirty="0">
                <a:latin typeface="+mn-lt"/>
                <a:cs typeface="Times New Roman" panose="02020603050405020304" pitchFamily="18" charset="0"/>
              </a:rPr>
              <a:t>dikkat edilecek </a:t>
            </a:r>
            <a:r>
              <a:rPr lang="tr-TR" sz="1550" b="1" dirty="0">
                <a:latin typeface="+mn-lt"/>
                <a:cs typeface="Times New Roman" panose="02020603050405020304" pitchFamily="18" charset="0"/>
              </a:rPr>
              <a:t>başlıca hususlar aşağıdaki </a:t>
            </a:r>
            <a:r>
              <a:rPr lang="tr-TR" sz="1550" dirty="0">
                <a:latin typeface="+mn-lt"/>
                <a:cs typeface="Times New Roman" panose="02020603050405020304" pitchFamily="18" charset="0"/>
              </a:rPr>
              <a:t>gibidir:</a:t>
            </a:r>
          </a:p>
          <a:p>
            <a:pPr algn="just"/>
            <a:endParaRPr lang="tr-TR" sz="1550" dirty="0">
              <a:latin typeface="+mn-lt"/>
            </a:endParaRPr>
          </a:p>
          <a:p>
            <a:pPr algn="just"/>
            <a:r>
              <a:rPr lang="tr-TR" sz="1550" b="1" i="1" dirty="0">
                <a:latin typeface="+mn-lt"/>
              </a:rPr>
              <a:t>     1.  Roketin Mapa ile Vinçe Bağlanması</a:t>
            </a:r>
          </a:p>
          <a:p>
            <a:pPr marL="651641" lvl="1" indent="-250631" algn="just">
              <a:buFont typeface="Arial" panose="020B0604020202020204" pitchFamily="34" charset="0"/>
              <a:buChar char="•"/>
            </a:pPr>
            <a:r>
              <a:rPr lang="tr-TR" sz="1550" dirty="0">
                <a:latin typeface="+mn-lt"/>
              </a:rPr>
              <a:t>Roket ’in üzerinde TÜBİTAK SAGE tarafından gönderilen </a:t>
            </a:r>
            <a:r>
              <a:rPr lang="tr-TR" sz="1550" b="1" i="1" dirty="0">
                <a:solidFill>
                  <a:srgbClr val="FF0000"/>
                </a:solidFill>
                <a:latin typeface="+mn-lt"/>
              </a:rPr>
              <a:t>mapa</a:t>
            </a:r>
            <a:r>
              <a:rPr lang="tr-TR" sz="1550" dirty="0">
                <a:latin typeface="+mn-lt"/>
              </a:rPr>
              <a:t> bulunmalıdır. Roket bu mapadan vince asılacaktır. </a:t>
            </a:r>
          </a:p>
          <a:p>
            <a:pPr marL="651641" lvl="1" indent="-250631" algn="just">
              <a:buFont typeface="Arial" panose="020B0604020202020204" pitchFamily="34" charset="0"/>
              <a:buChar char="•"/>
            </a:pPr>
            <a:r>
              <a:rPr lang="tr-TR" sz="1550" dirty="0">
                <a:latin typeface="+mn-lt"/>
              </a:rPr>
              <a:t>Mapa ağırlık merkezi doğrultusunda ve ana şaseye bağlı olmalıdır. Mapa ile asılan araç, yere dik pozisyonda durmalıdır. </a:t>
            </a:r>
          </a:p>
          <a:p>
            <a:pPr algn="just"/>
            <a:endParaRPr lang="tr-TR" sz="1550" dirty="0">
              <a:latin typeface="+mn-lt"/>
            </a:endParaRPr>
          </a:p>
          <a:p>
            <a:pPr algn="just"/>
            <a:r>
              <a:rPr lang="tr-TR" sz="1550" dirty="0">
                <a:latin typeface="+mn-lt"/>
              </a:rPr>
              <a:t>      </a:t>
            </a:r>
            <a:r>
              <a:rPr lang="tr-TR" sz="1550" b="1" i="1" dirty="0">
                <a:latin typeface="+mn-lt"/>
              </a:rPr>
              <a:t>2.  Güvenli Ayrılma Konektörünün Bağlanması</a:t>
            </a:r>
          </a:p>
          <a:p>
            <a:pPr marL="651641" lvl="1" indent="-250631" algn="just">
              <a:buFont typeface="Arial" panose="020B0604020202020204" pitchFamily="34" charset="0"/>
              <a:buChar char="•"/>
            </a:pPr>
            <a:r>
              <a:rPr lang="tr-TR" sz="1550" dirty="0">
                <a:latin typeface="+mn-lt"/>
              </a:rPr>
              <a:t>Mapanın roket gövdesine bağlandığı bölgenin yakınında </a:t>
            </a:r>
            <a:r>
              <a:rPr lang="tr-TR" sz="1550" b="1" u="sng" dirty="0">
                <a:latin typeface="+mn-lt"/>
              </a:rPr>
              <a:t>(en fazla 5 cm uzağında)</a:t>
            </a:r>
            <a:r>
              <a:rPr lang="tr-TR" sz="1550" dirty="0">
                <a:latin typeface="+mn-lt"/>
              </a:rPr>
              <a:t> </a:t>
            </a:r>
            <a:r>
              <a:rPr lang="tr-TR" sz="1550" b="1" i="1" dirty="0">
                <a:solidFill>
                  <a:srgbClr val="FF0000"/>
                </a:solidFill>
                <a:latin typeface="+mn-lt"/>
              </a:rPr>
              <a:t>güvenli ayrılma konektörü</a:t>
            </a:r>
            <a:r>
              <a:rPr lang="tr-TR" sz="1550" dirty="0">
                <a:latin typeface="+mn-lt"/>
              </a:rPr>
              <a:t> bulundurulacaktır.</a:t>
            </a:r>
          </a:p>
          <a:p>
            <a:pPr marL="1052652" lvl="2" indent="-250631" algn="just">
              <a:buFont typeface="Arial" panose="020B0604020202020204" pitchFamily="34" charset="0"/>
              <a:buChar char="•"/>
            </a:pPr>
            <a:r>
              <a:rPr lang="tr-TR" sz="1550" dirty="0">
                <a:latin typeface="+mn-lt"/>
              </a:rPr>
              <a:t>Not: </a:t>
            </a:r>
            <a:r>
              <a:rPr lang="tr-TR" sz="1550" i="1" dirty="0">
                <a:latin typeface="+mn-lt"/>
              </a:rPr>
              <a:t>Güvenli ayrılma konektörünün </a:t>
            </a:r>
            <a:r>
              <a:rPr lang="tr-TR" sz="1550" dirty="0">
                <a:latin typeface="+mn-lt"/>
              </a:rPr>
              <a:t>ağırlık merkezinden ve mapadan geçen doğrultudan uzak olması, vinçten ayrılma anında roket üzerinde bozucu etkiye sebep olabilir. Bu nedenle güvenli ayrılma konektörünün mapaya yakın olması önerilmektedir.</a:t>
            </a:r>
          </a:p>
          <a:p>
            <a:pPr marL="651641" lvl="1" indent="-250631" algn="just">
              <a:buFont typeface="Arial" panose="020B0604020202020204" pitchFamily="34" charset="0"/>
              <a:buChar char="•"/>
            </a:pPr>
            <a:r>
              <a:rPr lang="tr-TR" sz="1550" dirty="0">
                <a:latin typeface="+mn-lt"/>
              </a:rPr>
              <a:t>Roketin vince asılmasının ardından, güvenli ayrılma konektörünün roket üzerinde bulunan erkek taraf, vincin üzerindeki dişi tarafa bağlanacaktır. Bu konektörün kullanım amacı roketin vinçten ayrılmadan önce soğuk gaz itki sisteminin aktif hale geçmesini  engellemektir.</a:t>
            </a:r>
          </a:p>
          <a:p>
            <a:pPr marL="250631" indent="-250631" algn="just">
              <a:buFont typeface="Arial" panose="020B0604020202020204" pitchFamily="34" charset="0"/>
              <a:buChar char="•"/>
            </a:pPr>
            <a:endParaRPr lang="tr-TR" sz="1550" dirty="0">
              <a:latin typeface="+mn-lt"/>
            </a:endParaRPr>
          </a:p>
          <a:p>
            <a:pPr algn="just"/>
            <a:r>
              <a:rPr lang="tr-TR" sz="1550" dirty="0">
                <a:latin typeface="+mn-lt"/>
              </a:rPr>
              <a:t>      </a:t>
            </a:r>
            <a:r>
              <a:rPr lang="tr-TR" sz="1550" b="1" i="1" dirty="0">
                <a:latin typeface="+mn-lt"/>
              </a:rPr>
              <a:t>3.  Rokete Elektriksel Gücün Verilmesi</a:t>
            </a:r>
          </a:p>
          <a:p>
            <a:pPr marL="651641" lvl="1" indent="-250631" algn="just">
              <a:buFont typeface="Arial" panose="020B0604020202020204" pitchFamily="34" charset="0"/>
              <a:buChar char="•"/>
            </a:pPr>
            <a:r>
              <a:rPr lang="tr-TR" sz="1550" dirty="0">
                <a:latin typeface="+mn-lt"/>
              </a:rPr>
              <a:t>Roketin gövdesinde yer alan </a:t>
            </a:r>
            <a:r>
              <a:rPr lang="tr-TR" sz="1550" b="1" i="1" dirty="0">
                <a:solidFill>
                  <a:srgbClr val="FF0000"/>
                </a:solidFill>
                <a:latin typeface="+mn-lt"/>
              </a:rPr>
              <a:t>elektrik anahtarı </a:t>
            </a:r>
            <a:r>
              <a:rPr lang="tr-TR" sz="1550" dirty="0">
                <a:latin typeface="+mn-lt"/>
              </a:rPr>
              <a:t>ile araca bataryadan elektriksel enerji verilecektir. Bu durumda soğuk gaz itki sistemi dışında bütün bileşenlerin çalışması sağlanacaktır.</a:t>
            </a:r>
          </a:p>
          <a:p>
            <a:pPr marL="651641" lvl="1" indent="-250631" algn="just">
              <a:buFont typeface="Arial" panose="020B0604020202020204" pitchFamily="34" charset="0"/>
              <a:buChar char="•"/>
            </a:pPr>
            <a:r>
              <a:rPr lang="tr-TR" sz="1550" dirty="0">
                <a:latin typeface="+mn-lt"/>
              </a:rPr>
              <a:t>Elektrik motoru ile tahrik edilen vinç çeneleri açıldığında güvenli ayrılma konektörünün erkek ve dişi tarafı birbirinden ayrılacaktır. Bu sayede </a:t>
            </a:r>
            <a:r>
              <a:rPr lang="tr-TR" sz="1550" b="1" u="sng" dirty="0">
                <a:latin typeface="+mn-lt"/>
              </a:rPr>
              <a:t>soğuk gaz itki sistemi roketin vinçten ayrılması anında devreye alınmış olacaktır</a:t>
            </a:r>
            <a:r>
              <a:rPr lang="tr-TR" sz="1550" dirty="0">
                <a:latin typeface="+mn-lt"/>
              </a:rPr>
              <a:t>.</a:t>
            </a:r>
          </a:p>
        </p:txBody>
      </p:sp>
      <p:sp>
        <p:nvSpPr>
          <p:cNvPr id="14" name="Dikdörtgen 13">
            <a:extLst>
              <a:ext uri="{FF2B5EF4-FFF2-40B4-BE49-F238E27FC236}">
                <a16:creationId xmlns:a16="http://schemas.microsoft.com/office/drawing/2014/main" id="{B18E651B-B883-48DD-84AE-14CDF4DDCBA9}"/>
              </a:ext>
            </a:extLst>
          </p:cNvPr>
          <p:cNvSpPr/>
          <p:nvPr/>
        </p:nvSpPr>
        <p:spPr>
          <a:xfrm>
            <a:off x="325540" y="6524625"/>
            <a:ext cx="8907360" cy="276999"/>
          </a:xfrm>
          <a:prstGeom prst="rect">
            <a:avLst/>
          </a:prstGeom>
        </p:spPr>
        <p:txBody>
          <a:bodyPr wrap="square">
            <a:spAutoFit/>
          </a:bodyPr>
          <a:lstStyle/>
          <a:p>
            <a:pPr marL="171450" indent="-171450" algn="just">
              <a:buFont typeface="Arial" panose="020B0604020202020204" pitchFamily="34" charset="0"/>
              <a:buChar char="•"/>
            </a:pPr>
            <a:r>
              <a:rPr lang="tr-TR" sz="1200" i="1" dirty="0">
                <a:latin typeface="+mn-lt"/>
              </a:rPr>
              <a:t>Bu bölümde şartnamede yer alan </a:t>
            </a:r>
            <a:r>
              <a:rPr lang="tr-TR" sz="1200" b="1" i="1" dirty="0">
                <a:latin typeface="+mn-lt"/>
              </a:rPr>
              <a:t>4.3.3 ve 4.3.4 </a:t>
            </a:r>
            <a:r>
              <a:rPr lang="tr-TR" sz="1200" i="1" dirty="0">
                <a:latin typeface="+mn-lt"/>
              </a:rPr>
              <a:t>numaralı gereksinimlerin karşılanıp karşılanmadığı kontrol edilecektir. </a:t>
            </a:r>
          </a:p>
        </p:txBody>
      </p:sp>
      <p:sp>
        <p:nvSpPr>
          <p:cNvPr id="7" name="TextBox 6">
            <a:extLst>
              <a:ext uri="{FF2B5EF4-FFF2-40B4-BE49-F238E27FC236}">
                <a16:creationId xmlns:a16="http://schemas.microsoft.com/office/drawing/2014/main" id="{252CA7FA-4801-E7ED-BA33-D131CAD39F6E}"/>
              </a:ext>
            </a:extLst>
          </p:cNvPr>
          <p:cNvSpPr txBox="1"/>
          <p:nvPr/>
        </p:nvSpPr>
        <p:spPr>
          <a:xfrm>
            <a:off x="6357" y="544652"/>
            <a:ext cx="1027922" cy="569387"/>
          </a:xfrm>
          <a:prstGeom prst="rect">
            <a:avLst/>
          </a:prstGeom>
          <a:noFill/>
          <a:ln>
            <a:solidFill>
              <a:schemeClr val="tx1"/>
            </a:solidFill>
          </a:ln>
        </p:spPr>
        <p:txBody>
          <a:bodyPr wrap="square" rtlCol="0">
            <a:spAutoFit/>
          </a:bodyPr>
          <a:lstStyle/>
          <a:p>
            <a:pPr algn="ctr"/>
            <a:r>
              <a:rPr lang="tr-TR" sz="1550" dirty="0">
                <a:latin typeface="+mn-lt"/>
              </a:rPr>
              <a:t>Takım Logosu</a:t>
            </a:r>
          </a:p>
        </p:txBody>
      </p:sp>
    </p:spTree>
    <p:extLst>
      <p:ext uri="{BB962C8B-B14F-4D97-AF65-F5344CB8AC3E}">
        <p14:creationId xmlns:p14="http://schemas.microsoft.com/office/powerpoint/2010/main" val="3884477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flipV="1">
            <a:off x="0" y="678851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9724145" y="6979608"/>
            <a:ext cx="201986" cy="161290"/>
          </a:xfrm>
        </p:spPr>
        <p:txBody>
          <a:bodyPr/>
          <a:lstStyle/>
          <a:p>
            <a:fld id="{87BEDC82-49FF-42E3-B7EA-26FF728940D5}" type="slidenum">
              <a:rPr lang="tr-TR" smtClean="0"/>
              <a:t>10</a:t>
            </a:fld>
            <a:endParaRPr lang="tr-TR"/>
          </a:p>
        </p:txBody>
      </p:sp>
      <p:sp>
        <p:nvSpPr>
          <p:cNvPr id="4" name="Date Placeholder 3"/>
          <p:cNvSpPr>
            <a:spLocks noGrp="1"/>
          </p:cNvSpPr>
          <p:nvPr>
            <p:ph type="dt" sz="half" idx="10"/>
          </p:nvPr>
        </p:nvSpPr>
        <p:spPr>
          <a:xfrm>
            <a:off x="802650" y="6979608"/>
            <a:ext cx="1321036" cy="161616"/>
          </a:xfrm>
        </p:spPr>
        <p:txBody>
          <a:bodyPr/>
          <a:lstStyle/>
          <a:p>
            <a:fld id="{610FE8F3-DA7E-42A7-8677-91C4693DDCBB}" type="datetime2">
              <a:rPr lang="tr-TR" smtClean="0"/>
              <a:t>3 Temmuz 2026 Cuma</a:t>
            </a:fld>
            <a:endParaRPr lang="tr-TR" dirty="0"/>
          </a:p>
        </p:txBody>
      </p:sp>
      <p:sp>
        <p:nvSpPr>
          <p:cNvPr id="10" name="TextBox 9"/>
          <p:cNvSpPr txBox="1"/>
          <p:nvPr/>
        </p:nvSpPr>
        <p:spPr>
          <a:xfrm>
            <a:off x="149279" y="1894339"/>
            <a:ext cx="10304034" cy="4028026"/>
          </a:xfrm>
          <a:prstGeom prst="rect">
            <a:avLst/>
          </a:prstGeom>
          <a:noFill/>
        </p:spPr>
        <p:txBody>
          <a:bodyPr wrap="square" rtlCol="0">
            <a:spAutoFit/>
          </a:bodyPr>
          <a:lstStyle/>
          <a:p>
            <a:pPr marL="250631" lvl="1" indent="-250631" algn="just">
              <a:buFont typeface="Arial" panose="020B0604020202020204" pitchFamily="34" charset="0"/>
              <a:buChar char="•"/>
            </a:pPr>
            <a:r>
              <a:rPr lang="tr-TR" sz="1550" dirty="0">
                <a:latin typeface="+mn-lt"/>
              </a:rPr>
              <a:t>Operasyon konsepti atışa hazırlık aşamasının önemli bir aşamasıdır. Dolayısıyla yarışmacıların süreçleri, görev dağılımlarını ve acil durum senaryolarını detaylıca planlamaları gerekmektedir.  </a:t>
            </a:r>
          </a:p>
          <a:p>
            <a:pPr lvl="1" algn="just"/>
            <a:endParaRPr lang="tr-TR" sz="1550" dirty="0">
              <a:latin typeface="+mn-lt"/>
            </a:endParaRPr>
          </a:p>
          <a:p>
            <a:pPr lvl="1" algn="just"/>
            <a:r>
              <a:rPr lang="tr-TR" sz="1550" dirty="0">
                <a:latin typeface="+mn-lt"/>
              </a:rPr>
              <a:t>Bu kapsamda:</a:t>
            </a:r>
          </a:p>
          <a:p>
            <a:pPr marL="250631" lvl="1" indent="-250631" algn="just">
              <a:buFont typeface="Arial" panose="020B0604020202020204" pitchFamily="34" charset="0"/>
              <a:buChar char="•"/>
            </a:pPr>
            <a:endParaRPr lang="tr-TR" sz="1550" dirty="0">
              <a:latin typeface="+mn-lt"/>
            </a:endParaRPr>
          </a:p>
          <a:p>
            <a:pPr marL="701768" lvl="2" indent="-300758" algn="just">
              <a:lnSpc>
                <a:spcPct val="150000"/>
              </a:lnSpc>
              <a:buFont typeface="+mj-lt"/>
              <a:buAutoNum type="arabicPeriod"/>
            </a:pPr>
            <a:r>
              <a:rPr lang="tr-TR" sz="1550" dirty="0">
                <a:latin typeface="+mn-lt"/>
              </a:rPr>
              <a:t>Atış öncesi süreç tablosu,</a:t>
            </a:r>
          </a:p>
          <a:p>
            <a:pPr marL="701768" lvl="2" indent="-300758" algn="just">
              <a:lnSpc>
                <a:spcPct val="150000"/>
              </a:lnSpc>
              <a:buFont typeface="+mj-lt"/>
              <a:buAutoNum type="arabicPeriod"/>
            </a:pPr>
            <a:r>
              <a:rPr lang="tr-TR" sz="1550" dirty="0">
                <a:latin typeface="+mn-lt"/>
              </a:rPr>
              <a:t>Operasyon süreç tablosu,</a:t>
            </a:r>
          </a:p>
          <a:p>
            <a:pPr marL="701768" lvl="2" indent="-300758" algn="just">
              <a:lnSpc>
                <a:spcPct val="150000"/>
              </a:lnSpc>
              <a:buFont typeface="+mj-lt"/>
              <a:buAutoNum type="arabicPeriod"/>
            </a:pPr>
            <a:r>
              <a:rPr lang="tr-TR" sz="1550" dirty="0">
                <a:latin typeface="+mn-lt"/>
              </a:rPr>
              <a:t>İniş sonrası süreç tablosu ,</a:t>
            </a:r>
          </a:p>
          <a:p>
            <a:pPr marL="701768" lvl="2" indent="-300758" algn="just">
              <a:lnSpc>
                <a:spcPct val="150000"/>
              </a:lnSpc>
              <a:buFont typeface="+mj-lt"/>
              <a:buAutoNum type="arabicPeriod"/>
            </a:pPr>
            <a:r>
              <a:rPr lang="tr-TR" sz="1550" dirty="0">
                <a:latin typeface="+mn-lt"/>
              </a:rPr>
              <a:t>Yedek parça envanteri tablosu,</a:t>
            </a:r>
          </a:p>
          <a:p>
            <a:pPr marL="701768" lvl="2" indent="-300758" algn="just">
              <a:lnSpc>
                <a:spcPct val="150000"/>
              </a:lnSpc>
              <a:buFont typeface="+mj-lt"/>
              <a:buAutoNum type="arabicPeriod"/>
            </a:pPr>
            <a:r>
              <a:rPr lang="tr-TR" sz="1550" dirty="0">
                <a:latin typeface="+mn-lt"/>
              </a:rPr>
              <a:t>Görev dağılımı tablosu hazırlanmalıdır.</a:t>
            </a:r>
          </a:p>
          <a:p>
            <a:pPr lvl="1" algn="just"/>
            <a:endParaRPr lang="tr-TR" sz="1550" dirty="0">
              <a:latin typeface="+mn-lt"/>
            </a:endParaRPr>
          </a:p>
          <a:p>
            <a:pPr marL="250631" lvl="1" indent="-250631" algn="just">
              <a:buFont typeface="Arial" panose="020B0604020202020204" pitchFamily="34" charset="0"/>
              <a:buChar char="•"/>
            </a:pPr>
            <a:r>
              <a:rPr lang="tr-TR" sz="1550" dirty="0">
                <a:latin typeface="+mn-lt"/>
              </a:rPr>
              <a:t>Bu kısım 7 yansıyı geçmemelidir.</a:t>
            </a:r>
          </a:p>
          <a:p>
            <a:pPr marL="651641" lvl="2" indent="-250631" algn="just">
              <a:buFont typeface="Arial" panose="020B0604020202020204" pitchFamily="34" charset="0"/>
              <a:buChar char="•"/>
            </a:pPr>
            <a:endParaRPr lang="tr-TR" sz="1550" dirty="0">
              <a:latin typeface="+mn-lt"/>
            </a:endParaRPr>
          </a:p>
          <a:p>
            <a:pPr marL="250631" lvl="1" indent="-250631" algn="just">
              <a:buFont typeface="Arial" panose="020B0604020202020204" pitchFamily="34" charset="0"/>
              <a:buChar char="•"/>
            </a:pPr>
            <a:endParaRPr lang="tr-TR" sz="1550" dirty="0">
              <a:latin typeface="+mn-lt"/>
            </a:endParaRPr>
          </a:p>
        </p:txBody>
      </p:sp>
      <p:pic>
        <p:nvPicPr>
          <p:cNvPr id="14"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276225"/>
            <a:ext cx="1063165" cy="1063165"/>
          </a:xfrm>
          <a:prstGeom prst="rect">
            <a:avLst/>
          </a:prstGeom>
        </p:spPr>
      </p:pic>
      <p:cxnSp>
        <p:nvCxnSpPr>
          <p:cNvPr id="5" name="Straight Connector 4"/>
          <p:cNvCxnSpPr/>
          <p:nvPr/>
        </p:nvCxnSpPr>
        <p:spPr>
          <a:xfrm flipV="1">
            <a:off x="0" y="132012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Title 1"/>
          <p:cNvSpPr txBox="1">
            <a:spLocks/>
          </p:cNvSpPr>
          <p:nvPr/>
        </p:nvSpPr>
        <p:spPr>
          <a:xfrm>
            <a:off x="1181032" y="494808"/>
            <a:ext cx="8240529" cy="658651"/>
          </a:xfrm>
          <a:prstGeom prst="rect">
            <a:avLst/>
          </a:prstGeom>
        </p:spPr>
        <p:txBody>
          <a:bodyPr vert="horz" lIns="80201" tIns="40100" rIns="80201" bIns="4010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3950" b="1" dirty="0">
                <a:solidFill>
                  <a:srgbClr val="0070C0"/>
                </a:solidFill>
                <a:latin typeface="+mn-lt"/>
                <a:cs typeface="Times New Roman" panose="02020603050405020304" pitchFamily="18" charset="0"/>
              </a:rPr>
              <a:t>Operasyon Konsepti (CONOPS) </a:t>
            </a:r>
          </a:p>
        </p:txBody>
      </p:sp>
      <p:sp>
        <p:nvSpPr>
          <p:cNvPr id="15" name="Footer Placeholder 8"/>
          <p:cNvSpPr>
            <a:spLocks noGrp="1"/>
          </p:cNvSpPr>
          <p:nvPr>
            <p:ph type="ftr" sz="quarter" idx="11"/>
          </p:nvPr>
        </p:nvSpPr>
        <p:spPr>
          <a:xfrm>
            <a:off x="3542189" y="6890180"/>
            <a:ext cx="3609023" cy="320245"/>
          </a:xfrm>
        </p:spPr>
        <p:txBody>
          <a:bodyPr/>
          <a:lstStyle/>
          <a:p>
            <a:pPr algn="ctr"/>
            <a:r>
              <a:rPr lang="tr-TR" dirty="0"/>
              <a:t>2026 TEKNOFEST DİKEY İNİŞLİ ROKET YARIŞMASI</a:t>
            </a:r>
          </a:p>
          <a:p>
            <a:pPr algn="ctr"/>
            <a:r>
              <a:rPr lang="tr-TR" dirty="0"/>
              <a:t>ATIŞA HAZIRLIK RAPORU (AHR)</a:t>
            </a:r>
          </a:p>
        </p:txBody>
      </p:sp>
      <p:sp>
        <p:nvSpPr>
          <p:cNvPr id="12" name="Dikdörtgen 11">
            <a:extLst>
              <a:ext uri="{FF2B5EF4-FFF2-40B4-BE49-F238E27FC236}">
                <a16:creationId xmlns:a16="http://schemas.microsoft.com/office/drawing/2014/main" id="{9812F093-62D1-4300-A4A0-3EE7684D9B24}"/>
              </a:ext>
            </a:extLst>
          </p:cNvPr>
          <p:cNvSpPr/>
          <p:nvPr/>
        </p:nvSpPr>
        <p:spPr>
          <a:xfrm>
            <a:off x="165100" y="6524625"/>
            <a:ext cx="8907360" cy="276999"/>
          </a:xfrm>
          <a:prstGeom prst="rect">
            <a:avLst/>
          </a:prstGeom>
        </p:spPr>
        <p:txBody>
          <a:bodyPr wrap="square">
            <a:spAutoFit/>
          </a:bodyPr>
          <a:lstStyle>
            <a:defPPr>
              <a:defRPr kern="0"/>
            </a:defPPr>
          </a:lstStyle>
          <a:p>
            <a:pPr marL="171450" indent="-171450" algn="just">
              <a:buFont typeface="Arial" panose="020B0604020202020204" pitchFamily="34" charset="0"/>
              <a:buChar char="•"/>
            </a:pPr>
            <a:r>
              <a:rPr lang="tr-TR" sz="1200" i="1" dirty="0">
                <a:latin typeface="+mn-lt"/>
              </a:rPr>
              <a:t>Bu bölümde şartnamede yer alan </a:t>
            </a:r>
            <a:r>
              <a:rPr lang="tr-TR" sz="1200" b="1" i="1" dirty="0"/>
              <a:t>4.3.3 ve 4.3.4 </a:t>
            </a:r>
            <a:r>
              <a:rPr lang="tr-TR" sz="1200" i="1" dirty="0">
                <a:latin typeface="+mn-lt"/>
              </a:rPr>
              <a:t>numaralı gereksinimlerin karşılanıp karşılanmadığı kontrol edilecektir. </a:t>
            </a:r>
          </a:p>
        </p:txBody>
      </p:sp>
      <p:sp>
        <p:nvSpPr>
          <p:cNvPr id="2" name="TextBox 1">
            <a:extLst>
              <a:ext uri="{FF2B5EF4-FFF2-40B4-BE49-F238E27FC236}">
                <a16:creationId xmlns:a16="http://schemas.microsoft.com/office/drawing/2014/main" id="{D40B54A6-6036-E968-0A9C-11D3C3FE4B6C}"/>
              </a:ext>
            </a:extLst>
          </p:cNvPr>
          <p:cNvSpPr txBox="1"/>
          <p:nvPr/>
        </p:nvSpPr>
        <p:spPr>
          <a:xfrm>
            <a:off x="6357" y="544652"/>
            <a:ext cx="1027922" cy="569387"/>
          </a:xfrm>
          <a:prstGeom prst="rect">
            <a:avLst/>
          </a:prstGeom>
          <a:noFill/>
          <a:ln>
            <a:solidFill>
              <a:schemeClr val="tx1"/>
            </a:solidFill>
          </a:ln>
        </p:spPr>
        <p:txBody>
          <a:bodyPr wrap="square" rtlCol="0">
            <a:spAutoFit/>
          </a:bodyPr>
          <a:lstStyle/>
          <a:p>
            <a:pPr algn="ctr"/>
            <a:r>
              <a:rPr lang="tr-TR" sz="1550" dirty="0">
                <a:latin typeface="+mn-lt"/>
              </a:rPr>
              <a:t>Takım Logosu</a:t>
            </a:r>
          </a:p>
        </p:txBody>
      </p:sp>
    </p:spTree>
    <p:extLst>
      <p:ext uri="{BB962C8B-B14F-4D97-AF65-F5344CB8AC3E}">
        <p14:creationId xmlns:p14="http://schemas.microsoft.com/office/powerpoint/2010/main" val="1025628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flipV="1">
            <a:off x="0" y="678851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9724145" y="6979608"/>
            <a:ext cx="201986" cy="161290"/>
          </a:xfrm>
        </p:spPr>
        <p:txBody>
          <a:bodyPr/>
          <a:lstStyle/>
          <a:p>
            <a:fld id="{87BEDC82-49FF-42E3-B7EA-26FF728940D5}" type="slidenum">
              <a:rPr lang="tr-TR" smtClean="0"/>
              <a:t>11</a:t>
            </a:fld>
            <a:endParaRPr lang="tr-TR"/>
          </a:p>
        </p:txBody>
      </p:sp>
      <p:sp>
        <p:nvSpPr>
          <p:cNvPr id="4" name="Date Placeholder 3"/>
          <p:cNvSpPr>
            <a:spLocks noGrp="1"/>
          </p:cNvSpPr>
          <p:nvPr>
            <p:ph type="dt" sz="half" idx="10"/>
          </p:nvPr>
        </p:nvSpPr>
        <p:spPr>
          <a:xfrm>
            <a:off x="802650" y="6979608"/>
            <a:ext cx="1321036" cy="161616"/>
          </a:xfrm>
        </p:spPr>
        <p:txBody>
          <a:bodyPr/>
          <a:lstStyle/>
          <a:p>
            <a:fld id="{6A2853D9-27B8-4F6E-B046-D689BBA79FBF}" type="datetime2">
              <a:rPr lang="tr-TR" smtClean="0"/>
              <a:t>3 Temmuz 2026 Cuma</a:t>
            </a:fld>
            <a:endParaRPr lang="tr-TR" dirty="0"/>
          </a:p>
        </p:txBody>
      </p:sp>
      <p:sp>
        <p:nvSpPr>
          <p:cNvPr id="10" name="TextBox 9"/>
          <p:cNvSpPr txBox="1"/>
          <p:nvPr/>
        </p:nvSpPr>
        <p:spPr>
          <a:xfrm>
            <a:off x="202447" y="1764238"/>
            <a:ext cx="9959370" cy="569387"/>
          </a:xfrm>
          <a:prstGeom prst="rect">
            <a:avLst/>
          </a:prstGeom>
          <a:noFill/>
        </p:spPr>
        <p:txBody>
          <a:bodyPr wrap="square" rtlCol="0">
            <a:spAutoFit/>
          </a:bodyPr>
          <a:lstStyle/>
          <a:p>
            <a:pPr marL="686760" lvl="2" indent="-285750" algn="just">
              <a:buFont typeface="Arial" panose="020B0604020202020204" pitchFamily="34" charset="0"/>
              <a:buChar char="•"/>
            </a:pPr>
            <a:r>
              <a:rPr lang="tr-TR" sz="1550" dirty="0">
                <a:latin typeface="+mn-lt"/>
              </a:rPr>
              <a:t>Atış öncesi hazırlık aşamasındaki (montaj, dolum, kontrol, test vb.) süreçler, </a:t>
            </a:r>
            <a:r>
              <a:rPr lang="tr-TR" sz="1550" b="1" dirty="0">
                <a:latin typeface="+mn-lt"/>
              </a:rPr>
              <a:t>Atış Öncesi Süreç Tablosunda</a:t>
            </a:r>
            <a:r>
              <a:rPr lang="tr-TR" sz="1550" dirty="0">
                <a:latin typeface="+mn-lt"/>
              </a:rPr>
              <a:t> detaylarıyla belirtilmelidir.</a:t>
            </a:r>
          </a:p>
        </p:txBody>
      </p:sp>
      <p:pic>
        <p:nvPicPr>
          <p:cNvPr id="14"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276225"/>
            <a:ext cx="1063165" cy="1063165"/>
          </a:xfrm>
          <a:prstGeom prst="rect">
            <a:avLst/>
          </a:prstGeom>
        </p:spPr>
      </p:pic>
      <p:cxnSp>
        <p:nvCxnSpPr>
          <p:cNvPr id="5" name="Straight Connector 4"/>
          <p:cNvCxnSpPr/>
          <p:nvPr/>
        </p:nvCxnSpPr>
        <p:spPr>
          <a:xfrm flipV="1">
            <a:off x="0" y="132012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Title 1"/>
          <p:cNvSpPr txBox="1">
            <a:spLocks/>
          </p:cNvSpPr>
          <p:nvPr/>
        </p:nvSpPr>
        <p:spPr>
          <a:xfrm>
            <a:off x="1181032" y="494808"/>
            <a:ext cx="8240529" cy="658651"/>
          </a:xfrm>
          <a:prstGeom prst="rect">
            <a:avLst/>
          </a:prstGeom>
        </p:spPr>
        <p:txBody>
          <a:bodyPr vert="horz" lIns="80201" tIns="40100" rIns="80201" bIns="4010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3950" b="1" dirty="0">
                <a:solidFill>
                  <a:srgbClr val="0070C0"/>
                </a:solidFill>
                <a:latin typeface="+mn-lt"/>
                <a:cs typeface="Times New Roman" panose="02020603050405020304" pitchFamily="18" charset="0"/>
              </a:rPr>
              <a:t>Operasyon Konsepti (CONOPS) </a:t>
            </a:r>
          </a:p>
        </p:txBody>
      </p:sp>
      <p:graphicFrame>
        <p:nvGraphicFramePr>
          <p:cNvPr id="2" name="Table 1"/>
          <p:cNvGraphicFramePr>
            <a:graphicFrameLocks noGrp="1"/>
          </p:cNvGraphicFramePr>
          <p:nvPr>
            <p:extLst>
              <p:ext uri="{D42A27DB-BD31-4B8C-83A1-F6EECF244321}">
                <p14:modId xmlns:p14="http://schemas.microsoft.com/office/powerpoint/2010/main" val="1182159804"/>
              </p:ext>
            </p:extLst>
          </p:nvPr>
        </p:nvGraphicFramePr>
        <p:xfrm>
          <a:off x="1131158" y="2440774"/>
          <a:ext cx="8431085" cy="3704854"/>
        </p:xfrm>
        <a:graphic>
          <a:graphicData uri="http://schemas.openxmlformats.org/drawingml/2006/table">
            <a:tbl>
              <a:tblPr firstRow="1" bandRow="1">
                <a:tableStyleId>{5C22544A-7EE6-4342-B048-85BDC9FD1C3A}</a:tableStyleId>
              </a:tblPr>
              <a:tblGrid>
                <a:gridCol w="894543">
                  <a:extLst>
                    <a:ext uri="{9D8B030D-6E8A-4147-A177-3AD203B41FA5}">
                      <a16:colId xmlns:a16="http://schemas.microsoft.com/office/drawing/2014/main" val="364616303"/>
                    </a:ext>
                  </a:extLst>
                </a:gridCol>
                <a:gridCol w="1135171">
                  <a:extLst>
                    <a:ext uri="{9D8B030D-6E8A-4147-A177-3AD203B41FA5}">
                      <a16:colId xmlns:a16="http://schemas.microsoft.com/office/drawing/2014/main" val="950612237"/>
                    </a:ext>
                  </a:extLst>
                </a:gridCol>
                <a:gridCol w="2939404">
                  <a:extLst>
                    <a:ext uri="{9D8B030D-6E8A-4147-A177-3AD203B41FA5}">
                      <a16:colId xmlns:a16="http://schemas.microsoft.com/office/drawing/2014/main" val="2735736646"/>
                    </a:ext>
                  </a:extLst>
                </a:gridCol>
                <a:gridCol w="1362016">
                  <a:extLst>
                    <a:ext uri="{9D8B030D-6E8A-4147-A177-3AD203B41FA5}">
                      <a16:colId xmlns:a16="http://schemas.microsoft.com/office/drawing/2014/main" val="85032399"/>
                    </a:ext>
                  </a:extLst>
                </a:gridCol>
                <a:gridCol w="2099951">
                  <a:extLst>
                    <a:ext uri="{9D8B030D-6E8A-4147-A177-3AD203B41FA5}">
                      <a16:colId xmlns:a16="http://schemas.microsoft.com/office/drawing/2014/main" val="2656756140"/>
                    </a:ext>
                  </a:extLst>
                </a:gridCol>
              </a:tblGrid>
              <a:tr h="336832">
                <a:tc grid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sz="1550" i="1" dirty="0"/>
                        <a:t>ATIŞ ÖNCESİ SÜREÇ TABLOSU</a:t>
                      </a:r>
                    </a:p>
                  </a:txBody>
                  <a:tcPr marL="80201" marR="80201" marT="40100" marB="40100" anchor="ctr">
                    <a:solidFill>
                      <a:schemeClr val="accent1"/>
                    </a:solidFill>
                  </a:tcPr>
                </a:tc>
                <a:tc hMerge="1">
                  <a:txBody>
                    <a:bodyPr/>
                    <a:lstStyle/>
                    <a:p>
                      <a:pPr algn="ctr"/>
                      <a:endParaRPr lang="tr-TR" dirty="0"/>
                    </a:p>
                  </a:txBody>
                  <a:tcPr/>
                </a:tc>
                <a:tc hMerge="1">
                  <a:txBody>
                    <a:bodyPr/>
                    <a:lstStyle/>
                    <a:p>
                      <a:pPr algn="ctr"/>
                      <a:endParaRPr lang="tr-TR" dirty="0"/>
                    </a:p>
                  </a:txBody>
                  <a:tcPr/>
                </a:tc>
                <a:tc hMerge="1">
                  <a:txBody>
                    <a:bodyPr/>
                    <a:lstStyle/>
                    <a:p>
                      <a:pPr algn="ctr"/>
                      <a:endParaRPr lang="tr-TR" dirty="0"/>
                    </a:p>
                  </a:txBody>
                  <a:tcPr/>
                </a:tc>
                <a:tc hMerge="1">
                  <a:txBody>
                    <a:bodyPr/>
                    <a:lstStyle/>
                    <a:p>
                      <a:pPr algn="ctr"/>
                      <a:endParaRPr lang="tr-TR" dirty="0"/>
                    </a:p>
                  </a:txBody>
                  <a:tcPr/>
                </a:tc>
                <a:extLst>
                  <a:ext uri="{0D108BD9-81ED-4DB2-BD59-A6C34878D82A}">
                    <a16:rowId xmlns:a16="http://schemas.microsoft.com/office/drawing/2014/main" val="2077965760"/>
                  </a:ext>
                </a:extLst>
              </a:tr>
              <a:tr h="589457">
                <a:tc>
                  <a:txBody>
                    <a:bodyPr/>
                    <a:lstStyle/>
                    <a:p>
                      <a:pPr algn="ctr"/>
                      <a:r>
                        <a:rPr lang="tr-TR" sz="1550" dirty="0"/>
                        <a:t>İşlemin sırası</a:t>
                      </a:r>
                    </a:p>
                  </a:txBody>
                  <a:tcPr marL="80201" marR="80201" marT="40100" marB="40100" anchor="ctr">
                    <a:solidFill>
                      <a:schemeClr val="accent1"/>
                    </a:solidFill>
                  </a:tcPr>
                </a:tc>
                <a:tc>
                  <a:txBody>
                    <a:bodyPr/>
                    <a:lstStyle/>
                    <a:p>
                      <a:pPr algn="ctr"/>
                      <a:r>
                        <a:rPr lang="tr-TR" sz="1550" dirty="0"/>
                        <a:t>Süreç</a:t>
                      </a:r>
                      <a:r>
                        <a:rPr lang="tr-TR" sz="1550" baseline="0" dirty="0"/>
                        <a:t> Kodu</a:t>
                      </a:r>
                      <a:endParaRPr lang="tr-TR" sz="1550" dirty="0"/>
                    </a:p>
                  </a:txBody>
                  <a:tcPr marL="80201" marR="80201" marT="40100" marB="40100" anchor="ctr">
                    <a:solidFill>
                      <a:schemeClr val="accent1"/>
                    </a:solidFill>
                  </a:tcPr>
                </a:tc>
                <a:tc>
                  <a:txBody>
                    <a:bodyPr/>
                    <a:lstStyle/>
                    <a:p>
                      <a:pPr algn="ctr"/>
                      <a:r>
                        <a:rPr lang="tr-TR" sz="1550" dirty="0"/>
                        <a:t>Görevli personel/personeller</a:t>
                      </a:r>
                    </a:p>
                  </a:txBody>
                  <a:tcPr marL="80201" marR="80201" marT="40100" marB="40100" anchor="ctr">
                    <a:solidFill>
                      <a:schemeClr val="accent1"/>
                    </a:solidFill>
                  </a:tcPr>
                </a:tc>
                <a:tc>
                  <a:txBody>
                    <a:bodyPr/>
                    <a:lstStyle/>
                    <a:p>
                      <a:pPr algn="ctr"/>
                      <a:r>
                        <a:rPr lang="tr-TR" sz="1550" dirty="0"/>
                        <a:t>Süreç Tanımı</a:t>
                      </a:r>
                    </a:p>
                  </a:txBody>
                  <a:tcPr marL="80201" marR="80201" marT="40100" marB="40100" anchor="ctr">
                    <a:solidFill>
                      <a:schemeClr val="accent1"/>
                    </a:solidFill>
                  </a:tcPr>
                </a:tc>
                <a:tc>
                  <a:txBody>
                    <a:bodyPr/>
                    <a:lstStyle/>
                    <a:p>
                      <a:pPr algn="ctr"/>
                      <a:r>
                        <a:rPr lang="tr-TR" sz="1550" dirty="0"/>
                        <a:t>Risk Faktörleri</a:t>
                      </a:r>
                    </a:p>
                  </a:txBody>
                  <a:tcPr marL="80201" marR="80201" marT="40100" marB="40100" anchor="ctr">
                    <a:solidFill>
                      <a:schemeClr val="accent1"/>
                    </a:solidFill>
                  </a:tcPr>
                </a:tc>
                <a:extLst>
                  <a:ext uri="{0D108BD9-81ED-4DB2-BD59-A6C34878D82A}">
                    <a16:rowId xmlns:a16="http://schemas.microsoft.com/office/drawing/2014/main" val="3384376070"/>
                  </a:ext>
                </a:extLst>
              </a:tr>
              <a:tr h="555713">
                <a:tc>
                  <a:txBody>
                    <a:bodyPr/>
                    <a:lstStyle/>
                    <a:p>
                      <a:pPr algn="ctr"/>
                      <a:r>
                        <a:rPr lang="tr-TR" sz="1550" dirty="0">
                          <a:latin typeface="+mn-lt"/>
                        </a:rPr>
                        <a:t>1</a:t>
                      </a:r>
                    </a:p>
                  </a:txBody>
                  <a:tcPr marL="80201" marR="80201" marT="40100" marB="40100" anchor="ctr"/>
                </a:tc>
                <a:tc>
                  <a:txBody>
                    <a:bodyPr/>
                    <a:lstStyle/>
                    <a:p>
                      <a:pPr algn="ctr"/>
                      <a:r>
                        <a:rPr lang="tr-TR" sz="1550" dirty="0">
                          <a:latin typeface="+mn-lt"/>
                        </a:rPr>
                        <a:t>A001</a:t>
                      </a:r>
                    </a:p>
                  </a:txBody>
                  <a:tcPr marL="80201" marR="80201" marT="40100" marB="40100" anchor="ctr"/>
                </a:tc>
                <a:tc>
                  <a:txBody>
                    <a:bodyPr/>
                    <a:lstStyle/>
                    <a:p>
                      <a:pPr algn="ctr"/>
                      <a:r>
                        <a:rPr lang="tr-TR" sz="1550" dirty="0">
                          <a:latin typeface="+mn-lt"/>
                        </a:rPr>
                        <a:t>İsim</a:t>
                      </a:r>
                      <a:r>
                        <a:rPr lang="tr-TR" sz="1550" baseline="0" dirty="0">
                          <a:latin typeface="+mn-lt"/>
                        </a:rPr>
                        <a:t> – Soyisim (varsa birden fazla)</a:t>
                      </a:r>
                      <a:endParaRPr lang="tr-TR" sz="1550" dirty="0">
                        <a:latin typeface="+mn-lt"/>
                      </a:endParaRPr>
                    </a:p>
                  </a:txBody>
                  <a:tcPr marL="80201" marR="80201" marT="40100" marB="40100" anchor="ctr"/>
                </a:tc>
                <a:tc>
                  <a:txBody>
                    <a:bodyPr/>
                    <a:lstStyle/>
                    <a:p>
                      <a:pPr algn="ctr"/>
                      <a:r>
                        <a:rPr lang="tr-TR" sz="1550" dirty="0">
                          <a:latin typeface="+mn-lt"/>
                        </a:rPr>
                        <a:t>İlgili Açıklama </a:t>
                      </a:r>
                    </a:p>
                  </a:txBody>
                  <a:tcPr marL="80201" marR="80201" marT="40100" marB="40100" anchor="ctr"/>
                </a:tc>
                <a:tc>
                  <a:txBody>
                    <a:bodyPr/>
                    <a:lstStyle/>
                    <a:p>
                      <a:pPr algn="ctr"/>
                      <a:r>
                        <a:rPr lang="tr-TR" sz="1550" dirty="0">
                          <a:latin typeface="+mn-lt"/>
                        </a:rPr>
                        <a:t>Oluşabilecek sorunlar</a:t>
                      </a:r>
                    </a:p>
                  </a:txBody>
                  <a:tcPr marL="80201" marR="80201" marT="40100" marB="40100" anchor="ctr"/>
                </a:tc>
                <a:extLst>
                  <a:ext uri="{0D108BD9-81ED-4DB2-BD59-A6C34878D82A}">
                    <a16:rowId xmlns:a16="http://schemas.microsoft.com/office/drawing/2014/main" val="2016818755"/>
                  </a:ext>
                </a:extLst>
              </a:tr>
              <a:tr h="555713">
                <a:tc>
                  <a:txBody>
                    <a:bodyPr/>
                    <a:lstStyle/>
                    <a:p>
                      <a:pPr algn="ctr"/>
                      <a:r>
                        <a:rPr lang="tr-TR" sz="1550" dirty="0">
                          <a:latin typeface="+mn-lt"/>
                        </a:rPr>
                        <a:t>2</a:t>
                      </a:r>
                    </a:p>
                  </a:txBody>
                  <a:tcPr marL="80201" marR="80201" marT="40100" marB="40100" anchor="ctr"/>
                </a:tc>
                <a:tc>
                  <a:txBody>
                    <a:bodyPr/>
                    <a:lstStyle/>
                    <a:p>
                      <a:pPr algn="ctr"/>
                      <a:r>
                        <a:rPr lang="tr-TR" sz="1550" dirty="0">
                          <a:latin typeface="+mn-lt"/>
                        </a:rPr>
                        <a:t>A002</a:t>
                      </a: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tr-TR" sz="1550" b="0" i="0" u="none" strike="noStrike" kern="1200" cap="none" spc="0" normalizeH="0" baseline="0" noProof="0" dirty="0">
                          <a:ln>
                            <a:noFill/>
                          </a:ln>
                          <a:solidFill>
                            <a:prstClr val="black"/>
                          </a:solidFill>
                          <a:effectLst/>
                          <a:uLnTx/>
                          <a:uFillTx/>
                          <a:latin typeface="+mn-lt"/>
                          <a:ea typeface="+mn-ea"/>
                          <a:cs typeface="+mn-cs"/>
                        </a:rPr>
                        <a:t>İsim – Soyisim (varsa birden fazla)</a:t>
                      </a: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İlgili Açıklama </a:t>
                      </a: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Oluşabilecek sorunlar</a:t>
                      </a:r>
                    </a:p>
                  </a:txBody>
                  <a:tcPr marL="80201" marR="80201" marT="40100" marB="40100" anchor="ctr"/>
                </a:tc>
                <a:extLst>
                  <a:ext uri="{0D108BD9-81ED-4DB2-BD59-A6C34878D82A}">
                    <a16:rowId xmlns:a16="http://schemas.microsoft.com/office/drawing/2014/main" val="2908565972"/>
                  </a:ext>
                </a:extLst>
              </a:tr>
              <a:tr h="555713">
                <a:tc>
                  <a:txBody>
                    <a:bodyPr/>
                    <a:lstStyle/>
                    <a:p>
                      <a:pPr algn="ctr"/>
                      <a:r>
                        <a:rPr lang="tr-TR" sz="1550" dirty="0">
                          <a:latin typeface="+mn-lt"/>
                        </a:rPr>
                        <a:t>3</a:t>
                      </a: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A003</a:t>
                      </a: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tr-TR" sz="1550" b="0" i="0" u="none" strike="noStrike" kern="1200" cap="none" spc="0" normalizeH="0" baseline="0" noProof="0" dirty="0">
                          <a:ln>
                            <a:noFill/>
                          </a:ln>
                          <a:solidFill>
                            <a:prstClr val="black"/>
                          </a:solidFill>
                          <a:effectLst/>
                          <a:uLnTx/>
                          <a:uFillTx/>
                          <a:latin typeface="+mn-lt"/>
                          <a:ea typeface="+mn-ea"/>
                          <a:cs typeface="+mn-cs"/>
                        </a:rPr>
                        <a:t>İsim – Soyisim (varsa birden fazla)</a:t>
                      </a: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İlgili Açıklama </a:t>
                      </a: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Oluşabilecek sorunlar</a:t>
                      </a:r>
                    </a:p>
                  </a:txBody>
                  <a:tcPr marL="80201" marR="80201" marT="40100" marB="40100" anchor="ctr"/>
                </a:tc>
                <a:extLst>
                  <a:ext uri="{0D108BD9-81ED-4DB2-BD59-A6C34878D82A}">
                    <a16:rowId xmlns:a16="http://schemas.microsoft.com/office/drawing/2014/main" val="447569673"/>
                  </a:ext>
                </a:extLst>
              </a:tr>
              <a:tr h="555713">
                <a:tc>
                  <a:txBody>
                    <a:bodyPr/>
                    <a:lstStyle/>
                    <a:p>
                      <a:pPr algn="ctr"/>
                      <a:r>
                        <a:rPr lang="tr-TR" sz="1550" dirty="0">
                          <a:latin typeface="+mn-lt"/>
                        </a:rPr>
                        <a:t>4</a:t>
                      </a:r>
                    </a:p>
                  </a:txBody>
                  <a:tcPr marL="80201" marR="80201" marT="40100" marB="40100" anchor="ctr"/>
                </a:tc>
                <a:tc>
                  <a:txBody>
                    <a:bodyPr/>
                    <a:lstStyle/>
                    <a:p>
                      <a:pPr algn="ctr"/>
                      <a:r>
                        <a:rPr lang="tr-TR" sz="1550" dirty="0">
                          <a:latin typeface="+mn-lt"/>
                        </a:rPr>
                        <a:t>A004</a:t>
                      </a: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tr-TR" sz="1550" b="0" i="0" u="none" strike="noStrike" kern="1200" cap="none" spc="0" normalizeH="0" baseline="0" noProof="0">
                          <a:ln>
                            <a:noFill/>
                          </a:ln>
                          <a:solidFill>
                            <a:prstClr val="black"/>
                          </a:solidFill>
                          <a:effectLst/>
                          <a:uLnTx/>
                          <a:uFillTx/>
                          <a:latin typeface="+mn-lt"/>
                          <a:ea typeface="+mn-ea"/>
                          <a:cs typeface="+mn-cs"/>
                        </a:rPr>
                        <a:t>İsim – Soyisim (varsa birden fazla)</a:t>
                      </a:r>
                      <a:endParaRPr kumimoji="0" lang="tr-TR" sz="1550" b="0" i="0" u="none" strike="noStrike" kern="1200" cap="none" spc="0" normalizeH="0" baseline="0" noProof="0" dirty="0">
                        <a:ln>
                          <a:noFill/>
                        </a:ln>
                        <a:solidFill>
                          <a:prstClr val="black"/>
                        </a:solidFill>
                        <a:effectLst/>
                        <a:uLnTx/>
                        <a:uFillTx/>
                        <a:latin typeface="+mn-lt"/>
                        <a:ea typeface="+mn-ea"/>
                        <a:cs typeface="+mn-cs"/>
                      </a:endParaRP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İlgili Açıklama </a:t>
                      </a: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Oluşabilecek sorunlar</a:t>
                      </a:r>
                    </a:p>
                  </a:txBody>
                  <a:tcPr marL="80201" marR="80201" marT="40100" marB="40100" anchor="ctr"/>
                </a:tc>
                <a:extLst>
                  <a:ext uri="{0D108BD9-81ED-4DB2-BD59-A6C34878D82A}">
                    <a16:rowId xmlns:a16="http://schemas.microsoft.com/office/drawing/2014/main" val="1043043862"/>
                  </a:ext>
                </a:extLst>
              </a:tr>
              <a:tr h="555713">
                <a:tc>
                  <a:txBody>
                    <a:bodyPr/>
                    <a:lstStyle/>
                    <a:p>
                      <a:pPr algn="ctr"/>
                      <a:r>
                        <a:rPr lang="tr-TR" sz="1550" dirty="0">
                          <a:latin typeface="+mn-lt"/>
                        </a:rPr>
                        <a:t>5</a:t>
                      </a:r>
                    </a:p>
                  </a:txBody>
                  <a:tcPr marL="80201" marR="80201" marT="40100" marB="40100" anchor="ctr"/>
                </a:tc>
                <a:tc>
                  <a:txBody>
                    <a:bodyPr/>
                    <a:lstStyle/>
                    <a:p>
                      <a:pPr algn="ctr"/>
                      <a:r>
                        <a:rPr lang="tr-TR" sz="1550" dirty="0">
                          <a:latin typeface="+mn-lt"/>
                        </a:rPr>
                        <a:t>A005</a:t>
                      </a: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tr-TR" sz="1550" b="0" i="0" u="none" strike="noStrike" kern="1200" cap="none" spc="0" normalizeH="0" baseline="0" noProof="0" dirty="0">
                          <a:ln>
                            <a:noFill/>
                          </a:ln>
                          <a:solidFill>
                            <a:prstClr val="black"/>
                          </a:solidFill>
                          <a:effectLst/>
                          <a:uLnTx/>
                          <a:uFillTx/>
                          <a:latin typeface="+mn-lt"/>
                          <a:ea typeface="+mn-ea"/>
                          <a:cs typeface="+mn-cs"/>
                        </a:rPr>
                        <a:t>İsim – Soyisim (varsa birden fazla)</a:t>
                      </a: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İlgili Açıklama </a:t>
                      </a: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Oluşabilecek sorunlar</a:t>
                      </a:r>
                    </a:p>
                    <a:p>
                      <a:pPr algn="ctr"/>
                      <a:endParaRPr lang="tr-TR" sz="1550" dirty="0">
                        <a:latin typeface="+mn-lt"/>
                      </a:endParaRPr>
                    </a:p>
                  </a:txBody>
                  <a:tcPr marL="80201" marR="80201" marT="40100" marB="40100" anchor="ctr"/>
                </a:tc>
                <a:extLst>
                  <a:ext uri="{0D108BD9-81ED-4DB2-BD59-A6C34878D82A}">
                    <a16:rowId xmlns:a16="http://schemas.microsoft.com/office/drawing/2014/main" val="1914443479"/>
                  </a:ext>
                </a:extLst>
              </a:tr>
            </a:tbl>
          </a:graphicData>
        </a:graphic>
      </p:graphicFrame>
      <p:sp>
        <p:nvSpPr>
          <p:cNvPr id="12" name="Footer Placeholder 8"/>
          <p:cNvSpPr>
            <a:spLocks noGrp="1"/>
          </p:cNvSpPr>
          <p:nvPr>
            <p:ph type="ftr" sz="quarter" idx="11"/>
          </p:nvPr>
        </p:nvSpPr>
        <p:spPr>
          <a:xfrm>
            <a:off x="3542189" y="6890180"/>
            <a:ext cx="3609023" cy="320245"/>
          </a:xfrm>
        </p:spPr>
        <p:txBody>
          <a:bodyPr/>
          <a:lstStyle/>
          <a:p>
            <a:pPr algn="ctr"/>
            <a:r>
              <a:rPr lang="tr-TR" dirty="0"/>
              <a:t>2026 TEKNOFEST DİKEY İNİŞLİ ROKET YARIŞMASI</a:t>
            </a:r>
          </a:p>
          <a:p>
            <a:pPr algn="ctr"/>
            <a:r>
              <a:rPr lang="tr-TR" dirty="0"/>
              <a:t>ATIŞA HAZIRLIK RAPORU (AHR)</a:t>
            </a:r>
          </a:p>
        </p:txBody>
      </p:sp>
      <p:sp>
        <p:nvSpPr>
          <p:cNvPr id="13" name="TextBox 12"/>
          <p:cNvSpPr txBox="1"/>
          <p:nvPr/>
        </p:nvSpPr>
        <p:spPr>
          <a:xfrm rot="19567001">
            <a:off x="3162680" y="3833425"/>
            <a:ext cx="4059125" cy="983218"/>
          </a:xfrm>
          <a:prstGeom prst="rect">
            <a:avLst/>
          </a:prstGeom>
          <a:noFill/>
        </p:spPr>
        <p:txBody>
          <a:bodyPr wrap="none" rtlCol="0">
            <a:spAutoFit/>
          </a:bodyPr>
          <a:lstStyle/>
          <a:p>
            <a:r>
              <a:rPr lang="tr-TR" sz="5789" b="1" dirty="0">
                <a:solidFill>
                  <a:srgbClr val="FF0000"/>
                </a:solidFill>
              </a:rPr>
              <a:t>ÖRNEKTİR</a:t>
            </a:r>
          </a:p>
        </p:txBody>
      </p:sp>
      <p:sp>
        <p:nvSpPr>
          <p:cNvPr id="7" name="TextBox 6">
            <a:extLst>
              <a:ext uri="{FF2B5EF4-FFF2-40B4-BE49-F238E27FC236}">
                <a16:creationId xmlns:a16="http://schemas.microsoft.com/office/drawing/2014/main" id="{A16CAC8A-B6A9-F50C-4442-9FC6EFCB82F2}"/>
              </a:ext>
            </a:extLst>
          </p:cNvPr>
          <p:cNvSpPr txBox="1"/>
          <p:nvPr/>
        </p:nvSpPr>
        <p:spPr>
          <a:xfrm>
            <a:off x="6357" y="544652"/>
            <a:ext cx="1027922" cy="569387"/>
          </a:xfrm>
          <a:prstGeom prst="rect">
            <a:avLst/>
          </a:prstGeom>
          <a:noFill/>
          <a:ln>
            <a:solidFill>
              <a:schemeClr val="tx1"/>
            </a:solidFill>
          </a:ln>
        </p:spPr>
        <p:txBody>
          <a:bodyPr wrap="square" rtlCol="0">
            <a:spAutoFit/>
          </a:bodyPr>
          <a:lstStyle/>
          <a:p>
            <a:pPr algn="ctr"/>
            <a:r>
              <a:rPr lang="tr-TR" sz="1550" dirty="0">
                <a:latin typeface="+mn-lt"/>
              </a:rPr>
              <a:t>Takım Logosu</a:t>
            </a:r>
          </a:p>
        </p:txBody>
      </p:sp>
    </p:spTree>
    <p:extLst>
      <p:ext uri="{BB962C8B-B14F-4D97-AF65-F5344CB8AC3E}">
        <p14:creationId xmlns:p14="http://schemas.microsoft.com/office/powerpoint/2010/main" val="2505907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flipV="1">
            <a:off x="0" y="678851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9724145" y="6979608"/>
            <a:ext cx="201986" cy="161290"/>
          </a:xfrm>
        </p:spPr>
        <p:txBody>
          <a:bodyPr/>
          <a:lstStyle/>
          <a:p>
            <a:fld id="{87BEDC82-49FF-42E3-B7EA-26FF728940D5}" type="slidenum">
              <a:rPr lang="tr-TR" smtClean="0"/>
              <a:t>12</a:t>
            </a:fld>
            <a:endParaRPr lang="tr-TR"/>
          </a:p>
        </p:txBody>
      </p:sp>
      <p:sp>
        <p:nvSpPr>
          <p:cNvPr id="4" name="Date Placeholder 3"/>
          <p:cNvSpPr>
            <a:spLocks noGrp="1"/>
          </p:cNvSpPr>
          <p:nvPr>
            <p:ph type="dt" sz="half" idx="10"/>
          </p:nvPr>
        </p:nvSpPr>
        <p:spPr>
          <a:xfrm>
            <a:off x="802650" y="6979608"/>
            <a:ext cx="1321036" cy="161616"/>
          </a:xfrm>
        </p:spPr>
        <p:txBody>
          <a:bodyPr/>
          <a:lstStyle/>
          <a:p>
            <a:fld id="{872BC01C-F77F-4F04-95FF-68B28D342D6C}" type="datetime2">
              <a:rPr lang="tr-TR" smtClean="0"/>
              <a:t>3 Temmuz 2026 Cuma</a:t>
            </a:fld>
            <a:endParaRPr lang="tr-TR" dirty="0"/>
          </a:p>
        </p:txBody>
      </p:sp>
      <p:sp>
        <p:nvSpPr>
          <p:cNvPr id="10" name="TextBox 9"/>
          <p:cNvSpPr txBox="1"/>
          <p:nvPr/>
        </p:nvSpPr>
        <p:spPr>
          <a:xfrm>
            <a:off x="88900" y="1840438"/>
            <a:ext cx="10013874" cy="569387"/>
          </a:xfrm>
          <a:prstGeom prst="rect">
            <a:avLst/>
          </a:prstGeom>
          <a:noFill/>
        </p:spPr>
        <p:txBody>
          <a:bodyPr wrap="square" rtlCol="0">
            <a:spAutoFit/>
          </a:bodyPr>
          <a:lstStyle/>
          <a:p>
            <a:pPr marL="686760" lvl="2" indent="-285750" algn="just">
              <a:buFont typeface="Arial" panose="020B0604020202020204" pitchFamily="34" charset="0"/>
              <a:buChar char="•"/>
            </a:pPr>
            <a:r>
              <a:rPr lang="tr-TR" sz="1550" dirty="0">
                <a:latin typeface="+mn-lt"/>
              </a:rPr>
              <a:t>Roketin vince yüklenişinden yere inişine kadar gerçekleşen süreçler, </a:t>
            </a:r>
            <a:r>
              <a:rPr lang="tr-TR" sz="1550" b="1" dirty="0">
                <a:latin typeface="+mn-lt"/>
              </a:rPr>
              <a:t>Operasyon Süreç Tablosunda </a:t>
            </a:r>
            <a:r>
              <a:rPr lang="tr-TR" sz="1550" dirty="0">
                <a:latin typeface="+mn-lt"/>
              </a:rPr>
              <a:t>detaylarıyla belirtilmelidir.</a:t>
            </a:r>
          </a:p>
        </p:txBody>
      </p:sp>
      <p:pic>
        <p:nvPicPr>
          <p:cNvPr id="14"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276225"/>
            <a:ext cx="1063165" cy="1063165"/>
          </a:xfrm>
          <a:prstGeom prst="rect">
            <a:avLst/>
          </a:prstGeom>
        </p:spPr>
      </p:pic>
      <p:cxnSp>
        <p:nvCxnSpPr>
          <p:cNvPr id="5" name="Straight Connector 4"/>
          <p:cNvCxnSpPr/>
          <p:nvPr/>
        </p:nvCxnSpPr>
        <p:spPr>
          <a:xfrm flipV="1">
            <a:off x="0" y="132012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Title 1"/>
          <p:cNvSpPr txBox="1">
            <a:spLocks/>
          </p:cNvSpPr>
          <p:nvPr/>
        </p:nvSpPr>
        <p:spPr>
          <a:xfrm>
            <a:off x="1181032" y="494808"/>
            <a:ext cx="8240529" cy="658651"/>
          </a:xfrm>
          <a:prstGeom prst="rect">
            <a:avLst/>
          </a:prstGeom>
        </p:spPr>
        <p:txBody>
          <a:bodyPr vert="horz" lIns="80201" tIns="40100" rIns="80201" bIns="4010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3950" b="1" dirty="0">
                <a:solidFill>
                  <a:srgbClr val="0070C0"/>
                </a:solidFill>
                <a:latin typeface="+mn-lt"/>
                <a:cs typeface="Times New Roman" panose="02020603050405020304" pitchFamily="18" charset="0"/>
              </a:rPr>
              <a:t>Operasyon Konsepti (CONOPS) </a:t>
            </a:r>
          </a:p>
        </p:txBody>
      </p:sp>
      <p:graphicFrame>
        <p:nvGraphicFramePr>
          <p:cNvPr id="2" name="Table 1"/>
          <p:cNvGraphicFramePr>
            <a:graphicFrameLocks noGrp="1"/>
          </p:cNvGraphicFramePr>
          <p:nvPr>
            <p:extLst>
              <p:ext uri="{D42A27DB-BD31-4B8C-83A1-F6EECF244321}">
                <p14:modId xmlns:p14="http://schemas.microsoft.com/office/powerpoint/2010/main" val="4065425515"/>
              </p:ext>
            </p:extLst>
          </p:nvPr>
        </p:nvGraphicFramePr>
        <p:xfrm>
          <a:off x="909594" y="2517080"/>
          <a:ext cx="8874214" cy="3645406"/>
        </p:xfrm>
        <a:graphic>
          <a:graphicData uri="http://schemas.openxmlformats.org/drawingml/2006/table">
            <a:tbl>
              <a:tblPr firstRow="1" bandRow="1">
                <a:tableStyleId>{5C22544A-7EE6-4342-B048-85BDC9FD1C3A}</a:tableStyleId>
              </a:tblPr>
              <a:tblGrid>
                <a:gridCol w="770131">
                  <a:extLst>
                    <a:ext uri="{9D8B030D-6E8A-4147-A177-3AD203B41FA5}">
                      <a16:colId xmlns:a16="http://schemas.microsoft.com/office/drawing/2014/main" val="364616303"/>
                    </a:ext>
                  </a:extLst>
                </a:gridCol>
                <a:gridCol w="977293">
                  <a:extLst>
                    <a:ext uri="{9D8B030D-6E8A-4147-A177-3AD203B41FA5}">
                      <a16:colId xmlns:a16="http://schemas.microsoft.com/office/drawing/2014/main" val="950612237"/>
                    </a:ext>
                  </a:extLst>
                </a:gridCol>
                <a:gridCol w="2624840">
                  <a:extLst>
                    <a:ext uri="{9D8B030D-6E8A-4147-A177-3AD203B41FA5}">
                      <a16:colId xmlns:a16="http://schemas.microsoft.com/office/drawing/2014/main" val="2735736646"/>
                    </a:ext>
                  </a:extLst>
                </a:gridCol>
                <a:gridCol w="1172588">
                  <a:extLst>
                    <a:ext uri="{9D8B030D-6E8A-4147-A177-3AD203B41FA5}">
                      <a16:colId xmlns:a16="http://schemas.microsoft.com/office/drawing/2014/main" val="85032399"/>
                    </a:ext>
                  </a:extLst>
                </a:gridCol>
                <a:gridCol w="1521470">
                  <a:extLst>
                    <a:ext uri="{9D8B030D-6E8A-4147-A177-3AD203B41FA5}">
                      <a16:colId xmlns:a16="http://schemas.microsoft.com/office/drawing/2014/main" val="3752902708"/>
                    </a:ext>
                  </a:extLst>
                </a:gridCol>
                <a:gridCol w="1807892">
                  <a:extLst>
                    <a:ext uri="{9D8B030D-6E8A-4147-A177-3AD203B41FA5}">
                      <a16:colId xmlns:a16="http://schemas.microsoft.com/office/drawing/2014/main" val="2656756140"/>
                    </a:ext>
                  </a:extLst>
                </a:gridCol>
              </a:tblGrid>
              <a:tr h="320802">
                <a:tc grid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sz="1550" i="1" dirty="0"/>
                        <a:t>OPERASYON SÜREÇ TABLOSU</a:t>
                      </a:r>
                    </a:p>
                  </a:txBody>
                  <a:tcPr marL="80201" marR="80201" marT="40100" marB="40100" anchor="ctr"/>
                </a:tc>
                <a:tc hMerge="1">
                  <a:txBody>
                    <a:bodyPr/>
                    <a:lstStyle/>
                    <a:p>
                      <a:pPr algn="ctr"/>
                      <a:endParaRPr lang="tr-TR" dirty="0"/>
                    </a:p>
                  </a:txBody>
                  <a:tcPr anchor="ctr"/>
                </a:tc>
                <a:tc hMerge="1">
                  <a:txBody>
                    <a:bodyPr/>
                    <a:lstStyle/>
                    <a:p>
                      <a:pPr algn="ctr"/>
                      <a:endParaRPr lang="tr-TR" dirty="0"/>
                    </a:p>
                  </a:txBody>
                  <a:tcPr anchor="ctr"/>
                </a:tc>
                <a:tc hMerge="1">
                  <a:txBody>
                    <a:bodyPr/>
                    <a:lstStyle/>
                    <a:p>
                      <a:pPr algn="ctr"/>
                      <a:endParaRPr lang="tr-TR" dirty="0"/>
                    </a:p>
                  </a:txBody>
                  <a:tcPr anchor="ctr"/>
                </a:tc>
                <a:tc hMerge="1">
                  <a:txBody>
                    <a:bodyPr/>
                    <a:lstStyle/>
                    <a:p>
                      <a:pPr algn="ctr"/>
                      <a:endParaRPr lang="tr-TR" dirty="0"/>
                    </a:p>
                  </a:txBody>
                  <a:tcPr anchor="ctr"/>
                </a:tc>
                <a:tc hMerge="1">
                  <a:txBody>
                    <a:bodyPr/>
                    <a:lstStyle/>
                    <a:p>
                      <a:pPr algn="ctr"/>
                      <a:endParaRPr lang="tr-TR" dirty="0"/>
                    </a:p>
                  </a:txBody>
                  <a:tcPr anchor="ctr"/>
                </a:tc>
                <a:extLst>
                  <a:ext uri="{0D108BD9-81ED-4DB2-BD59-A6C34878D82A}">
                    <a16:rowId xmlns:a16="http://schemas.microsoft.com/office/drawing/2014/main" val="303036460"/>
                  </a:ext>
                </a:extLst>
              </a:tr>
              <a:tr h="561404">
                <a:tc>
                  <a:txBody>
                    <a:bodyPr/>
                    <a:lstStyle/>
                    <a:p>
                      <a:pPr marL="0" algn="ctr" defTabSz="914400" rtl="0" eaLnBrk="1" latinLnBrk="0" hangingPunct="1"/>
                      <a:r>
                        <a:rPr lang="tr-TR" sz="1550" kern="1200" baseline="0" dirty="0">
                          <a:solidFill>
                            <a:schemeClr val="dk1"/>
                          </a:solidFill>
                          <a:latin typeface="+mn-lt"/>
                          <a:ea typeface="+mn-ea"/>
                          <a:cs typeface="+mn-cs"/>
                        </a:rPr>
                        <a:t>İşlemin sırası</a:t>
                      </a:r>
                    </a:p>
                  </a:txBody>
                  <a:tcPr marL="80201" marR="80201" marT="40100" marB="40100" anchor="ctr">
                    <a:solidFill>
                      <a:schemeClr val="accent1"/>
                    </a:solidFill>
                  </a:tcPr>
                </a:tc>
                <a:tc>
                  <a:txBody>
                    <a:bodyPr/>
                    <a:lstStyle/>
                    <a:p>
                      <a:pPr marL="0" algn="ctr" defTabSz="914400" rtl="0" eaLnBrk="1" latinLnBrk="0" hangingPunct="1"/>
                      <a:r>
                        <a:rPr lang="tr-TR" sz="1550" kern="1200" baseline="0" dirty="0">
                          <a:solidFill>
                            <a:schemeClr val="dk1"/>
                          </a:solidFill>
                          <a:latin typeface="+mn-lt"/>
                          <a:ea typeface="+mn-ea"/>
                          <a:cs typeface="+mn-cs"/>
                        </a:rPr>
                        <a:t>Süreç Kodu</a:t>
                      </a:r>
                    </a:p>
                  </a:txBody>
                  <a:tcPr marL="80201" marR="80201" marT="40100" marB="40100" anchor="ctr">
                    <a:solidFill>
                      <a:schemeClr val="accent1"/>
                    </a:solidFill>
                  </a:tcPr>
                </a:tc>
                <a:tc>
                  <a:txBody>
                    <a:bodyPr/>
                    <a:lstStyle/>
                    <a:p>
                      <a:pPr marL="0" algn="ctr" defTabSz="914400" rtl="0" eaLnBrk="1" latinLnBrk="0" hangingPunct="1"/>
                      <a:r>
                        <a:rPr lang="tr-TR" sz="1550" kern="1200" baseline="0" dirty="0">
                          <a:solidFill>
                            <a:schemeClr val="dk1"/>
                          </a:solidFill>
                          <a:latin typeface="+mn-lt"/>
                          <a:ea typeface="+mn-ea"/>
                          <a:cs typeface="+mn-cs"/>
                        </a:rPr>
                        <a:t>Görevli personel/personeller</a:t>
                      </a:r>
                    </a:p>
                  </a:txBody>
                  <a:tcPr marL="80201" marR="80201" marT="40100" marB="40100" anchor="ctr">
                    <a:solidFill>
                      <a:schemeClr val="accent1"/>
                    </a:solidFill>
                  </a:tcPr>
                </a:tc>
                <a:tc>
                  <a:txBody>
                    <a:bodyPr/>
                    <a:lstStyle/>
                    <a:p>
                      <a:pPr algn="ctr"/>
                      <a:r>
                        <a:rPr lang="tr-TR" sz="1550" dirty="0"/>
                        <a:t>Süreç Tanımı</a:t>
                      </a:r>
                    </a:p>
                  </a:txBody>
                  <a:tcPr marL="80201" marR="80201" marT="40100" marB="40100" anchor="ctr">
                    <a:solidFill>
                      <a:schemeClr val="accent1"/>
                    </a:solidFill>
                  </a:tcPr>
                </a:tc>
                <a:tc>
                  <a:txBody>
                    <a:bodyPr/>
                    <a:lstStyle/>
                    <a:p>
                      <a:pPr algn="ctr"/>
                      <a:r>
                        <a:rPr lang="tr-TR" sz="1550" dirty="0"/>
                        <a:t>İrtifa</a:t>
                      </a:r>
                      <a:r>
                        <a:rPr lang="tr-TR" sz="1550" baseline="0" dirty="0"/>
                        <a:t> Aralığı [m]</a:t>
                      </a:r>
                      <a:endParaRPr lang="tr-TR" sz="1550" dirty="0"/>
                    </a:p>
                  </a:txBody>
                  <a:tcPr marL="80201" marR="80201" marT="40100" marB="40100" anchor="ctr">
                    <a:solidFill>
                      <a:schemeClr val="accent1"/>
                    </a:solidFill>
                  </a:tcPr>
                </a:tc>
                <a:tc>
                  <a:txBody>
                    <a:bodyPr/>
                    <a:lstStyle/>
                    <a:p>
                      <a:pPr algn="ctr"/>
                      <a:r>
                        <a:rPr lang="tr-TR" sz="1550" dirty="0"/>
                        <a:t>Risk Farktörleri</a:t>
                      </a:r>
                    </a:p>
                  </a:txBody>
                  <a:tcPr marL="80201" marR="80201" marT="40100" marB="40100" anchor="ctr">
                    <a:solidFill>
                      <a:schemeClr val="accent1"/>
                    </a:solidFill>
                  </a:tcPr>
                </a:tc>
                <a:extLst>
                  <a:ext uri="{0D108BD9-81ED-4DB2-BD59-A6C34878D82A}">
                    <a16:rowId xmlns:a16="http://schemas.microsoft.com/office/drawing/2014/main" val="3384376070"/>
                  </a:ext>
                </a:extLst>
              </a:tr>
              <a:tr h="546740">
                <a:tc>
                  <a:txBody>
                    <a:bodyPr/>
                    <a:lstStyle/>
                    <a:p>
                      <a:pPr algn="ctr"/>
                      <a:r>
                        <a:rPr lang="tr-TR" sz="1550" dirty="0">
                          <a:latin typeface="+mn-lt"/>
                        </a:rPr>
                        <a:t>1</a:t>
                      </a:r>
                    </a:p>
                  </a:txBody>
                  <a:tcPr marL="80201" marR="80201" marT="40100" marB="40100" anchor="ctr"/>
                </a:tc>
                <a:tc>
                  <a:txBody>
                    <a:bodyPr/>
                    <a:lstStyle/>
                    <a:p>
                      <a:pPr algn="ctr"/>
                      <a:r>
                        <a:rPr lang="tr-TR" sz="1550" dirty="0">
                          <a:latin typeface="+mn-lt"/>
                        </a:rPr>
                        <a:t>B001</a:t>
                      </a:r>
                    </a:p>
                  </a:txBody>
                  <a:tcPr marL="80201" marR="80201" marT="40100" marB="40100" anchor="ctr"/>
                </a:tc>
                <a:tc>
                  <a:txBody>
                    <a:bodyPr/>
                    <a:lstStyle/>
                    <a:p>
                      <a:pPr algn="ctr"/>
                      <a:r>
                        <a:rPr lang="tr-TR" sz="1550" dirty="0">
                          <a:latin typeface="+mn-lt"/>
                        </a:rPr>
                        <a:t>İsim</a:t>
                      </a:r>
                      <a:r>
                        <a:rPr lang="tr-TR" sz="1550" baseline="0" dirty="0">
                          <a:latin typeface="+mn-lt"/>
                        </a:rPr>
                        <a:t> – Soyisim (varsa birden fazla)</a:t>
                      </a:r>
                      <a:endParaRPr lang="tr-TR" sz="1550" dirty="0">
                        <a:latin typeface="+mn-lt"/>
                      </a:endParaRPr>
                    </a:p>
                  </a:txBody>
                  <a:tcPr marL="80201" marR="80201" marT="40100" marB="40100" anchor="ctr"/>
                </a:tc>
                <a:tc>
                  <a:txBody>
                    <a:bodyPr/>
                    <a:lstStyle/>
                    <a:p>
                      <a:pPr algn="ctr"/>
                      <a:r>
                        <a:rPr lang="tr-TR" sz="1550" dirty="0">
                          <a:latin typeface="+mn-lt"/>
                        </a:rPr>
                        <a:t>İlgili Açıklama </a:t>
                      </a:r>
                    </a:p>
                  </a:txBody>
                  <a:tcPr marL="80201" marR="80201" marT="40100" marB="40100" anchor="ctr"/>
                </a:tc>
                <a:tc>
                  <a:txBody>
                    <a:bodyPr/>
                    <a:lstStyle/>
                    <a:p>
                      <a:pPr algn="ctr"/>
                      <a:r>
                        <a:rPr lang="tr-TR" sz="1550" dirty="0">
                          <a:latin typeface="+mn-lt"/>
                        </a:rPr>
                        <a:t>0-30</a:t>
                      </a:r>
                    </a:p>
                  </a:txBody>
                  <a:tcPr marL="80201" marR="80201" marT="40100" marB="40100" anchor="ctr"/>
                </a:tc>
                <a:tc>
                  <a:txBody>
                    <a:bodyPr/>
                    <a:lstStyle/>
                    <a:p>
                      <a:pPr algn="ctr"/>
                      <a:r>
                        <a:rPr lang="tr-TR" sz="1550" dirty="0">
                          <a:latin typeface="+mn-lt"/>
                        </a:rPr>
                        <a:t>Oluşabilecek sorunlar</a:t>
                      </a:r>
                    </a:p>
                  </a:txBody>
                  <a:tcPr marL="80201" marR="80201" marT="40100" marB="40100" anchor="ctr"/>
                </a:tc>
                <a:extLst>
                  <a:ext uri="{0D108BD9-81ED-4DB2-BD59-A6C34878D82A}">
                    <a16:rowId xmlns:a16="http://schemas.microsoft.com/office/drawing/2014/main" val="2016818755"/>
                  </a:ext>
                </a:extLst>
              </a:tr>
              <a:tr h="546740">
                <a:tc>
                  <a:txBody>
                    <a:bodyPr/>
                    <a:lstStyle/>
                    <a:p>
                      <a:pPr algn="ctr"/>
                      <a:r>
                        <a:rPr lang="tr-TR" sz="1550" dirty="0">
                          <a:latin typeface="+mn-lt"/>
                        </a:rPr>
                        <a:t>2</a:t>
                      </a:r>
                    </a:p>
                  </a:txBody>
                  <a:tcPr marL="80201" marR="80201" marT="40100" marB="40100" anchor="ctr"/>
                </a:tc>
                <a:tc>
                  <a:txBody>
                    <a:bodyPr/>
                    <a:lstStyle/>
                    <a:p>
                      <a:pPr algn="ctr"/>
                      <a:r>
                        <a:rPr lang="tr-TR" sz="1550" dirty="0">
                          <a:latin typeface="+mn-lt"/>
                        </a:rPr>
                        <a:t>B002</a:t>
                      </a: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tr-TR" sz="1550" b="0" i="0" u="none" strike="noStrike" kern="1200" cap="none" spc="0" normalizeH="0" baseline="0" noProof="0" dirty="0">
                          <a:ln>
                            <a:noFill/>
                          </a:ln>
                          <a:solidFill>
                            <a:prstClr val="black"/>
                          </a:solidFill>
                          <a:effectLst/>
                          <a:uLnTx/>
                          <a:uFillTx/>
                          <a:latin typeface="+mn-lt"/>
                          <a:ea typeface="+mn-ea"/>
                          <a:cs typeface="+mn-cs"/>
                        </a:rPr>
                        <a:t>İsim – Soyisim (varsa birden fazla)</a:t>
                      </a: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İlgili Açıklama </a:t>
                      </a:r>
                    </a:p>
                  </a:txBody>
                  <a:tcPr marL="80201" marR="80201" marT="40100" marB="40100" anchor="ctr"/>
                </a:tc>
                <a:tc>
                  <a:txBody>
                    <a:bodyPr/>
                    <a:lstStyle/>
                    <a:p>
                      <a:pPr algn="ctr"/>
                      <a:r>
                        <a:rPr lang="tr-TR" sz="1550" dirty="0">
                          <a:latin typeface="+mn-lt"/>
                        </a:rPr>
                        <a:t>30-25</a:t>
                      </a: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Oluşabilecek sorunlar</a:t>
                      </a:r>
                    </a:p>
                  </a:txBody>
                  <a:tcPr marL="80201" marR="80201" marT="40100" marB="40100" anchor="ctr"/>
                </a:tc>
                <a:extLst>
                  <a:ext uri="{0D108BD9-81ED-4DB2-BD59-A6C34878D82A}">
                    <a16:rowId xmlns:a16="http://schemas.microsoft.com/office/drawing/2014/main" val="2908565972"/>
                  </a:ext>
                </a:extLst>
              </a:tr>
              <a:tr h="546740">
                <a:tc>
                  <a:txBody>
                    <a:bodyPr/>
                    <a:lstStyle/>
                    <a:p>
                      <a:pPr algn="ctr"/>
                      <a:r>
                        <a:rPr lang="tr-TR" sz="1550" dirty="0">
                          <a:latin typeface="+mn-lt"/>
                        </a:rPr>
                        <a:t>3</a:t>
                      </a: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B003</a:t>
                      </a: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tr-TR" sz="1550" b="0" i="0" u="none" strike="noStrike" kern="1200" cap="none" spc="0" normalizeH="0" baseline="0" noProof="0" dirty="0">
                          <a:ln>
                            <a:noFill/>
                          </a:ln>
                          <a:solidFill>
                            <a:prstClr val="black"/>
                          </a:solidFill>
                          <a:effectLst/>
                          <a:uLnTx/>
                          <a:uFillTx/>
                          <a:latin typeface="+mn-lt"/>
                          <a:ea typeface="+mn-ea"/>
                          <a:cs typeface="+mn-cs"/>
                        </a:rPr>
                        <a:t>İsim – Soyisim (varsa birden fazla)</a:t>
                      </a: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İlgili Açıklama </a:t>
                      </a:r>
                    </a:p>
                  </a:txBody>
                  <a:tcPr marL="80201" marR="80201" marT="40100" marB="40100" anchor="ctr"/>
                </a:tc>
                <a:tc>
                  <a:txBody>
                    <a:bodyPr/>
                    <a:lstStyle/>
                    <a:p>
                      <a:pPr algn="ctr"/>
                      <a:r>
                        <a:rPr lang="tr-TR" sz="1550" dirty="0">
                          <a:latin typeface="+mn-lt"/>
                        </a:rPr>
                        <a:t>25-5</a:t>
                      </a: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Oluşabilecek sorunlar</a:t>
                      </a:r>
                    </a:p>
                  </a:txBody>
                  <a:tcPr marL="80201" marR="80201" marT="40100" marB="40100" anchor="ctr"/>
                </a:tc>
                <a:extLst>
                  <a:ext uri="{0D108BD9-81ED-4DB2-BD59-A6C34878D82A}">
                    <a16:rowId xmlns:a16="http://schemas.microsoft.com/office/drawing/2014/main" val="447569673"/>
                  </a:ext>
                </a:extLst>
              </a:tr>
              <a:tr h="546740">
                <a:tc>
                  <a:txBody>
                    <a:bodyPr/>
                    <a:lstStyle/>
                    <a:p>
                      <a:pPr algn="ctr"/>
                      <a:r>
                        <a:rPr lang="tr-TR" sz="1550" dirty="0">
                          <a:latin typeface="+mn-lt"/>
                        </a:rPr>
                        <a:t>4</a:t>
                      </a:r>
                    </a:p>
                  </a:txBody>
                  <a:tcPr marL="80201" marR="80201" marT="40100" marB="40100" anchor="ctr"/>
                </a:tc>
                <a:tc>
                  <a:txBody>
                    <a:bodyPr/>
                    <a:lstStyle/>
                    <a:p>
                      <a:pPr algn="ctr"/>
                      <a:r>
                        <a:rPr lang="tr-TR" sz="1550" dirty="0">
                          <a:latin typeface="+mn-lt"/>
                        </a:rPr>
                        <a:t>B004</a:t>
                      </a: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tr-TR" sz="1550" b="0" i="0" u="none" strike="noStrike" kern="1200" cap="none" spc="0" normalizeH="0" baseline="0" noProof="0">
                          <a:ln>
                            <a:noFill/>
                          </a:ln>
                          <a:solidFill>
                            <a:prstClr val="black"/>
                          </a:solidFill>
                          <a:effectLst/>
                          <a:uLnTx/>
                          <a:uFillTx/>
                          <a:latin typeface="+mn-lt"/>
                          <a:ea typeface="+mn-ea"/>
                          <a:cs typeface="+mn-cs"/>
                        </a:rPr>
                        <a:t>İsim – Soyisim (varsa birden fazla)</a:t>
                      </a:r>
                      <a:endParaRPr kumimoji="0" lang="tr-TR" sz="1550" b="0" i="0" u="none" strike="noStrike" kern="1200" cap="none" spc="0" normalizeH="0" baseline="0" noProof="0" dirty="0">
                        <a:ln>
                          <a:noFill/>
                        </a:ln>
                        <a:solidFill>
                          <a:prstClr val="black"/>
                        </a:solidFill>
                        <a:effectLst/>
                        <a:uLnTx/>
                        <a:uFillTx/>
                        <a:latin typeface="+mn-lt"/>
                        <a:ea typeface="+mn-ea"/>
                        <a:cs typeface="+mn-cs"/>
                      </a:endParaRP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İlgili Açıklama </a:t>
                      </a:r>
                    </a:p>
                  </a:txBody>
                  <a:tcPr marL="80201" marR="80201" marT="40100" marB="40100" anchor="ctr"/>
                </a:tc>
                <a:tc>
                  <a:txBody>
                    <a:bodyPr/>
                    <a:lstStyle/>
                    <a:p>
                      <a:pPr algn="ctr"/>
                      <a:r>
                        <a:rPr lang="tr-TR" sz="1550" dirty="0">
                          <a:latin typeface="+mn-lt"/>
                        </a:rPr>
                        <a:t>5-1</a:t>
                      </a: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Oluşabilecek sorunlar</a:t>
                      </a:r>
                    </a:p>
                  </a:txBody>
                  <a:tcPr marL="80201" marR="80201" marT="40100" marB="40100" anchor="ctr"/>
                </a:tc>
                <a:extLst>
                  <a:ext uri="{0D108BD9-81ED-4DB2-BD59-A6C34878D82A}">
                    <a16:rowId xmlns:a16="http://schemas.microsoft.com/office/drawing/2014/main" val="1043043862"/>
                  </a:ext>
                </a:extLst>
              </a:tr>
              <a:tr h="546740">
                <a:tc>
                  <a:txBody>
                    <a:bodyPr/>
                    <a:lstStyle/>
                    <a:p>
                      <a:pPr algn="ctr"/>
                      <a:r>
                        <a:rPr lang="tr-TR" sz="1550" dirty="0">
                          <a:latin typeface="+mn-lt"/>
                        </a:rPr>
                        <a:t>5</a:t>
                      </a:r>
                    </a:p>
                  </a:txBody>
                  <a:tcPr marL="80201" marR="80201" marT="40100" marB="40100" anchor="ctr"/>
                </a:tc>
                <a:tc>
                  <a:txBody>
                    <a:bodyPr/>
                    <a:lstStyle/>
                    <a:p>
                      <a:pPr algn="ctr"/>
                      <a:r>
                        <a:rPr lang="tr-TR" sz="1550" dirty="0">
                          <a:latin typeface="+mn-lt"/>
                        </a:rPr>
                        <a:t>B005</a:t>
                      </a: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tr-TR" sz="1550" b="0" i="0" u="none" strike="noStrike" kern="1200" cap="none" spc="0" normalizeH="0" baseline="0" noProof="0" dirty="0">
                          <a:ln>
                            <a:noFill/>
                          </a:ln>
                          <a:solidFill>
                            <a:prstClr val="black"/>
                          </a:solidFill>
                          <a:effectLst/>
                          <a:uLnTx/>
                          <a:uFillTx/>
                          <a:latin typeface="+mn-lt"/>
                          <a:ea typeface="+mn-ea"/>
                          <a:cs typeface="+mn-cs"/>
                        </a:rPr>
                        <a:t>İsim – Soyisim (varsa birden fazla)</a:t>
                      </a: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İlgili Açıklama </a:t>
                      </a:r>
                    </a:p>
                  </a:txBody>
                  <a:tcPr marL="80201" marR="80201" marT="40100" marB="40100" anchor="ctr"/>
                </a:tc>
                <a:tc>
                  <a:txBody>
                    <a:bodyPr/>
                    <a:lstStyle/>
                    <a:p>
                      <a:pPr algn="ctr"/>
                      <a:r>
                        <a:rPr lang="tr-TR" sz="1550" dirty="0">
                          <a:latin typeface="+mn-lt"/>
                        </a:rPr>
                        <a:t>1-0</a:t>
                      </a: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Oluşabilecek sorunlar</a:t>
                      </a:r>
                    </a:p>
                  </a:txBody>
                  <a:tcPr marL="80201" marR="80201" marT="40100" marB="40100" anchor="ctr"/>
                </a:tc>
                <a:extLst>
                  <a:ext uri="{0D108BD9-81ED-4DB2-BD59-A6C34878D82A}">
                    <a16:rowId xmlns:a16="http://schemas.microsoft.com/office/drawing/2014/main" val="1914443479"/>
                  </a:ext>
                </a:extLst>
              </a:tr>
            </a:tbl>
          </a:graphicData>
        </a:graphic>
      </p:graphicFrame>
      <p:sp>
        <p:nvSpPr>
          <p:cNvPr id="12" name="Footer Placeholder 8"/>
          <p:cNvSpPr>
            <a:spLocks noGrp="1"/>
          </p:cNvSpPr>
          <p:nvPr>
            <p:ph type="ftr" sz="quarter" idx="11"/>
          </p:nvPr>
        </p:nvSpPr>
        <p:spPr>
          <a:xfrm>
            <a:off x="3542189" y="6890180"/>
            <a:ext cx="3609023" cy="320245"/>
          </a:xfrm>
        </p:spPr>
        <p:txBody>
          <a:bodyPr/>
          <a:lstStyle/>
          <a:p>
            <a:pPr algn="ctr"/>
            <a:r>
              <a:rPr lang="tr-TR" dirty="0"/>
              <a:t>2026 TEKNOFEST DİKEY İNİŞLİ ROKET YARIŞMASI</a:t>
            </a:r>
          </a:p>
          <a:p>
            <a:pPr algn="ctr"/>
            <a:r>
              <a:rPr lang="tr-TR" dirty="0"/>
              <a:t>ATIŞA HAZIRLIK RAPORU (AHR)</a:t>
            </a:r>
          </a:p>
        </p:txBody>
      </p:sp>
      <p:sp>
        <p:nvSpPr>
          <p:cNvPr id="13" name="TextBox 12"/>
          <p:cNvSpPr txBox="1"/>
          <p:nvPr/>
        </p:nvSpPr>
        <p:spPr>
          <a:xfrm rot="19567001">
            <a:off x="3162680" y="3833425"/>
            <a:ext cx="4059125" cy="983218"/>
          </a:xfrm>
          <a:prstGeom prst="rect">
            <a:avLst/>
          </a:prstGeom>
          <a:noFill/>
        </p:spPr>
        <p:txBody>
          <a:bodyPr wrap="none" rtlCol="0">
            <a:spAutoFit/>
          </a:bodyPr>
          <a:lstStyle/>
          <a:p>
            <a:r>
              <a:rPr lang="tr-TR" sz="5789" b="1" dirty="0">
                <a:solidFill>
                  <a:srgbClr val="FF0000"/>
                </a:solidFill>
              </a:rPr>
              <a:t>ÖRNEKTİR</a:t>
            </a:r>
          </a:p>
        </p:txBody>
      </p:sp>
      <p:sp>
        <p:nvSpPr>
          <p:cNvPr id="7" name="TextBox 6">
            <a:extLst>
              <a:ext uri="{FF2B5EF4-FFF2-40B4-BE49-F238E27FC236}">
                <a16:creationId xmlns:a16="http://schemas.microsoft.com/office/drawing/2014/main" id="{663230B8-A997-8E8E-8974-4486961DA23C}"/>
              </a:ext>
            </a:extLst>
          </p:cNvPr>
          <p:cNvSpPr txBox="1"/>
          <p:nvPr/>
        </p:nvSpPr>
        <p:spPr>
          <a:xfrm>
            <a:off x="6357" y="544652"/>
            <a:ext cx="1027922" cy="569387"/>
          </a:xfrm>
          <a:prstGeom prst="rect">
            <a:avLst/>
          </a:prstGeom>
          <a:noFill/>
          <a:ln>
            <a:solidFill>
              <a:schemeClr val="tx1"/>
            </a:solidFill>
          </a:ln>
        </p:spPr>
        <p:txBody>
          <a:bodyPr wrap="square" rtlCol="0">
            <a:spAutoFit/>
          </a:bodyPr>
          <a:lstStyle/>
          <a:p>
            <a:pPr algn="ctr"/>
            <a:r>
              <a:rPr lang="tr-TR" sz="1550" dirty="0">
                <a:latin typeface="+mn-lt"/>
              </a:rPr>
              <a:t>Takım Logosu</a:t>
            </a:r>
          </a:p>
        </p:txBody>
      </p:sp>
    </p:spTree>
    <p:extLst>
      <p:ext uri="{BB962C8B-B14F-4D97-AF65-F5344CB8AC3E}">
        <p14:creationId xmlns:p14="http://schemas.microsoft.com/office/powerpoint/2010/main" val="1991779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flipV="1">
            <a:off x="0" y="678851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9724145" y="6979608"/>
            <a:ext cx="201986" cy="161290"/>
          </a:xfrm>
        </p:spPr>
        <p:txBody>
          <a:bodyPr/>
          <a:lstStyle/>
          <a:p>
            <a:fld id="{87BEDC82-49FF-42E3-B7EA-26FF728940D5}" type="slidenum">
              <a:rPr lang="tr-TR" smtClean="0"/>
              <a:t>13</a:t>
            </a:fld>
            <a:endParaRPr lang="tr-TR"/>
          </a:p>
        </p:txBody>
      </p:sp>
      <p:sp>
        <p:nvSpPr>
          <p:cNvPr id="4" name="Date Placeholder 3"/>
          <p:cNvSpPr>
            <a:spLocks noGrp="1"/>
          </p:cNvSpPr>
          <p:nvPr>
            <p:ph type="dt" sz="half" idx="10"/>
          </p:nvPr>
        </p:nvSpPr>
        <p:spPr>
          <a:xfrm>
            <a:off x="802650" y="6979608"/>
            <a:ext cx="1321036" cy="161616"/>
          </a:xfrm>
        </p:spPr>
        <p:txBody>
          <a:bodyPr/>
          <a:lstStyle/>
          <a:p>
            <a:fld id="{F4860E3D-64A1-443A-A7C7-C2964BAFA6DB}" type="datetime2">
              <a:rPr lang="tr-TR" smtClean="0"/>
              <a:t>3 Temmuz 2026 Cuma</a:t>
            </a:fld>
            <a:endParaRPr lang="tr-TR" dirty="0"/>
          </a:p>
        </p:txBody>
      </p:sp>
      <p:sp>
        <p:nvSpPr>
          <p:cNvPr id="10" name="TextBox 9"/>
          <p:cNvSpPr txBox="1"/>
          <p:nvPr/>
        </p:nvSpPr>
        <p:spPr>
          <a:xfrm>
            <a:off x="-142217" y="1840438"/>
            <a:ext cx="10304034" cy="569387"/>
          </a:xfrm>
          <a:prstGeom prst="rect">
            <a:avLst/>
          </a:prstGeom>
          <a:noFill/>
        </p:spPr>
        <p:txBody>
          <a:bodyPr wrap="square" rtlCol="0">
            <a:spAutoFit/>
          </a:bodyPr>
          <a:lstStyle/>
          <a:p>
            <a:pPr marL="686760" lvl="2" indent="-285750" algn="just">
              <a:buFont typeface="Arial" panose="020B0604020202020204" pitchFamily="34" charset="0"/>
              <a:buChar char="•"/>
            </a:pPr>
            <a:r>
              <a:rPr lang="tr-TR" sz="1550" dirty="0">
                <a:latin typeface="+mn-lt"/>
              </a:rPr>
              <a:t>Roketin inişi sonrası gerçekleşecek (kontrol, hasar tespiti, yedek parça değişimi, işlevsellik kontrolü gibi) süreçler, </a:t>
            </a:r>
            <a:r>
              <a:rPr lang="tr-TR" sz="1550" b="1" dirty="0">
                <a:latin typeface="+mn-lt"/>
              </a:rPr>
              <a:t>İniş Sonrası Süreç Tablosunda</a:t>
            </a:r>
            <a:r>
              <a:rPr lang="tr-TR" sz="1550" dirty="0">
                <a:latin typeface="+mn-lt"/>
              </a:rPr>
              <a:t> detaylarıyla belirtilmelidir. </a:t>
            </a:r>
          </a:p>
        </p:txBody>
      </p:sp>
      <p:pic>
        <p:nvPicPr>
          <p:cNvPr id="14"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276225"/>
            <a:ext cx="1063165" cy="1063165"/>
          </a:xfrm>
          <a:prstGeom prst="rect">
            <a:avLst/>
          </a:prstGeom>
        </p:spPr>
      </p:pic>
      <p:cxnSp>
        <p:nvCxnSpPr>
          <p:cNvPr id="5" name="Straight Connector 4"/>
          <p:cNvCxnSpPr/>
          <p:nvPr/>
        </p:nvCxnSpPr>
        <p:spPr>
          <a:xfrm flipV="1">
            <a:off x="0" y="132012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Title 1"/>
          <p:cNvSpPr txBox="1">
            <a:spLocks/>
          </p:cNvSpPr>
          <p:nvPr/>
        </p:nvSpPr>
        <p:spPr>
          <a:xfrm>
            <a:off x="1181032" y="494808"/>
            <a:ext cx="8240529" cy="658651"/>
          </a:xfrm>
          <a:prstGeom prst="rect">
            <a:avLst/>
          </a:prstGeom>
        </p:spPr>
        <p:txBody>
          <a:bodyPr vert="horz" lIns="80201" tIns="40100" rIns="80201" bIns="4010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3950" b="1" dirty="0">
                <a:solidFill>
                  <a:srgbClr val="0070C0"/>
                </a:solidFill>
                <a:latin typeface="+mn-lt"/>
                <a:cs typeface="Times New Roman" panose="02020603050405020304" pitchFamily="18" charset="0"/>
              </a:rPr>
              <a:t>Operasyon Konsepti (CONOPS) </a:t>
            </a:r>
          </a:p>
        </p:txBody>
      </p:sp>
      <p:graphicFrame>
        <p:nvGraphicFramePr>
          <p:cNvPr id="2" name="Table 1"/>
          <p:cNvGraphicFramePr>
            <a:graphicFrameLocks noGrp="1"/>
          </p:cNvGraphicFramePr>
          <p:nvPr>
            <p:extLst>
              <p:ext uri="{D42A27DB-BD31-4B8C-83A1-F6EECF244321}">
                <p14:modId xmlns:p14="http://schemas.microsoft.com/office/powerpoint/2010/main" val="1020581227"/>
              </p:ext>
            </p:extLst>
          </p:nvPr>
        </p:nvGraphicFramePr>
        <p:xfrm>
          <a:off x="1131158" y="2475803"/>
          <a:ext cx="8431085" cy="3665871"/>
        </p:xfrm>
        <a:graphic>
          <a:graphicData uri="http://schemas.openxmlformats.org/drawingml/2006/table">
            <a:tbl>
              <a:tblPr firstRow="1" bandRow="1">
                <a:tableStyleId>{5C22544A-7EE6-4342-B048-85BDC9FD1C3A}</a:tableStyleId>
              </a:tblPr>
              <a:tblGrid>
                <a:gridCol w="894543">
                  <a:extLst>
                    <a:ext uri="{9D8B030D-6E8A-4147-A177-3AD203B41FA5}">
                      <a16:colId xmlns:a16="http://schemas.microsoft.com/office/drawing/2014/main" val="364616303"/>
                    </a:ext>
                  </a:extLst>
                </a:gridCol>
                <a:gridCol w="1135171">
                  <a:extLst>
                    <a:ext uri="{9D8B030D-6E8A-4147-A177-3AD203B41FA5}">
                      <a16:colId xmlns:a16="http://schemas.microsoft.com/office/drawing/2014/main" val="950612237"/>
                    </a:ext>
                  </a:extLst>
                </a:gridCol>
                <a:gridCol w="2939404">
                  <a:extLst>
                    <a:ext uri="{9D8B030D-6E8A-4147-A177-3AD203B41FA5}">
                      <a16:colId xmlns:a16="http://schemas.microsoft.com/office/drawing/2014/main" val="2735736646"/>
                    </a:ext>
                  </a:extLst>
                </a:gridCol>
                <a:gridCol w="1362016">
                  <a:extLst>
                    <a:ext uri="{9D8B030D-6E8A-4147-A177-3AD203B41FA5}">
                      <a16:colId xmlns:a16="http://schemas.microsoft.com/office/drawing/2014/main" val="85032399"/>
                    </a:ext>
                  </a:extLst>
                </a:gridCol>
                <a:gridCol w="2099951">
                  <a:extLst>
                    <a:ext uri="{9D8B030D-6E8A-4147-A177-3AD203B41FA5}">
                      <a16:colId xmlns:a16="http://schemas.microsoft.com/office/drawing/2014/main" val="2656756140"/>
                    </a:ext>
                  </a:extLst>
                </a:gridCol>
              </a:tblGrid>
              <a:tr h="320802">
                <a:tc grid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sz="1550" i="1" dirty="0"/>
                        <a:t>İNİŞ SONRASI SÜREÇ TABLOSU</a:t>
                      </a:r>
                    </a:p>
                  </a:txBody>
                  <a:tcPr marL="80201" marR="80201" marT="40100" marB="40100">
                    <a:solidFill>
                      <a:schemeClr val="accent1"/>
                    </a:solidFill>
                  </a:tcPr>
                </a:tc>
                <a:tc hMerge="1">
                  <a:txBody>
                    <a:bodyPr/>
                    <a:lstStyle/>
                    <a:p>
                      <a:pPr algn="ctr"/>
                      <a:endParaRPr lang="tr-TR" dirty="0"/>
                    </a:p>
                  </a:txBody>
                  <a:tcPr>
                    <a:solidFill>
                      <a:schemeClr val="accent1"/>
                    </a:solidFill>
                  </a:tcPr>
                </a:tc>
                <a:tc hMerge="1">
                  <a:txBody>
                    <a:bodyPr/>
                    <a:lstStyle/>
                    <a:p>
                      <a:pPr algn="ctr"/>
                      <a:endParaRPr lang="tr-TR" dirty="0"/>
                    </a:p>
                  </a:txBody>
                  <a:tcPr>
                    <a:solidFill>
                      <a:schemeClr val="accent1"/>
                    </a:solidFill>
                  </a:tcPr>
                </a:tc>
                <a:tc hMerge="1">
                  <a:txBody>
                    <a:bodyPr/>
                    <a:lstStyle/>
                    <a:p>
                      <a:pPr algn="ctr"/>
                      <a:endParaRPr lang="tr-TR" dirty="0"/>
                    </a:p>
                  </a:txBody>
                  <a:tcPr>
                    <a:solidFill>
                      <a:schemeClr val="accent1"/>
                    </a:solidFill>
                  </a:tcPr>
                </a:tc>
                <a:tc hMerge="1">
                  <a:txBody>
                    <a:bodyPr/>
                    <a:lstStyle/>
                    <a:p>
                      <a:pPr algn="ctr"/>
                      <a:endParaRPr lang="tr-TR" dirty="0"/>
                    </a:p>
                  </a:txBody>
                  <a:tcPr>
                    <a:solidFill>
                      <a:schemeClr val="accent1"/>
                    </a:solidFill>
                  </a:tcPr>
                </a:tc>
                <a:extLst>
                  <a:ext uri="{0D108BD9-81ED-4DB2-BD59-A6C34878D82A}">
                    <a16:rowId xmlns:a16="http://schemas.microsoft.com/office/drawing/2014/main" val="2971781101"/>
                  </a:ext>
                </a:extLst>
              </a:tr>
              <a:tr h="561404">
                <a:tc>
                  <a:txBody>
                    <a:bodyPr/>
                    <a:lstStyle/>
                    <a:p>
                      <a:pPr algn="ctr"/>
                      <a:r>
                        <a:rPr lang="tr-TR" sz="1550" dirty="0"/>
                        <a:t>İşlemin sırası</a:t>
                      </a:r>
                    </a:p>
                  </a:txBody>
                  <a:tcPr marL="80201" marR="80201" marT="40100" marB="40100" anchor="ctr">
                    <a:solidFill>
                      <a:schemeClr val="accent1"/>
                    </a:solidFill>
                  </a:tcPr>
                </a:tc>
                <a:tc>
                  <a:txBody>
                    <a:bodyPr/>
                    <a:lstStyle/>
                    <a:p>
                      <a:pPr algn="ctr"/>
                      <a:r>
                        <a:rPr lang="tr-TR" sz="1550" dirty="0"/>
                        <a:t>Süreç</a:t>
                      </a:r>
                      <a:r>
                        <a:rPr lang="tr-TR" sz="1550" baseline="0" dirty="0"/>
                        <a:t> Kodu</a:t>
                      </a:r>
                      <a:endParaRPr lang="tr-TR" sz="1550" dirty="0"/>
                    </a:p>
                  </a:txBody>
                  <a:tcPr marL="80201" marR="80201" marT="40100" marB="40100" anchor="ctr">
                    <a:solidFill>
                      <a:schemeClr val="accent1"/>
                    </a:solidFill>
                  </a:tcPr>
                </a:tc>
                <a:tc>
                  <a:txBody>
                    <a:bodyPr/>
                    <a:lstStyle/>
                    <a:p>
                      <a:pPr algn="ctr"/>
                      <a:r>
                        <a:rPr lang="tr-TR" sz="1550" dirty="0"/>
                        <a:t>Görevli personel/personeller</a:t>
                      </a:r>
                    </a:p>
                  </a:txBody>
                  <a:tcPr marL="80201" marR="80201" marT="40100" marB="40100" anchor="ctr">
                    <a:solidFill>
                      <a:schemeClr val="accent1"/>
                    </a:solidFill>
                  </a:tcPr>
                </a:tc>
                <a:tc>
                  <a:txBody>
                    <a:bodyPr/>
                    <a:lstStyle/>
                    <a:p>
                      <a:pPr algn="ctr"/>
                      <a:r>
                        <a:rPr lang="tr-TR" sz="1550" dirty="0"/>
                        <a:t>Süreç Tanımı</a:t>
                      </a:r>
                    </a:p>
                  </a:txBody>
                  <a:tcPr marL="80201" marR="80201" marT="40100" marB="40100" anchor="ctr">
                    <a:solidFill>
                      <a:schemeClr val="accent1"/>
                    </a:solidFill>
                  </a:tcPr>
                </a:tc>
                <a:tc>
                  <a:txBody>
                    <a:bodyPr/>
                    <a:lstStyle/>
                    <a:p>
                      <a:pPr algn="ctr"/>
                      <a:r>
                        <a:rPr lang="tr-TR" sz="1550" dirty="0"/>
                        <a:t>Risk Farktörleri</a:t>
                      </a:r>
                    </a:p>
                  </a:txBody>
                  <a:tcPr marL="80201" marR="80201" marT="40100" marB="40100" anchor="ctr">
                    <a:solidFill>
                      <a:schemeClr val="accent1"/>
                    </a:solidFill>
                  </a:tcPr>
                </a:tc>
                <a:extLst>
                  <a:ext uri="{0D108BD9-81ED-4DB2-BD59-A6C34878D82A}">
                    <a16:rowId xmlns:a16="http://schemas.microsoft.com/office/drawing/2014/main" val="3384376070"/>
                  </a:ext>
                </a:extLst>
              </a:tr>
              <a:tr h="556733">
                <a:tc>
                  <a:txBody>
                    <a:bodyPr/>
                    <a:lstStyle/>
                    <a:p>
                      <a:pPr algn="ctr"/>
                      <a:r>
                        <a:rPr lang="tr-TR" sz="1550" dirty="0">
                          <a:latin typeface="+mn-lt"/>
                        </a:rPr>
                        <a:t>1</a:t>
                      </a:r>
                    </a:p>
                  </a:txBody>
                  <a:tcPr marL="80201" marR="80201" marT="40100" marB="40100" anchor="ctr"/>
                </a:tc>
                <a:tc>
                  <a:txBody>
                    <a:bodyPr/>
                    <a:lstStyle/>
                    <a:p>
                      <a:pPr algn="ctr"/>
                      <a:r>
                        <a:rPr lang="tr-TR" sz="1550" dirty="0">
                          <a:latin typeface="+mn-lt"/>
                        </a:rPr>
                        <a:t>C001</a:t>
                      </a:r>
                    </a:p>
                  </a:txBody>
                  <a:tcPr marL="80201" marR="80201" marT="40100" marB="40100" anchor="ctr"/>
                </a:tc>
                <a:tc>
                  <a:txBody>
                    <a:bodyPr/>
                    <a:lstStyle/>
                    <a:p>
                      <a:pPr algn="ctr"/>
                      <a:r>
                        <a:rPr lang="tr-TR" sz="1550" dirty="0">
                          <a:latin typeface="+mn-lt"/>
                        </a:rPr>
                        <a:t>İsim</a:t>
                      </a:r>
                      <a:r>
                        <a:rPr lang="tr-TR" sz="1550" baseline="0" dirty="0">
                          <a:latin typeface="+mn-lt"/>
                        </a:rPr>
                        <a:t> – Soyisim (varsa birden fazla)</a:t>
                      </a:r>
                      <a:endParaRPr lang="tr-TR" sz="1550" dirty="0">
                        <a:latin typeface="+mn-lt"/>
                      </a:endParaRPr>
                    </a:p>
                  </a:txBody>
                  <a:tcPr marL="80201" marR="80201" marT="40100" marB="40100" anchor="ctr"/>
                </a:tc>
                <a:tc>
                  <a:txBody>
                    <a:bodyPr/>
                    <a:lstStyle/>
                    <a:p>
                      <a:pPr algn="ctr"/>
                      <a:r>
                        <a:rPr lang="tr-TR" sz="1550" dirty="0">
                          <a:latin typeface="+mn-lt"/>
                        </a:rPr>
                        <a:t>İlgili Açıklama </a:t>
                      </a:r>
                    </a:p>
                  </a:txBody>
                  <a:tcPr marL="80201" marR="80201" marT="40100" marB="40100" anchor="ctr"/>
                </a:tc>
                <a:tc>
                  <a:txBody>
                    <a:bodyPr/>
                    <a:lstStyle/>
                    <a:p>
                      <a:pPr algn="ctr"/>
                      <a:r>
                        <a:rPr lang="tr-TR" sz="1550" dirty="0">
                          <a:latin typeface="+mn-lt"/>
                        </a:rPr>
                        <a:t>Oluşabilecek sorunlar</a:t>
                      </a:r>
                    </a:p>
                  </a:txBody>
                  <a:tcPr marL="80201" marR="80201" marT="40100" marB="40100" anchor="ctr"/>
                </a:tc>
                <a:extLst>
                  <a:ext uri="{0D108BD9-81ED-4DB2-BD59-A6C34878D82A}">
                    <a16:rowId xmlns:a16="http://schemas.microsoft.com/office/drawing/2014/main" val="2016818755"/>
                  </a:ext>
                </a:extLst>
              </a:tr>
              <a:tr h="556733">
                <a:tc>
                  <a:txBody>
                    <a:bodyPr/>
                    <a:lstStyle/>
                    <a:p>
                      <a:pPr algn="ctr"/>
                      <a:r>
                        <a:rPr lang="tr-TR" sz="1550" dirty="0">
                          <a:latin typeface="+mn-lt"/>
                        </a:rPr>
                        <a:t>2</a:t>
                      </a:r>
                    </a:p>
                  </a:txBody>
                  <a:tcPr marL="80201" marR="80201" marT="40100" marB="40100" anchor="ctr"/>
                </a:tc>
                <a:tc>
                  <a:txBody>
                    <a:bodyPr/>
                    <a:lstStyle/>
                    <a:p>
                      <a:pPr algn="ctr"/>
                      <a:r>
                        <a:rPr lang="tr-TR" sz="1550" dirty="0">
                          <a:latin typeface="+mn-lt"/>
                        </a:rPr>
                        <a:t>C002</a:t>
                      </a: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tr-TR" sz="1550" b="0" i="0" u="none" strike="noStrike" kern="1200" cap="none" spc="0" normalizeH="0" baseline="0" noProof="0" dirty="0">
                          <a:ln>
                            <a:noFill/>
                          </a:ln>
                          <a:solidFill>
                            <a:prstClr val="black"/>
                          </a:solidFill>
                          <a:effectLst/>
                          <a:uLnTx/>
                          <a:uFillTx/>
                          <a:latin typeface="+mn-lt"/>
                          <a:ea typeface="+mn-ea"/>
                          <a:cs typeface="+mn-cs"/>
                        </a:rPr>
                        <a:t>İsim – Soyisim (varsa birden fazla)</a:t>
                      </a: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İlgili Açıklama </a:t>
                      </a: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Oluşabilecek sorunlar</a:t>
                      </a:r>
                    </a:p>
                  </a:txBody>
                  <a:tcPr marL="80201" marR="80201" marT="40100" marB="40100" anchor="ctr"/>
                </a:tc>
                <a:extLst>
                  <a:ext uri="{0D108BD9-81ED-4DB2-BD59-A6C34878D82A}">
                    <a16:rowId xmlns:a16="http://schemas.microsoft.com/office/drawing/2014/main" val="2908565972"/>
                  </a:ext>
                </a:extLst>
              </a:tr>
              <a:tr h="556733">
                <a:tc>
                  <a:txBody>
                    <a:bodyPr/>
                    <a:lstStyle/>
                    <a:p>
                      <a:pPr algn="ctr"/>
                      <a:r>
                        <a:rPr lang="tr-TR" sz="1550" dirty="0">
                          <a:latin typeface="+mn-lt"/>
                        </a:rPr>
                        <a:t>3</a:t>
                      </a: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C003</a:t>
                      </a: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tr-TR" sz="1550" b="0" i="0" u="none" strike="noStrike" kern="1200" cap="none" spc="0" normalizeH="0" baseline="0" noProof="0" dirty="0">
                          <a:ln>
                            <a:noFill/>
                          </a:ln>
                          <a:solidFill>
                            <a:prstClr val="black"/>
                          </a:solidFill>
                          <a:effectLst/>
                          <a:uLnTx/>
                          <a:uFillTx/>
                          <a:latin typeface="+mn-lt"/>
                          <a:ea typeface="+mn-ea"/>
                          <a:cs typeface="+mn-cs"/>
                        </a:rPr>
                        <a:t>İsim – Soyisim (varsa birden fazla)</a:t>
                      </a: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İlgili Açıklama </a:t>
                      </a: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Oluşabilecek sorunlar</a:t>
                      </a:r>
                    </a:p>
                  </a:txBody>
                  <a:tcPr marL="80201" marR="80201" marT="40100" marB="40100" anchor="ctr"/>
                </a:tc>
                <a:extLst>
                  <a:ext uri="{0D108BD9-81ED-4DB2-BD59-A6C34878D82A}">
                    <a16:rowId xmlns:a16="http://schemas.microsoft.com/office/drawing/2014/main" val="447569673"/>
                  </a:ext>
                </a:extLst>
              </a:tr>
              <a:tr h="556733">
                <a:tc>
                  <a:txBody>
                    <a:bodyPr/>
                    <a:lstStyle/>
                    <a:p>
                      <a:pPr algn="ctr"/>
                      <a:r>
                        <a:rPr lang="tr-TR" sz="1550" dirty="0">
                          <a:latin typeface="+mn-lt"/>
                        </a:rPr>
                        <a:t>4</a:t>
                      </a:r>
                    </a:p>
                  </a:txBody>
                  <a:tcPr marL="80201" marR="80201" marT="40100" marB="40100" anchor="ctr"/>
                </a:tc>
                <a:tc>
                  <a:txBody>
                    <a:bodyPr/>
                    <a:lstStyle/>
                    <a:p>
                      <a:pPr algn="ctr"/>
                      <a:r>
                        <a:rPr lang="tr-TR" sz="1550" dirty="0">
                          <a:latin typeface="+mn-lt"/>
                        </a:rPr>
                        <a:t>C004</a:t>
                      </a: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tr-TR" sz="1550" b="0" i="0" u="none" strike="noStrike" kern="1200" cap="none" spc="0" normalizeH="0" baseline="0" noProof="0">
                          <a:ln>
                            <a:noFill/>
                          </a:ln>
                          <a:solidFill>
                            <a:prstClr val="black"/>
                          </a:solidFill>
                          <a:effectLst/>
                          <a:uLnTx/>
                          <a:uFillTx/>
                          <a:latin typeface="+mn-lt"/>
                          <a:ea typeface="+mn-ea"/>
                          <a:cs typeface="+mn-cs"/>
                        </a:rPr>
                        <a:t>İsim – Soyisim (varsa birden fazla)</a:t>
                      </a:r>
                      <a:endParaRPr kumimoji="0" lang="tr-TR" sz="1550" b="0" i="0" u="none" strike="noStrike" kern="1200" cap="none" spc="0" normalizeH="0" baseline="0" noProof="0" dirty="0">
                        <a:ln>
                          <a:noFill/>
                        </a:ln>
                        <a:solidFill>
                          <a:prstClr val="black"/>
                        </a:solidFill>
                        <a:effectLst/>
                        <a:uLnTx/>
                        <a:uFillTx/>
                        <a:latin typeface="+mn-lt"/>
                        <a:ea typeface="+mn-ea"/>
                        <a:cs typeface="+mn-cs"/>
                      </a:endParaRP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İlgili Açıklama </a:t>
                      </a: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Oluşabilecek sorunlar</a:t>
                      </a:r>
                    </a:p>
                  </a:txBody>
                  <a:tcPr marL="80201" marR="80201" marT="40100" marB="40100" anchor="ctr"/>
                </a:tc>
                <a:extLst>
                  <a:ext uri="{0D108BD9-81ED-4DB2-BD59-A6C34878D82A}">
                    <a16:rowId xmlns:a16="http://schemas.microsoft.com/office/drawing/2014/main" val="1043043862"/>
                  </a:ext>
                </a:extLst>
              </a:tr>
              <a:tr h="556733">
                <a:tc>
                  <a:txBody>
                    <a:bodyPr/>
                    <a:lstStyle/>
                    <a:p>
                      <a:pPr algn="ctr"/>
                      <a:r>
                        <a:rPr lang="tr-TR" sz="1550" dirty="0">
                          <a:latin typeface="+mn-lt"/>
                        </a:rPr>
                        <a:t>5</a:t>
                      </a:r>
                    </a:p>
                  </a:txBody>
                  <a:tcPr marL="80201" marR="80201" marT="40100" marB="40100" anchor="ctr"/>
                </a:tc>
                <a:tc>
                  <a:txBody>
                    <a:bodyPr/>
                    <a:lstStyle/>
                    <a:p>
                      <a:pPr algn="ctr"/>
                      <a:r>
                        <a:rPr lang="tr-TR" sz="1550" dirty="0">
                          <a:latin typeface="+mn-lt"/>
                        </a:rPr>
                        <a:t>C005</a:t>
                      </a: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tr-TR" sz="1550" b="0" i="0" u="none" strike="noStrike" kern="1200" cap="none" spc="0" normalizeH="0" baseline="0" noProof="0" dirty="0">
                          <a:ln>
                            <a:noFill/>
                          </a:ln>
                          <a:solidFill>
                            <a:prstClr val="black"/>
                          </a:solidFill>
                          <a:effectLst/>
                          <a:uLnTx/>
                          <a:uFillTx/>
                          <a:latin typeface="+mn-lt"/>
                          <a:ea typeface="+mn-ea"/>
                          <a:cs typeface="+mn-cs"/>
                        </a:rPr>
                        <a:t>İsim – Soyisim (varsa birden fazla)</a:t>
                      </a: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İlgili Açıklama </a:t>
                      </a: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Oluşabilecek sorunlar</a:t>
                      </a:r>
                    </a:p>
                  </a:txBody>
                  <a:tcPr marL="80201" marR="80201" marT="40100" marB="40100" anchor="ctr"/>
                </a:tc>
                <a:extLst>
                  <a:ext uri="{0D108BD9-81ED-4DB2-BD59-A6C34878D82A}">
                    <a16:rowId xmlns:a16="http://schemas.microsoft.com/office/drawing/2014/main" val="1914443479"/>
                  </a:ext>
                </a:extLst>
              </a:tr>
            </a:tbl>
          </a:graphicData>
        </a:graphic>
      </p:graphicFrame>
      <p:sp>
        <p:nvSpPr>
          <p:cNvPr id="12" name="Footer Placeholder 8"/>
          <p:cNvSpPr>
            <a:spLocks noGrp="1"/>
          </p:cNvSpPr>
          <p:nvPr>
            <p:ph type="ftr" sz="quarter" idx="11"/>
          </p:nvPr>
        </p:nvSpPr>
        <p:spPr>
          <a:xfrm>
            <a:off x="3542189" y="6890180"/>
            <a:ext cx="3609023" cy="320245"/>
          </a:xfrm>
        </p:spPr>
        <p:txBody>
          <a:bodyPr/>
          <a:lstStyle/>
          <a:p>
            <a:pPr algn="ctr"/>
            <a:r>
              <a:rPr lang="tr-TR" dirty="0"/>
              <a:t>2026 TEKNOFEST DİKEY İNİŞLİ ROKET YARIŞMASI</a:t>
            </a:r>
          </a:p>
          <a:p>
            <a:pPr algn="ctr"/>
            <a:r>
              <a:rPr lang="tr-TR" dirty="0"/>
              <a:t>ATIŞA HAZIRLIK RAPORU (AHR)</a:t>
            </a:r>
          </a:p>
        </p:txBody>
      </p:sp>
      <p:sp>
        <p:nvSpPr>
          <p:cNvPr id="13" name="TextBox 12"/>
          <p:cNvSpPr txBox="1"/>
          <p:nvPr/>
        </p:nvSpPr>
        <p:spPr>
          <a:xfrm rot="19567001">
            <a:off x="3162680" y="3833425"/>
            <a:ext cx="4059125" cy="983218"/>
          </a:xfrm>
          <a:prstGeom prst="rect">
            <a:avLst/>
          </a:prstGeom>
          <a:noFill/>
        </p:spPr>
        <p:txBody>
          <a:bodyPr wrap="none" rtlCol="0">
            <a:spAutoFit/>
          </a:bodyPr>
          <a:lstStyle/>
          <a:p>
            <a:r>
              <a:rPr lang="tr-TR" sz="5789" b="1" dirty="0">
                <a:solidFill>
                  <a:srgbClr val="FF0000"/>
                </a:solidFill>
              </a:rPr>
              <a:t>ÖRNEKTİR</a:t>
            </a:r>
          </a:p>
        </p:txBody>
      </p:sp>
      <p:sp>
        <p:nvSpPr>
          <p:cNvPr id="7" name="TextBox 6">
            <a:extLst>
              <a:ext uri="{FF2B5EF4-FFF2-40B4-BE49-F238E27FC236}">
                <a16:creationId xmlns:a16="http://schemas.microsoft.com/office/drawing/2014/main" id="{9733B32C-0BC5-E577-74F8-834FB7109C64}"/>
              </a:ext>
            </a:extLst>
          </p:cNvPr>
          <p:cNvSpPr txBox="1"/>
          <p:nvPr/>
        </p:nvSpPr>
        <p:spPr>
          <a:xfrm>
            <a:off x="6357" y="544652"/>
            <a:ext cx="1027922" cy="569387"/>
          </a:xfrm>
          <a:prstGeom prst="rect">
            <a:avLst/>
          </a:prstGeom>
          <a:noFill/>
          <a:ln>
            <a:solidFill>
              <a:schemeClr val="tx1"/>
            </a:solidFill>
          </a:ln>
        </p:spPr>
        <p:txBody>
          <a:bodyPr wrap="square" rtlCol="0">
            <a:spAutoFit/>
          </a:bodyPr>
          <a:lstStyle/>
          <a:p>
            <a:pPr algn="ctr"/>
            <a:r>
              <a:rPr lang="tr-TR" sz="1550" dirty="0">
                <a:latin typeface="+mn-lt"/>
              </a:rPr>
              <a:t>Takım Logosu</a:t>
            </a:r>
          </a:p>
        </p:txBody>
      </p:sp>
    </p:spTree>
    <p:extLst>
      <p:ext uri="{BB962C8B-B14F-4D97-AF65-F5344CB8AC3E}">
        <p14:creationId xmlns:p14="http://schemas.microsoft.com/office/powerpoint/2010/main" val="3373154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flipV="1">
            <a:off x="0" y="678851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9724145" y="6979608"/>
            <a:ext cx="201986" cy="161290"/>
          </a:xfrm>
        </p:spPr>
        <p:txBody>
          <a:bodyPr/>
          <a:lstStyle/>
          <a:p>
            <a:fld id="{87BEDC82-49FF-42E3-B7EA-26FF728940D5}" type="slidenum">
              <a:rPr lang="tr-TR" smtClean="0"/>
              <a:t>14</a:t>
            </a:fld>
            <a:endParaRPr lang="tr-TR"/>
          </a:p>
        </p:txBody>
      </p:sp>
      <p:sp>
        <p:nvSpPr>
          <p:cNvPr id="4" name="Date Placeholder 3"/>
          <p:cNvSpPr>
            <a:spLocks noGrp="1"/>
          </p:cNvSpPr>
          <p:nvPr>
            <p:ph type="dt" sz="half" idx="10"/>
          </p:nvPr>
        </p:nvSpPr>
        <p:spPr>
          <a:xfrm>
            <a:off x="802650" y="6979608"/>
            <a:ext cx="1321036" cy="161616"/>
          </a:xfrm>
        </p:spPr>
        <p:txBody>
          <a:bodyPr/>
          <a:lstStyle/>
          <a:p>
            <a:fld id="{B7702A83-950C-4D94-8CEF-F6A9EFA42C7C}" type="datetime2">
              <a:rPr lang="tr-TR" smtClean="0"/>
              <a:t>3 Temmuz 2026 Cuma</a:t>
            </a:fld>
            <a:endParaRPr lang="tr-TR" dirty="0"/>
          </a:p>
        </p:txBody>
      </p:sp>
      <p:sp>
        <p:nvSpPr>
          <p:cNvPr id="10" name="TextBox 9"/>
          <p:cNvSpPr txBox="1"/>
          <p:nvPr/>
        </p:nvSpPr>
        <p:spPr>
          <a:xfrm>
            <a:off x="24054" y="1891808"/>
            <a:ext cx="9982200" cy="569387"/>
          </a:xfrm>
          <a:prstGeom prst="rect">
            <a:avLst/>
          </a:prstGeom>
          <a:noFill/>
        </p:spPr>
        <p:txBody>
          <a:bodyPr wrap="square" rtlCol="0">
            <a:spAutoFit/>
          </a:bodyPr>
          <a:lstStyle/>
          <a:p>
            <a:pPr marL="686760" lvl="2" indent="-285750" algn="just">
              <a:buFont typeface="Arial" panose="020B0604020202020204" pitchFamily="34" charset="0"/>
              <a:buChar char="•"/>
            </a:pPr>
            <a:r>
              <a:rPr lang="tr-TR" sz="1550" dirty="0">
                <a:latin typeface="+mn-lt"/>
              </a:rPr>
              <a:t>Atışa hazırlık süreçlerinde gerektiği durumlarda parça değişimi amacıyla alana getirilecek ekipmanlar, </a:t>
            </a:r>
            <a:r>
              <a:rPr lang="tr-TR" sz="1550" b="1" dirty="0">
                <a:latin typeface="+mn-lt"/>
              </a:rPr>
              <a:t>Yedek Parça Envanteri Tablosunda</a:t>
            </a:r>
            <a:r>
              <a:rPr lang="tr-TR" sz="1550" dirty="0">
                <a:latin typeface="+mn-lt"/>
              </a:rPr>
              <a:t> belirtilmelidir.</a:t>
            </a:r>
          </a:p>
        </p:txBody>
      </p:sp>
      <p:pic>
        <p:nvPicPr>
          <p:cNvPr id="14"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276225"/>
            <a:ext cx="1063165" cy="1063165"/>
          </a:xfrm>
          <a:prstGeom prst="rect">
            <a:avLst/>
          </a:prstGeom>
        </p:spPr>
      </p:pic>
      <p:cxnSp>
        <p:nvCxnSpPr>
          <p:cNvPr id="5" name="Straight Connector 4"/>
          <p:cNvCxnSpPr/>
          <p:nvPr/>
        </p:nvCxnSpPr>
        <p:spPr>
          <a:xfrm flipV="1">
            <a:off x="0" y="132012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Title 1"/>
          <p:cNvSpPr txBox="1">
            <a:spLocks/>
          </p:cNvSpPr>
          <p:nvPr/>
        </p:nvSpPr>
        <p:spPr>
          <a:xfrm>
            <a:off x="1181032" y="494808"/>
            <a:ext cx="8240529" cy="658651"/>
          </a:xfrm>
          <a:prstGeom prst="rect">
            <a:avLst/>
          </a:prstGeom>
        </p:spPr>
        <p:txBody>
          <a:bodyPr vert="horz" lIns="80201" tIns="40100" rIns="80201" bIns="4010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3950" b="1" dirty="0">
                <a:solidFill>
                  <a:srgbClr val="0070C0"/>
                </a:solidFill>
                <a:latin typeface="+mn-lt"/>
                <a:cs typeface="Times New Roman" panose="02020603050405020304" pitchFamily="18" charset="0"/>
              </a:rPr>
              <a:t>Operasyon Konsepti (CONOPS) </a:t>
            </a:r>
          </a:p>
        </p:txBody>
      </p:sp>
      <p:graphicFrame>
        <p:nvGraphicFramePr>
          <p:cNvPr id="2" name="Table 1"/>
          <p:cNvGraphicFramePr>
            <a:graphicFrameLocks noGrp="1"/>
          </p:cNvGraphicFramePr>
          <p:nvPr>
            <p:extLst>
              <p:ext uri="{D42A27DB-BD31-4B8C-83A1-F6EECF244321}">
                <p14:modId xmlns:p14="http://schemas.microsoft.com/office/powerpoint/2010/main" val="595944979"/>
              </p:ext>
            </p:extLst>
          </p:nvPr>
        </p:nvGraphicFramePr>
        <p:xfrm>
          <a:off x="1780992" y="2591303"/>
          <a:ext cx="7040607" cy="3288853"/>
        </p:xfrm>
        <a:graphic>
          <a:graphicData uri="http://schemas.openxmlformats.org/drawingml/2006/table">
            <a:tbl>
              <a:tblPr firstRow="1" bandRow="1">
                <a:tableStyleId>{5C22544A-7EE6-4342-B048-85BDC9FD1C3A}</a:tableStyleId>
              </a:tblPr>
              <a:tblGrid>
                <a:gridCol w="1508160">
                  <a:extLst>
                    <a:ext uri="{9D8B030D-6E8A-4147-A177-3AD203B41FA5}">
                      <a16:colId xmlns:a16="http://schemas.microsoft.com/office/drawing/2014/main" val="950612237"/>
                    </a:ext>
                  </a:extLst>
                </a:gridCol>
                <a:gridCol w="1986845">
                  <a:extLst>
                    <a:ext uri="{9D8B030D-6E8A-4147-A177-3AD203B41FA5}">
                      <a16:colId xmlns:a16="http://schemas.microsoft.com/office/drawing/2014/main" val="2139627669"/>
                    </a:ext>
                  </a:extLst>
                </a:gridCol>
                <a:gridCol w="755664">
                  <a:extLst>
                    <a:ext uri="{9D8B030D-6E8A-4147-A177-3AD203B41FA5}">
                      <a16:colId xmlns:a16="http://schemas.microsoft.com/office/drawing/2014/main" val="2735736646"/>
                    </a:ext>
                  </a:extLst>
                </a:gridCol>
                <a:gridCol w="2789938">
                  <a:extLst>
                    <a:ext uri="{9D8B030D-6E8A-4147-A177-3AD203B41FA5}">
                      <a16:colId xmlns:a16="http://schemas.microsoft.com/office/drawing/2014/main" val="2656756140"/>
                    </a:ext>
                  </a:extLst>
                </a:gridCol>
              </a:tblGrid>
              <a:tr h="320802">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sz="1550" i="1" dirty="0"/>
                        <a:t>YEDEK PARÇA ENVANTERİ TABLOSU</a:t>
                      </a:r>
                    </a:p>
                  </a:txBody>
                  <a:tcPr marL="80201" marR="80201" marT="40100" marB="40100" anchor="ctr">
                    <a:solidFill>
                      <a:schemeClr val="accent1"/>
                    </a:solidFill>
                  </a:tcPr>
                </a:tc>
                <a:tc hMerge="1">
                  <a:txBody>
                    <a:bodyPr/>
                    <a:lstStyle/>
                    <a:p>
                      <a:pPr algn="ctr"/>
                      <a:endParaRPr lang="tr-TR" dirty="0"/>
                    </a:p>
                  </a:txBody>
                  <a:tcPr/>
                </a:tc>
                <a:tc hMerge="1">
                  <a:txBody>
                    <a:bodyPr/>
                    <a:lstStyle/>
                    <a:p>
                      <a:pPr algn="ctr"/>
                      <a:endParaRPr lang="tr-TR" dirty="0"/>
                    </a:p>
                  </a:txBody>
                  <a:tcPr/>
                </a:tc>
                <a:tc hMerge="1">
                  <a:txBody>
                    <a:bodyPr/>
                    <a:lstStyle/>
                    <a:p>
                      <a:pPr algn="ctr"/>
                      <a:endParaRPr lang="tr-TR" dirty="0"/>
                    </a:p>
                  </a:txBody>
                  <a:tcPr/>
                </a:tc>
                <a:extLst>
                  <a:ext uri="{0D108BD9-81ED-4DB2-BD59-A6C34878D82A}">
                    <a16:rowId xmlns:a16="http://schemas.microsoft.com/office/drawing/2014/main" val="270838684"/>
                  </a:ext>
                </a:extLst>
              </a:tr>
              <a:tr h="792999">
                <a:tc>
                  <a:txBody>
                    <a:bodyPr/>
                    <a:lstStyle/>
                    <a:p>
                      <a:pPr algn="ctr"/>
                      <a:r>
                        <a:rPr lang="tr-TR" sz="1550" dirty="0">
                          <a:latin typeface="+mn-lt"/>
                        </a:rPr>
                        <a:t>Yedek</a:t>
                      </a:r>
                      <a:r>
                        <a:rPr lang="tr-TR" sz="1550" baseline="0" dirty="0">
                          <a:latin typeface="+mn-lt"/>
                        </a:rPr>
                        <a:t> Parça Kodu</a:t>
                      </a:r>
                      <a:endParaRPr lang="tr-TR" sz="1550" dirty="0">
                        <a:latin typeface="+mn-lt"/>
                      </a:endParaRPr>
                    </a:p>
                  </a:txBody>
                  <a:tcPr marL="80201" marR="80201" marT="40100" marB="40100" anchor="ctr">
                    <a:solidFill>
                      <a:schemeClr val="accent1"/>
                    </a:solidFill>
                  </a:tcPr>
                </a:tc>
                <a:tc>
                  <a:txBody>
                    <a:bodyPr/>
                    <a:lstStyle/>
                    <a:p>
                      <a:pPr algn="ctr"/>
                      <a:r>
                        <a:rPr lang="tr-TR" sz="1550" dirty="0">
                          <a:latin typeface="+mn-lt"/>
                        </a:rPr>
                        <a:t>Yedek</a:t>
                      </a:r>
                      <a:r>
                        <a:rPr lang="tr-TR" sz="1550" baseline="0" dirty="0">
                          <a:latin typeface="+mn-lt"/>
                        </a:rPr>
                        <a:t> Parça İsmi</a:t>
                      </a:r>
                      <a:endParaRPr lang="tr-TR" sz="1550" dirty="0">
                        <a:latin typeface="+mn-lt"/>
                      </a:endParaRPr>
                    </a:p>
                  </a:txBody>
                  <a:tcPr marL="80201" marR="80201" marT="40100" marB="40100" anchor="ctr">
                    <a:solidFill>
                      <a:schemeClr val="accent1"/>
                    </a:solidFill>
                  </a:tcPr>
                </a:tc>
                <a:tc>
                  <a:txBody>
                    <a:bodyPr/>
                    <a:lstStyle/>
                    <a:p>
                      <a:pPr algn="ctr"/>
                      <a:r>
                        <a:rPr lang="tr-TR" sz="1550" dirty="0">
                          <a:latin typeface="+mn-lt"/>
                        </a:rPr>
                        <a:t>Adet</a:t>
                      </a:r>
                    </a:p>
                  </a:txBody>
                  <a:tcPr marL="80201" marR="80201" marT="40100" marB="40100" anchor="ctr">
                    <a:solidFill>
                      <a:schemeClr val="accent1"/>
                    </a:solidFill>
                  </a:tcPr>
                </a:tc>
                <a:tc>
                  <a:txBody>
                    <a:bodyPr/>
                    <a:lstStyle/>
                    <a:p>
                      <a:pPr algn="ctr"/>
                      <a:r>
                        <a:rPr lang="tr-TR" sz="1550" dirty="0">
                          <a:latin typeface="+mn-lt"/>
                        </a:rPr>
                        <a:t>Yedek parça gereksinimini doğuracak </a:t>
                      </a:r>
                      <a:r>
                        <a:rPr lang="tr-TR" sz="1550" baseline="0" dirty="0">
                          <a:latin typeface="+mn-lt"/>
                        </a:rPr>
                        <a:t>risk faktörünün süreç kodu</a:t>
                      </a:r>
                      <a:endParaRPr lang="tr-TR" sz="1550" dirty="0">
                        <a:latin typeface="+mn-lt"/>
                      </a:endParaRPr>
                    </a:p>
                  </a:txBody>
                  <a:tcPr marL="80201" marR="80201" marT="40100" marB="40100" anchor="ctr">
                    <a:solidFill>
                      <a:schemeClr val="accent1"/>
                    </a:solidFill>
                  </a:tcPr>
                </a:tc>
                <a:extLst>
                  <a:ext uri="{0D108BD9-81ED-4DB2-BD59-A6C34878D82A}">
                    <a16:rowId xmlns:a16="http://schemas.microsoft.com/office/drawing/2014/main" val="3384376070"/>
                  </a:ext>
                </a:extLst>
              </a:tr>
              <a:tr h="444638">
                <a:tc>
                  <a:txBody>
                    <a:bodyPr/>
                    <a:lstStyle/>
                    <a:p>
                      <a:pPr algn="ctr"/>
                      <a:r>
                        <a:rPr lang="tr-TR" sz="1550" dirty="0">
                          <a:latin typeface="+mn-lt"/>
                        </a:rPr>
                        <a:t>YP001</a:t>
                      </a:r>
                    </a:p>
                  </a:txBody>
                  <a:tcPr marL="80201" marR="80201" marT="40100" marB="40100" anchor="ctr"/>
                </a:tc>
                <a:tc>
                  <a:txBody>
                    <a:bodyPr/>
                    <a:lstStyle/>
                    <a:p>
                      <a:pPr algn="ctr"/>
                      <a:endParaRPr lang="tr-TR" sz="1550" dirty="0">
                        <a:latin typeface="+mn-lt"/>
                      </a:endParaRPr>
                    </a:p>
                  </a:txBody>
                  <a:tcPr marL="80201" marR="80201" marT="40100" marB="40100" anchor="ctr"/>
                </a:tc>
                <a:tc>
                  <a:txBody>
                    <a:bodyPr/>
                    <a:lstStyle/>
                    <a:p>
                      <a:pPr algn="ctr"/>
                      <a:endParaRPr lang="tr-TR" sz="1550" dirty="0">
                        <a:latin typeface="+mn-lt"/>
                      </a:endParaRPr>
                    </a:p>
                  </a:txBody>
                  <a:tcPr marL="80201" marR="80201" marT="40100" marB="40100" anchor="ctr"/>
                </a:tc>
                <a:tc>
                  <a:txBody>
                    <a:bodyPr/>
                    <a:lstStyle/>
                    <a:p>
                      <a:pPr algn="ctr"/>
                      <a:r>
                        <a:rPr lang="tr-TR" sz="1550" dirty="0">
                          <a:latin typeface="+mn-lt"/>
                        </a:rPr>
                        <a:t>A001, B002 vb.</a:t>
                      </a:r>
                    </a:p>
                  </a:txBody>
                  <a:tcPr marL="80201" marR="80201" marT="40100" marB="40100" anchor="ctr"/>
                </a:tc>
                <a:extLst>
                  <a:ext uri="{0D108BD9-81ED-4DB2-BD59-A6C34878D82A}">
                    <a16:rowId xmlns:a16="http://schemas.microsoft.com/office/drawing/2014/main" val="2016818755"/>
                  </a:ext>
                </a:extLst>
              </a:tr>
              <a:tr h="444638">
                <a:tc>
                  <a:txBody>
                    <a:bodyPr/>
                    <a:lstStyle/>
                    <a:p>
                      <a:pPr algn="ctr"/>
                      <a:r>
                        <a:rPr lang="tr-TR" sz="1550" dirty="0">
                          <a:latin typeface="+mn-lt"/>
                        </a:rPr>
                        <a:t>YP002</a:t>
                      </a: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550" b="0" i="0" u="none" strike="noStrike" kern="1200" cap="none" spc="0" normalizeH="0" baseline="0" noProof="0" dirty="0">
                        <a:ln>
                          <a:noFill/>
                        </a:ln>
                        <a:solidFill>
                          <a:prstClr val="black"/>
                        </a:solidFill>
                        <a:effectLst/>
                        <a:uLnTx/>
                        <a:uFillTx/>
                        <a:latin typeface="+mn-lt"/>
                        <a:ea typeface="+mn-ea"/>
                        <a:cs typeface="+mn-cs"/>
                      </a:endParaRP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550" b="0" i="0" u="none" strike="noStrike" kern="1200" cap="none" spc="0" normalizeH="0" baseline="0" noProof="0" dirty="0">
                        <a:ln>
                          <a:noFill/>
                        </a:ln>
                        <a:solidFill>
                          <a:prstClr val="black"/>
                        </a:solidFill>
                        <a:effectLst/>
                        <a:uLnTx/>
                        <a:uFillTx/>
                        <a:latin typeface="+mn-lt"/>
                        <a:ea typeface="+mn-ea"/>
                        <a:cs typeface="+mn-cs"/>
                      </a:endParaRP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Oluşabilecek sorunlar</a:t>
                      </a:r>
                    </a:p>
                  </a:txBody>
                  <a:tcPr marL="80201" marR="80201" marT="40100" marB="40100" anchor="ctr"/>
                </a:tc>
                <a:extLst>
                  <a:ext uri="{0D108BD9-81ED-4DB2-BD59-A6C34878D82A}">
                    <a16:rowId xmlns:a16="http://schemas.microsoft.com/office/drawing/2014/main" val="2908565972"/>
                  </a:ext>
                </a:extLst>
              </a:tr>
              <a:tr h="44463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YP003</a:t>
                      </a: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550" b="0" i="0" u="none" strike="noStrike" kern="1200" cap="none" spc="0" normalizeH="0" baseline="0" noProof="0" dirty="0">
                        <a:ln>
                          <a:noFill/>
                        </a:ln>
                        <a:solidFill>
                          <a:prstClr val="black"/>
                        </a:solidFill>
                        <a:effectLst/>
                        <a:uLnTx/>
                        <a:uFillTx/>
                        <a:latin typeface="+mn-lt"/>
                        <a:ea typeface="+mn-ea"/>
                        <a:cs typeface="+mn-cs"/>
                      </a:endParaRP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550" b="0" i="0" u="none" strike="noStrike" kern="1200" cap="none" spc="0" normalizeH="0" baseline="0" noProof="0" dirty="0">
                        <a:ln>
                          <a:noFill/>
                        </a:ln>
                        <a:solidFill>
                          <a:prstClr val="black"/>
                        </a:solidFill>
                        <a:effectLst/>
                        <a:uLnTx/>
                        <a:uFillTx/>
                        <a:latin typeface="+mn-lt"/>
                        <a:ea typeface="+mn-ea"/>
                        <a:cs typeface="+mn-cs"/>
                      </a:endParaRP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Oluşabilecek sorunlar</a:t>
                      </a:r>
                    </a:p>
                  </a:txBody>
                  <a:tcPr marL="80201" marR="80201" marT="40100" marB="40100" anchor="ctr"/>
                </a:tc>
                <a:extLst>
                  <a:ext uri="{0D108BD9-81ED-4DB2-BD59-A6C34878D82A}">
                    <a16:rowId xmlns:a16="http://schemas.microsoft.com/office/drawing/2014/main" val="447569673"/>
                  </a:ext>
                </a:extLst>
              </a:tr>
              <a:tr h="396500">
                <a:tc>
                  <a:txBody>
                    <a:bodyPr/>
                    <a:lstStyle/>
                    <a:p>
                      <a:pPr algn="ctr"/>
                      <a:r>
                        <a:rPr lang="tr-TR" sz="1550" dirty="0">
                          <a:latin typeface="+mn-lt"/>
                        </a:rPr>
                        <a:t>YP004</a:t>
                      </a: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550" b="0" i="0" u="none" strike="noStrike" kern="1200" cap="none" spc="0" normalizeH="0" baseline="0" noProof="0" dirty="0">
                        <a:ln>
                          <a:noFill/>
                        </a:ln>
                        <a:solidFill>
                          <a:prstClr val="black"/>
                        </a:solidFill>
                        <a:effectLst/>
                        <a:uLnTx/>
                        <a:uFillTx/>
                        <a:latin typeface="+mn-lt"/>
                        <a:ea typeface="+mn-ea"/>
                        <a:cs typeface="+mn-cs"/>
                      </a:endParaRP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550" b="0" i="0" u="none" strike="noStrike" kern="1200" cap="none" spc="0" normalizeH="0" baseline="0" noProof="0" dirty="0">
                        <a:ln>
                          <a:noFill/>
                        </a:ln>
                        <a:solidFill>
                          <a:prstClr val="black"/>
                        </a:solidFill>
                        <a:effectLst/>
                        <a:uLnTx/>
                        <a:uFillTx/>
                        <a:latin typeface="+mn-lt"/>
                        <a:ea typeface="+mn-ea"/>
                        <a:cs typeface="+mn-cs"/>
                      </a:endParaRP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Oluşabilecek sorunlar</a:t>
                      </a:r>
                    </a:p>
                  </a:txBody>
                  <a:tcPr marL="80201" marR="80201" marT="40100" marB="40100" anchor="ctr"/>
                </a:tc>
                <a:extLst>
                  <a:ext uri="{0D108BD9-81ED-4DB2-BD59-A6C34878D82A}">
                    <a16:rowId xmlns:a16="http://schemas.microsoft.com/office/drawing/2014/main" val="1043043862"/>
                  </a:ext>
                </a:extLst>
              </a:tr>
              <a:tr h="444638">
                <a:tc>
                  <a:txBody>
                    <a:bodyPr/>
                    <a:lstStyle/>
                    <a:p>
                      <a:pPr algn="ctr"/>
                      <a:r>
                        <a:rPr lang="tr-TR" sz="1550" dirty="0">
                          <a:latin typeface="+mn-lt"/>
                        </a:rPr>
                        <a:t>YP005</a:t>
                      </a: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550" b="0" i="0" u="none" strike="noStrike" kern="1200" cap="none" spc="0" normalizeH="0" baseline="0" noProof="0" dirty="0">
                        <a:ln>
                          <a:noFill/>
                        </a:ln>
                        <a:solidFill>
                          <a:prstClr val="black"/>
                        </a:solidFill>
                        <a:effectLst/>
                        <a:uLnTx/>
                        <a:uFillTx/>
                        <a:latin typeface="+mn-lt"/>
                        <a:ea typeface="+mn-ea"/>
                        <a:cs typeface="+mn-cs"/>
                      </a:endParaRP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550" b="0" i="0" u="none" strike="noStrike" kern="1200" cap="none" spc="0" normalizeH="0" baseline="0" noProof="0" dirty="0">
                        <a:ln>
                          <a:noFill/>
                        </a:ln>
                        <a:solidFill>
                          <a:prstClr val="black"/>
                        </a:solidFill>
                        <a:effectLst/>
                        <a:uLnTx/>
                        <a:uFillTx/>
                        <a:latin typeface="+mn-lt"/>
                        <a:ea typeface="+mn-ea"/>
                        <a:cs typeface="+mn-cs"/>
                      </a:endParaRPr>
                    </a:p>
                  </a:txBody>
                  <a:tcPr marL="80201" marR="80201" marT="40100" marB="401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550" dirty="0">
                          <a:latin typeface="+mn-lt"/>
                        </a:rPr>
                        <a:t>Oluşabilecek sorunlar</a:t>
                      </a:r>
                    </a:p>
                  </a:txBody>
                  <a:tcPr marL="80201" marR="80201" marT="40100" marB="40100" anchor="ctr"/>
                </a:tc>
                <a:extLst>
                  <a:ext uri="{0D108BD9-81ED-4DB2-BD59-A6C34878D82A}">
                    <a16:rowId xmlns:a16="http://schemas.microsoft.com/office/drawing/2014/main" val="1914443479"/>
                  </a:ext>
                </a:extLst>
              </a:tr>
            </a:tbl>
          </a:graphicData>
        </a:graphic>
      </p:graphicFrame>
      <p:sp>
        <p:nvSpPr>
          <p:cNvPr id="12" name="Footer Placeholder 8"/>
          <p:cNvSpPr>
            <a:spLocks noGrp="1"/>
          </p:cNvSpPr>
          <p:nvPr>
            <p:ph type="ftr" sz="quarter" idx="11"/>
          </p:nvPr>
        </p:nvSpPr>
        <p:spPr>
          <a:xfrm>
            <a:off x="3542189" y="6890180"/>
            <a:ext cx="3609023" cy="320245"/>
          </a:xfrm>
        </p:spPr>
        <p:txBody>
          <a:bodyPr/>
          <a:lstStyle/>
          <a:p>
            <a:pPr algn="ctr"/>
            <a:r>
              <a:rPr lang="tr-TR" dirty="0"/>
              <a:t>2026 TEKNOFEST DİKEY İNİŞLİ ROKET YARIŞMASI</a:t>
            </a:r>
          </a:p>
          <a:p>
            <a:pPr algn="ctr"/>
            <a:r>
              <a:rPr lang="tr-TR" dirty="0"/>
              <a:t>ATIŞA HAZIRLIK RAPORU (AHR)</a:t>
            </a:r>
          </a:p>
        </p:txBody>
      </p:sp>
      <p:sp>
        <p:nvSpPr>
          <p:cNvPr id="13" name="TextBox 12"/>
          <p:cNvSpPr txBox="1"/>
          <p:nvPr/>
        </p:nvSpPr>
        <p:spPr>
          <a:xfrm rot="19567001">
            <a:off x="3162680" y="3833425"/>
            <a:ext cx="4059125" cy="983218"/>
          </a:xfrm>
          <a:prstGeom prst="rect">
            <a:avLst/>
          </a:prstGeom>
          <a:noFill/>
        </p:spPr>
        <p:txBody>
          <a:bodyPr wrap="none" rtlCol="0">
            <a:spAutoFit/>
          </a:bodyPr>
          <a:lstStyle/>
          <a:p>
            <a:r>
              <a:rPr lang="tr-TR" sz="5789" b="1" dirty="0">
                <a:solidFill>
                  <a:srgbClr val="FF0000"/>
                </a:solidFill>
              </a:rPr>
              <a:t>ÖRNEKTİR</a:t>
            </a:r>
          </a:p>
        </p:txBody>
      </p:sp>
      <p:sp>
        <p:nvSpPr>
          <p:cNvPr id="7" name="TextBox 6">
            <a:extLst>
              <a:ext uri="{FF2B5EF4-FFF2-40B4-BE49-F238E27FC236}">
                <a16:creationId xmlns:a16="http://schemas.microsoft.com/office/drawing/2014/main" id="{3C5ED5E4-B866-4B18-B00A-4109D6EABBE2}"/>
              </a:ext>
            </a:extLst>
          </p:cNvPr>
          <p:cNvSpPr txBox="1"/>
          <p:nvPr/>
        </p:nvSpPr>
        <p:spPr>
          <a:xfrm>
            <a:off x="6357" y="544652"/>
            <a:ext cx="1027922" cy="569387"/>
          </a:xfrm>
          <a:prstGeom prst="rect">
            <a:avLst/>
          </a:prstGeom>
          <a:noFill/>
          <a:ln>
            <a:solidFill>
              <a:schemeClr val="tx1"/>
            </a:solidFill>
          </a:ln>
        </p:spPr>
        <p:txBody>
          <a:bodyPr wrap="square" rtlCol="0">
            <a:spAutoFit/>
          </a:bodyPr>
          <a:lstStyle/>
          <a:p>
            <a:pPr algn="ctr"/>
            <a:r>
              <a:rPr lang="tr-TR" sz="1550" dirty="0">
                <a:latin typeface="+mn-lt"/>
              </a:rPr>
              <a:t>Takım Logosu</a:t>
            </a:r>
          </a:p>
        </p:txBody>
      </p:sp>
    </p:spTree>
    <p:extLst>
      <p:ext uri="{BB962C8B-B14F-4D97-AF65-F5344CB8AC3E}">
        <p14:creationId xmlns:p14="http://schemas.microsoft.com/office/powerpoint/2010/main" val="4052547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flipV="1">
            <a:off x="0" y="678851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9724145" y="6979608"/>
            <a:ext cx="201986" cy="161290"/>
          </a:xfrm>
        </p:spPr>
        <p:txBody>
          <a:bodyPr/>
          <a:lstStyle/>
          <a:p>
            <a:fld id="{87BEDC82-49FF-42E3-B7EA-26FF728940D5}" type="slidenum">
              <a:rPr lang="tr-TR" smtClean="0"/>
              <a:t>15</a:t>
            </a:fld>
            <a:endParaRPr lang="tr-TR"/>
          </a:p>
        </p:txBody>
      </p:sp>
      <p:sp>
        <p:nvSpPr>
          <p:cNvPr id="4" name="Date Placeholder 3"/>
          <p:cNvSpPr>
            <a:spLocks noGrp="1"/>
          </p:cNvSpPr>
          <p:nvPr>
            <p:ph type="dt" sz="half" idx="10"/>
          </p:nvPr>
        </p:nvSpPr>
        <p:spPr>
          <a:xfrm>
            <a:off x="802650" y="6979608"/>
            <a:ext cx="1321036" cy="161616"/>
          </a:xfrm>
        </p:spPr>
        <p:txBody>
          <a:bodyPr/>
          <a:lstStyle/>
          <a:p>
            <a:fld id="{65A06F7E-9E36-493B-9F0B-B47A3B5606D1}" type="datetime2">
              <a:rPr lang="tr-TR" smtClean="0"/>
              <a:t>3 Temmuz 2026 Cuma</a:t>
            </a:fld>
            <a:endParaRPr lang="tr-TR" dirty="0"/>
          </a:p>
        </p:txBody>
      </p:sp>
      <p:sp>
        <p:nvSpPr>
          <p:cNvPr id="10" name="TextBox 9"/>
          <p:cNvSpPr txBox="1"/>
          <p:nvPr/>
        </p:nvSpPr>
        <p:spPr>
          <a:xfrm>
            <a:off x="301076" y="1573721"/>
            <a:ext cx="10091247" cy="807913"/>
          </a:xfrm>
          <a:prstGeom prst="rect">
            <a:avLst/>
          </a:prstGeom>
          <a:noFill/>
        </p:spPr>
        <p:txBody>
          <a:bodyPr wrap="square" rtlCol="0">
            <a:spAutoFit/>
          </a:bodyPr>
          <a:lstStyle/>
          <a:p>
            <a:pPr marL="686760" lvl="2" indent="-285750" algn="just">
              <a:buFont typeface="Arial" panose="020B0604020202020204" pitchFamily="34" charset="0"/>
              <a:buChar char="•"/>
            </a:pPr>
            <a:r>
              <a:rPr lang="tr-TR" sz="1550" dirty="0">
                <a:latin typeface="+mn-lt"/>
              </a:rPr>
              <a:t>Operasyon konsepti kapsamında tanımlanan süreç ve görevlerde yer alacak kişilerin katkı ve sorumluluklarının belirlenmesi adına </a:t>
            </a:r>
            <a:r>
              <a:rPr lang="tr-TR" sz="1550" b="1" dirty="0">
                <a:latin typeface="+mn-lt"/>
              </a:rPr>
              <a:t>Görev Dağılımı Tablosu </a:t>
            </a:r>
            <a:r>
              <a:rPr lang="tr-TR" sz="1550" dirty="0">
                <a:latin typeface="+mn-lt"/>
              </a:rPr>
              <a:t>detaylarıyla hazırlanmalıdır. Görev dağılımının dengeli olmasına ve tasarıma hakim kişilerin ilgili konularda görevlendirilmesine dikkat edilmelidir.</a:t>
            </a:r>
          </a:p>
        </p:txBody>
      </p:sp>
      <p:pic>
        <p:nvPicPr>
          <p:cNvPr id="14"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276225"/>
            <a:ext cx="1063165" cy="1063165"/>
          </a:xfrm>
          <a:prstGeom prst="rect">
            <a:avLst/>
          </a:prstGeom>
        </p:spPr>
      </p:pic>
      <p:cxnSp>
        <p:nvCxnSpPr>
          <p:cNvPr id="5" name="Straight Connector 4"/>
          <p:cNvCxnSpPr/>
          <p:nvPr/>
        </p:nvCxnSpPr>
        <p:spPr>
          <a:xfrm flipV="1">
            <a:off x="0" y="132012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Title 1"/>
          <p:cNvSpPr txBox="1">
            <a:spLocks/>
          </p:cNvSpPr>
          <p:nvPr/>
        </p:nvSpPr>
        <p:spPr>
          <a:xfrm>
            <a:off x="1181032" y="494808"/>
            <a:ext cx="8240529" cy="658651"/>
          </a:xfrm>
          <a:prstGeom prst="rect">
            <a:avLst/>
          </a:prstGeom>
        </p:spPr>
        <p:txBody>
          <a:bodyPr vert="horz" lIns="80201" tIns="40100" rIns="80201" bIns="4010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3950" b="1" dirty="0">
                <a:solidFill>
                  <a:srgbClr val="0070C0"/>
                </a:solidFill>
                <a:latin typeface="+mn-lt"/>
                <a:cs typeface="Times New Roman" panose="02020603050405020304" pitchFamily="18" charset="0"/>
              </a:rPr>
              <a:t>Operasyon Konsepti (CONOPS) </a:t>
            </a:r>
          </a:p>
        </p:txBody>
      </p:sp>
      <p:graphicFrame>
        <p:nvGraphicFramePr>
          <p:cNvPr id="2" name="Table 1"/>
          <p:cNvGraphicFramePr>
            <a:graphicFrameLocks noGrp="1"/>
          </p:cNvGraphicFramePr>
          <p:nvPr>
            <p:extLst>
              <p:ext uri="{D42A27DB-BD31-4B8C-83A1-F6EECF244321}">
                <p14:modId xmlns:p14="http://schemas.microsoft.com/office/powerpoint/2010/main" val="411454876"/>
              </p:ext>
            </p:extLst>
          </p:nvPr>
        </p:nvGraphicFramePr>
        <p:xfrm>
          <a:off x="1594354" y="2791399"/>
          <a:ext cx="7413885" cy="2995068"/>
        </p:xfrm>
        <a:graphic>
          <a:graphicData uri="http://schemas.openxmlformats.org/drawingml/2006/table">
            <a:tbl>
              <a:tblPr firstRow="1" bandRow="1">
                <a:tableStyleId>{5C22544A-7EE6-4342-B048-85BDC9FD1C3A}</a:tableStyleId>
              </a:tblPr>
              <a:tblGrid>
                <a:gridCol w="1203820">
                  <a:extLst>
                    <a:ext uri="{9D8B030D-6E8A-4147-A177-3AD203B41FA5}">
                      <a16:colId xmlns:a16="http://schemas.microsoft.com/office/drawing/2014/main" val="950612237"/>
                    </a:ext>
                  </a:extLst>
                </a:gridCol>
                <a:gridCol w="1585909">
                  <a:extLst>
                    <a:ext uri="{9D8B030D-6E8A-4147-A177-3AD203B41FA5}">
                      <a16:colId xmlns:a16="http://schemas.microsoft.com/office/drawing/2014/main" val="2139627669"/>
                    </a:ext>
                  </a:extLst>
                </a:gridCol>
                <a:gridCol w="1800611">
                  <a:extLst>
                    <a:ext uri="{9D8B030D-6E8A-4147-A177-3AD203B41FA5}">
                      <a16:colId xmlns:a16="http://schemas.microsoft.com/office/drawing/2014/main" val="2735736646"/>
                    </a:ext>
                  </a:extLst>
                </a:gridCol>
                <a:gridCol w="2823545">
                  <a:extLst>
                    <a:ext uri="{9D8B030D-6E8A-4147-A177-3AD203B41FA5}">
                      <a16:colId xmlns:a16="http://schemas.microsoft.com/office/drawing/2014/main" val="2656756140"/>
                    </a:ext>
                  </a:extLst>
                </a:gridCol>
              </a:tblGrid>
              <a:tr h="320802">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sz="1600" i="1" dirty="0"/>
                        <a:t>Görev Dağılımı Tablosu</a:t>
                      </a:r>
                    </a:p>
                  </a:txBody>
                  <a:tcPr marL="80201" marR="80201" marT="40100" marB="40100" anchor="ctr">
                    <a:solidFill>
                      <a:schemeClr val="accent1"/>
                    </a:solidFill>
                  </a:tcPr>
                </a:tc>
                <a:tc hMerge="1">
                  <a:txBody>
                    <a:bodyPr/>
                    <a:lstStyle/>
                    <a:p>
                      <a:pPr algn="ctr"/>
                      <a:endParaRPr lang="tr-TR" dirty="0"/>
                    </a:p>
                  </a:txBody>
                  <a:tcPr/>
                </a:tc>
                <a:tc hMerge="1">
                  <a:txBody>
                    <a:bodyPr/>
                    <a:lstStyle/>
                    <a:p>
                      <a:pPr algn="ctr"/>
                      <a:endParaRPr lang="tr-TR" dirty="0"/>
                    </a:p>
                  </a:txBody>
                  <a:tcPr/>
                </a:tc>
                <a:tc hMerge="1">
                  <a:txBody>
                    <a:bodyPr/>
                    <a:lstStyle/>
                    <a:p>
                      <a:pPr algn="ctr"/>
                      <a:endParaRPr lang="tr-TR" dirty="0"/>
                    </a:p>
                  </a:txBody>
                  <a:tcPr/>
                </a:tc>
                <a:extLst>
                  <a:ext uri="{0D108BD9-81ED-4DB2-BD59-A6C34878D82A}">
                    <a16:rowId xmlns:a16="http://schemas.microsoft.com/office/drawing/2014/main" val="1831589349"/>
                  </a:ext>
                </a:extLst>
              </a:tr>
              <a:tr h="495976">
                <a:tc>
                  <a:txBody>
                    <a:bodyPr/>
                    <a:lstStyle/>
                    <a:p>
                      <a:pPr algn="ctr"/>
                      <a:r>
                        <a:rPr lang="tr-TR" sz="1200" dirty="0">
                          <a:latin typeface="+mn-lt"/>
                        </a:rPr>
                        <a:t>Görevli</a:t>
                      </a:r>
                      <a:r>
                        <a:rPr lang="tr-TR" sz="1200" baseline="0" dirty="0">
                          <a:latin typeface="+mn-lt"/>
                        </a:rPr>
                        <a:t> Personel</a:t>
                      </a:r>
                      <a:endParaRPr lang="tr-TR" sz="1200" dirty="0">
                        <a:latin typeface="+mn-lt"/>
                      </a:endParaRPr>
                    </a:p>
                  </a:txBody>
                  <a:tcPr marL="80201" marR="80201" marT="40100" marB="40100" anchor="ctr">
                    <a:solidFill>
                      <a:schemeClr val="accent1"/>
                    </a:solidFill>
                  </a:tcPr>
                </a:tc>
                <a:tc>
                  <a:txBody>
                    <a:bodyPr/>
                    <a:lstStyle/>
                    <a:p>
                      <a:pPr algn="ctr"/>
                      <a:r>
                        <a:rPr lang="tr-TR" sz="1200" dirty="0">
                          <a:latin typeface="+mn-lt"/>
                        </a:rPr>
                        <a:t>Görevli olduğu süreç</a:t>
                      </a:r>
                      <a:r>
                        <a:rPr lang="tr-TR" sz="1200" baseline="0" dirty="0">
                          <a:latin typeface="+mn-lt"/>
                        </a:rPr>
                        <a:t> kodları</a:t>
                      </a:r>
                      <a:endParaRPr lang="tr-TR" sz="1200" dirty="0">
                        <a:latin typeface="+mn-lt"/>
                      </a:endParaRPr>
                    </a:p>
                  </a:txBody>
                  <a:tcPr marL="80201" marR="80201" marT="40100" marB="40100" anchor="ctr">
                    <a:solidFill>
                      <a:schemeClr val="accent1"/>
                    </a:solidFill>
                  </a:tcPr>
                </a:tc>
                <a:tc>
                  <a:txBody>
                    <a:bodyPr/>
                    <a:lstStyle/>
                    <a:p>
                      <a:pPr algn="ctr"/>
                      <a:r>
                        <a:rPr lang="tr-TR" sz="1200" dirty="0">
                          <a:latin typeface="+mn-lt"/>
                        </a:rPr>
                        <a:t>Görevli olduğu süreç sayısı</a:t>
                      </a:r>
                    </a:p>
                  </a:txBody>
                  <a:tcPr marL="80201" marR="80201" marT="40100" marB="40100" anchor="ctr">
                    <a:solidFill>
                      <a:schemeClr val="accent1"/>
                    </a:solidFill>
                  </a:tcPr>
                </a:tc>
                <a:tc>
                  <a:txBody>
                    <a:bodyPr/>
                    <a:lstStyle/>
                    <a:p>
                      <a:pPr algn="ctr"/>
                      <a:r>
                        <a:rPr lang="tr-TR" sz="1200" dirty="0">
                          <a:latin typeface="+mn-lt"/>
                        </a:rPr>
                        <a:t>Görevlinin</a:t>
                      </a:r>
                      <a:r>
                        <a:rPr lang="tr-TR" sz="1200" baseline="0" dirty="0">
                          <a:latin typeface="+mn-lt"/>
                        </a:rPr>
                        <a:t> Tasarımdaki Rolü</a:t>
                      </a:r>
                      <a:endParaRPr lang="tr-TR" sz="1200" dirty="0">
                        <a:latin typeface="+mn-lt"/>
                      </a:endParaRPr>
                    </a:p>
                  </a:txBody>
                  <a:tcPr marL="80201" marR="80201" marT="40100" marB="40100" anchor="ctr">
                    <a:solidFill>
                      <a:schemeClr val="accent1"/>
                    </a:solidFill>
                  </a:tcPr>
                </a:tc>
                <a:extLst>
                  <a:ext uri="{0D108BD9-81ED-4DB2-BD59-A6C34878D82A}">
                    <a16:rowId xmlns:a16="http://schemas.microsoft.com/office/drawing/2014/main" val="3384376070"/>
                  </a:ext>
                </a:extLst>
              </a:tr>
              <a:tr h="444638">
                <a:tc>
                  <a:txBody>
                    <a:bodyPr/>
                    <a:lstStyle/>
                    <a:p>
                      <a:pPr algn="ctr"/>
                      <a:r>
                        <a:rPr lang="tr-TR" sz="1200" dirty="0">
                          <a:latin typeface="+mn-lt"/>
                        </a:rPr>
                        <a:t>İsim</a:t>
                      </a:r>
                      <a:r>
                        <a:rPr lang="tr-TR" sz="1200" baseline="0" dirty="0">
                          <a:latin typeface="+mn-lt"/>
                        </a:rPr>
                        <a:t> - Soyisim</a:t>
                      </a:r>
                      <a:endParaRPr lang="tr-TR" sz="1200" dirty="0">
                        <a:latin typeface="+mn-lt"/>
                      </a:endParaRPr>
                    </a:p>
                  </a:txBody>
                  <a:tcPr marL="80201" marR="80201" marT="40100" marB="40100" anchor="ctr"/>
                </a:tc>
                <a:tc>
                  <a:txBody>
                    <a:bodyPr/>
                    <a:lstStyle/>
                    <a:p>
                      <a:pPr algn="ctr"/>
                      <a:endParaRPr lang="tr-TR" sz="1200" dirty="0">
                        <a:latin typeface="+mn-lt"/>
                      </a:endParaRPr>
                    </a:p>
                  </a:txBody>
                  <a:tcPr marL="80201" marR="80201" marT="40100" marB="40100" anchor="ctr"/>
                </a:tc>
                <a:tc>
                  <a:txBody>
                    <a:bodyPr/>
                    <a:lstStyle/>
                    <a:p>
                      <a:pPr algn="ctr"/>
                      <a:endParaRPr lang="tr-TR" sz="1200" dirty="0">
                        <a:latin typeface="+mn-lt"/>
                      </a:endParaRPr>
                    </a:p>
                  </a:txBody>
                  <a:tcPr marL="80201" marR="80201" marT="40100" marB="40100" anchor="ctr"/>
                </a:tc>
                <a:tc>
                  <a:txBody>
                    <a:bodyPr/>
                    <a:lstStyle/>
                    <a:p>
                      <a:pPr algn="ctr"/>
                      <a:endParaRPr lang="tr-TR" sz="1200" dirty="0">
                        <a:latin typeface="+mn-lt"/>
                      </a:endParaRPr>
                    </a:p>
                  </a:txBody>
                  <a:tcPr marL="80201" marR="80201" marT="40100" marB="40100" anchor="ctr"/>
                </a:tc>
                <a:extLst>
                  <a:ext uri="{0D108BD9-81ED-4DB2-BD59-A6C34878D82A}">
                    <a16:rowId xmlns:a16="http://schemas.microsoft.com/office/drawing/2014/main" val="2016818755"/>
                  </a:ext>
                </a:extLst>
              </a:tr>
              <a:tr h="444638">
                <a:tc>
                  <a:txBody>
                    <a:bodyPr/>
                    <a:lstStyle/>
                    <a:p>
                      <a:pPr algn="ctr"/>
                      <a:r>
                        <a:rPr lang="tr-TR" sz="1200" dirty="0">
                          <a:latin typeface="+mn-lt"/>
                        </a:rPr>
                        <a:t>İsim</a:t>
                      </a:r>
                      <a:r>
                        <a:rPr lang="tr-TR" sz="1200" baseline="0" dirty="0">
                          <a:latin typeface="+mn-lt"/>
                        </a:rPr>
                        <a:t> - Soyisim</a:t>
                      </a:r>
                      <a:endParaRPr lang="tr-TR" sz="1200" dirty="0">
                        <a:latin typeface="+mn-lt"/>
                      </a:endParaRP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200" b="0" i="0" u="none" strike="noStrike" kern="1200" cap="none" spc="0" normalizeH="0" baseline="0" noProof="0" dirty="0">
                        <a:ln>
                          <a:noFill/>
                        </a:ln>
                        <a:solidFill>
                          <a:prstClr val="black"/>
                        </a:solidFill>
                        <a:effectLst/>
                        <a:uLnTx/>
                        <a:uFillTx/>
                        <a:latin typeface="+mn-lt"/>
                        <a:ea typeface="+mn-ea"/>
                        <a:cs typeface="+mn-cs"/>
                      </a:endParaRP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200" b="0" i="0" u="none" strike="noStrike" kern="1200" cap="none" spc="0" normalizeH="0" baseline="0" noProof="0" dirty="0">
                        <a:ln>
                          <a:noFill/>
                        </a:ln>
                        <a:solidFill>
                          <a:prstClr val="black"/>
                        </a:solidFill>
                        <a:effectLst/>
                        <a:uLnTx/>
                        <a:uFillTx/>
                        <a:latin typeface="+mn-lt"/>
                        <a:ea typeface="+mn-ea"/>
                        <a:cs typeface="+mn-cs"/>
                      </a:endParaRPr>
                    </a:p>
                  </a:txBody>
                  <a:tcPr marL="80201" marR="80201" marT="40100" marB="40100" anchor="ctr"/>
                </a:tc>
                <a:tc>
                  <a:txBody>
                    <a:bodyPr/>
                    <a:lstStyle/>
                    <a:p>
                      <a:pPr algn="ctr"/>
                      <a:endParaRPr lang="tr-TR" sz="1200" dirty="0">
                        <a:latin typeface="+mn-lt"/>
                      </a:endParaRPr>
                    </a:p>
                  </a:txBody>
                  <a:tcPr marL="80201" marR="80201" marT="40100" marB="40100" anchor="ctr"/>
                </a:tc>
                <a:extLst>
                  <a:ext uri="{0D108BD9-81ED-4DB2-BD59-A6C34878D82A}">
                    <a16:rowId xmlns:a16="http://schemas.microsoft.com/office/drawing/2014/main" val="2908565972"/>
                  </a:ext>
                </a:extLst>
              </a:tr>
              <a:tr h="44463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200" dirty="0">
                          <a:latin typeface="+mn-lt"/>
                        </a:rPr>
                        <a:t>İsim</a:t>
                      </a:r>
                      <a:r>
                        <a:rPr lang="tr-TR" sz="1200" baseline="0" dirty="0">
                          <a:latin typeface="+mn-lt"/>
                        </a:rPr>
                        <a:t> - Soyisim</a:t>
                      </a:r>
                      <a:endParaRPr lang="tr-TR" sz="1200" dirty="0">
                        <a:latin typeface="+mn-lt"/>
                      </a:endParaRP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200" b="0" i="0" u="none" strike="noStrike" kern="1200" cap="none" spc="0" normalizeH="0" baseline="0" noProof="0" dirty="0">
                        <a:ln>
                          <a:noFill/>
                        </a:ln>
                        <a:solidFill>
                          <a:prstClr val="black"/>
                        </a:solidFill>
                        <a:effectLst/>
                        <a:uLnTx/>
                        <a:uFillTx/>
                        <a:latin typeface="+mn-lt"/>
                        <a:ea typeface="+mn-ea"/>
                        <a:cs typeface="+mn-cs"/>
                      </a:endParaRP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200" b="0" i="0" u="none" strike="noStrike" kern="1200" cap="none" spc="0" normalizeH="0" baseline="0" noProof="0" dirty="0">
                        <a:ln>
                          <a:noFill/>
                        </a:ln>
                        <a:solidFill>
                          <a:prstClr val="black"/>
                        </a:solidFill>
                        <a:effectLst/>
                        <a:uLnTx/>
                        <a:uFillTx/>
                        <a:latin typeface="+mn-lt"/>
                        <a:ea typeface="+mn-ea"/>
                        <a:cs typeface="+mn-cs"/>
                      </a:endParaRPr>
                    </a:p>
                  </a:txBody>
                  <a:tcPr marL="80201" marR="80201" marT="40100" marB="40100" anchor="ctr"/>
                </a:tc>
                <a:tc>
                  <a:txBody>
                    <a:bodyPr/>
                    <a:lstStyle/>
                    <a:p>
                      <a:pPr algn="ctr"/>
                      <a:endParaRPr lang="tr-TR" sz="1200" dirty="0">
                        <a:latin typeface="+mn-lt"/>
                      </a:endParaRPr>
                    </a:p>
                  </a:txBody>
                  <a:tcPr marL="80201" marR="80201" marT="40100" marB="40100" anchor="ctr"/>
                </a:tc>
                <a:extLst>
                  <a:ext uri="{0D108BD9-81ED-4DB2-BD59-A6C34878D82A}">
                    <a16:rowId xmlns:a16="http://schemas.microsoft.com/office/drawing/2014/main" val="447569673"/>
                  </a:ext>
                </a:extLst>
              </a:tr>
              <a:tr h="396500">
                <a:tc>
                  <a:txBody>
                    <a:bodyPr/>
                    <a:lstStyle/>
                    <a:p>
                      <a:pPr algn="ctr"/>
                      <a:r>
                        <a:rPr lang="tr-TR" sz="1200" dirty="0">
                          <a:latin typeface="+mn-lt"/>
                        </a:rPr>
                        <a:t>İsim</a:t>
                      </a:r>
                      <a:r>
                        <a:rPr lang="tr-TR" sz="1200" baseline="0" dirty="0">
                          <a:latin typeface="+mn-lt"/>
                        </a:rPr>
                        <a:t> - Soyisim</a:t>
                      </a:r>
                      <a:endParaRPr lang="tr-TR" sz="1200" dirty="0">
                        <a:latin typeface="+mn-lt"/>
                      </a:endParaRP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200" b="0" i="0" u="none" strike="noStrike" kern="1200" cap="none" spc="0" normalizeH="0" baseline="0" noProof="0" dirty="0">
                        <a:ln>
                          <a:noFill/>
                        </a:ln>
                        <a:solidFill>
                          <a:prstClr val="black"/>
                        </a:solidFill>
                        <a:effectLst/>
                        <a:uLnTx/>
                        <a:uFillTx/>
                        <a:latin typeface="+mn-lt"/>
                        <a:ea typeface="+mn-ea"/>
                        <a:cs typeface="+mn-cs"/>
                      </a:endParaRP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200" b="0" i="0" u="none" strike="noStrike" kern="1200" cap="none" spc="0" normalizeH="0" baseline="0" noProof="0" dirty="0">
                        <a:ln>
                          <a:noFill/>
                        </a:ln>
                        <a:solidFill>
                          <a:prstClr val="black"/>
                        </a:solidFill>
                        <a:effectLst/>
                        <a:uLnTx/>
                        <a:uFillTx/>
                        <a:latin typeface="+mn-lt"/>
                        <a:ea typeface="+mn-ea"/>
                        <a:cs typeface="+mn-cs"/>
                      </a:endParaRPr>
                    </a:p>
                  </a:txBody>
                  <a:tcPr marL="80201" marR="80201" marT="40100" marB="40100" anchor="ctr"/>
                </a:tc>
                <a:tc>
                  <a:txBody>
                    <a:bodyPr/>
                    <a:lstStyle/>
                    <a:p>
                      <a:pPr algn="ctr"/>
                      <a:endParaRPr lang="tr-TR" sz="1200" dirty="0">
                        <a:latin typeface="+mn-lt"/>
                      </a:endParaRPr>
                    </a:p>
                  </a:txBody>
                  <a:tcPr marL="80201" marR="80201" marT="40100" marB="40100" anchor="ctr"/>
                </a:tc>
                <a:extLst>
                  <a:ext uri="{0D108BD9-81ED-4DB2-BD59-A6C34878D82A}">
                    <a16:rowId xmlns:a16="http://schemas.microsoft.com/office/drawing/2014/main" val="1043043862"/>
                  </a:ext>
                </a:extLst>
              </a:tr>
              <a:tr h="444638">
                <a:tc>
                  <a:txBody>
                    <a:bodyPr/>
                    <a:lstStyle/>
                    <a:p>
                      <a:pPr algn="ctr"/>
                      <a:r>
                        <a:rPr lang="tr-TR" sz="1200" dirty="0">
                          <a:latin typeface="+mn-lt"/>
                        </a:rPr>
                        <a:t>İsim</a:t>
                      </a:r>
                      <a:r>
                        <a:rPr lang="tr-TR" sz="1200" baseline="0" dirty="0">
                          <a:latin typeface="+mn-lt"/>
                        </a:rPr>
                        <a:t> - Soyisim</a:t>
                      </a:r>
                      <a:endParaRPr lang="tr-TR" sz="1200" dirty="0">
                        <a:latin typeface="+mn-lt"/>
                      </a:endParaRP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200" b="0" i="0" u="none" strike="noStrike" kern="1200" cap="none" spc="0" normalizeH="0" baseline="0" noProof="0" dirty="0">
                        <a:ln>
                          <a:noFill/>
                        </a:ln>
                        <a:solidFill>
                          <a:prstClr val="black"/>
                        </a:solidFill>
                        <a:effectLst/>
                        <a:uLnTx/>
                        <a:uFillTx/>
                        <a:latin typeface="+mn-lt"/>
                        <a:ea typeface="+mn-ea"/>
                        <a:cs typeface="+mn-cs"/>
                      </a:endParaRPr>
                    </a:p>
                  </a:txBody>
                  <a:tcPr marL="80201" marR="80201" marT="40100" marB="401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200" b="0" i="0" u="none" strike="noStrike" kern="1200" cap="none" spc="0" normalizeH="0" baseline="0" noProof="0" dirty="0">
                        <a:ln>
                          <a:noFill/>
                        </a:ln>
                        <a:solidFill>
                          <a:prstClr val="black"/>
                        </a:solidFill>
                        <a:effectLst/>
                        <a:uLnTx/>
                        <a:uFillTx/>
                        <a:latin typeface="+mn-lt"/>
                        <a:ea typeface="+mn-ea"/>
                        <a:cs typeface="+mn-cs"/>
                      </a:endParaRPr>
                    </a:p>
                  </a:txBody>
                  <a:tcPr marL="80201" marR="80201" marT="40100" marB="40100" anchor="ctr"/>
                </a:tc>
                <a:tc>
                  <a:txBody>
                    <a:bodyPr/>
                    <a:lstStyle/>
                    <a:p>
                      <a:pPr algn="ctr"/>
                      <a:endParaRPr lang="tr-TR" sz="1200" dirty="0">
                        <a:latin typeface="+mn-lt"/>
                      </a:endParaRPr>
                    </a:p>
                  </a:txBody>
                  <a:tcPr marL="80201" marR="80201" marT="40100" marB="40100" anchor="ctr"/>
                </a:tc>
                <a:extLst>
                  <a:ext uri="{0D108BD9-81ED-4DB2-BD59-A6C34878D82A}">
                    <a16:rowId xmlns:a16="http://schemas.microsoft.com/office/drawing/2014/main" val="1914443479"/>
                  </a:ext>
                </a:extLst>
              </a:tr>
            </a:tbl>
          </a:graphicData>
        </a:graphic>
      </p:graphicFrame>
      <p:sp>
        <p:nvSpPr>
          <p:cNvPr id="12" name="Footer Placeholder 8"/>
          <p:cNvSpPr>
            <a:spLocks noGrp="1"/>
          </p:cNvSpPr>
          <p:nvPr>
            <p:ph type="ftr" sz="quarter" idx="11"/>
          </p:nvPr>
        </p:nvSpPr>
        <p:spPr>
          <a:xfrm>
            <a:off x="3542189" y="6890180"/>
            <a:ext cx="3609023" cy="320245"/>
          </a:xfrm>
        </p:spPr>
        <p:txBody>
          <a:bodyPr/>
          <a:lstStyle/>
          <a:p>
            <a:pPr algn="ctr"/>
            <a:r>
              <a:rPr lang="tr-TR" dirty="0"/>
              <a:t>2026 TEKNOFEST DİKEY İNİŞLİ ROKET YARIŞMASI</a:t>
            </a:r>
          </a:p>
          <a:p>
            <a:pPr algn="ctr"/>
            <a:r>
              <a:rPr lang="tr-TR" dirty="0"/>
              <a:t>ATIŞA HAZIRLIK RAPORU (AHR)</a:t>
            </a:r>
          </a:p>
        </p:txBody>
      </p:sp>
      <p:sp>
        <p:nvSpPr>
          <p:cNvPr id="13" name="TextBox 12"/>
          <p:cNvSpPr txBox="1"/>
          <p:nvPr/>
        </p:nvSpPr>
        <p:spPr>
          <a:xfrm rot="19567001">
            <a:off x="3070366" y="3990550"/>
            <a:ext cx="4059125" cy="983218"/>
          </a:xfrm>
          <a:prstGeom prst="rect">
            <a:avLst/>
          </a:prstGeom>
          <a:noFill/>
        </p:spPr>
        <p:txBody>
          <a:bodyPr wrap="none" rtlCol="0">
            <a:spAutoFit/>
          </a:bodyPr>
          <a:lstStyle/>
          <a:p>
            <a:r>
              <a:rPr lang="tr-TR" sz="5789" b="1" dirty="0">
                <a:solidFill>
                  <a:srgbClr val="FF0000"/>
                </a:solidFill>
              </a:rPr>
              <a:t>ÖRNEKTİR</a:t>
            </a:r>
          </a:p>
        </p:txBody>
      </p:sp>
      <p:sp>
        <p:nvSpPr>
          <p:cNvPr id="7" name="TextBox 6">
            <a:extLst>
              <a:ext uri="{FF2B5EF4-FFF2-40B4-BE49-F238E27FC236}">
                <a16:creationId xmlns:a16="http://schemas.microsoft.com/office/drawing/2014/main" id="{35DCD3ED-BC17-624A-D0C6-5FA3FFC4FCD7}"/>
              </a:ext>
            </a:extLst>
          </p:cNvPr>
          <p:cNvSpPr txBox="1"/>
          <p:nvPr/>
        </p:nvSpPr>
        <p:spPr>
          <a:xfrm>
            <a:off x="6357" y="544652"/>
            <a:ext cx="1027922" cy="569387"/>
          </a:xfrm>
          <a:prstGeom prst="rect">
            <a:avLst/>
          </a:prstGeom>
          <a:noFill/>
          <a:ln>
            <a:solidFill>
              <a:schemeClr val="tx1"/>
            </a:solidFill>
          </a:ln>
        </p:spPr>
        <p:txBody>
          <a:bodyPr wrap="square" rtlCol="0">
            <a:spAutoFit/>
          </a:bodyPr>
          <a:lstStyle/>
          <a:p>
            <a:pPr algn="ctr"/>
            <a:r>
              <a:rPr lang="tr-TR" sz="1550" dirty="0">
                <a:latin typeface="+mn-lt"/>
              </a:rPr>
              <a:t>Takım Logosu</a:t>
            </a:r>
          </a:p>
        </p:txBody>
      </p:sp>
    </p:spTree>
    <p:extLst>
      <p:ext uri="{BB962C8B-B14F-4D97-AF65-F5344CB8AC3E}">
        <p14:creationId xmlns:p14="http://schemas.microsoft.com/office/powerpoint/2010/main" val="13135273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6675" y="2801197"/>
            <a:ext cx="8020050" cy="1756243"/>
          </a:xfrm>
        </p:spPr>
        <p:txBody>
          <a:bodyPr>
            <a:noAutofit/>
          </a:bodyPr>
          <a:lstStyle/>
          <a:p>
            <a:br>
              <a:rPr lang="en-US" sz="3950" b="1" dirty="0">
                <a:solidFill>
                  <a:srgbClr val="0070C0"/>
                </a:solidFill>
                <a:latin typeface="+mn-lt"/>
                <a:cs typeface="Times New Roman" panose="02020603050405020304" pitchFamily="18" charset="0"/>
              </a:rPr>
            </a:br>
            <a:r>
              <a:rPr lang="tr-TR" sz="3950" b="1" dirty="0">
                <a:solidFill>
                  <a:srgbClr val="0070C0"/>
                </a:solidFill>
                <a:latin typeface="+mn-lt"/>
                <a:cs typeface="Times New Roman" panose="02020603050405020304" pitchFamily="18" charset="0"/>
              </a:rPr>
              <a:t>Roket Alt Sistem</a:t>
            </a:r>
            <a:r>
              <a:rPr lang="en-US" sz="3950" b="1" dirty="0">
                <a:solidFill>
                  <a:srgbClr val="0070C0"/>
                </a:solidFill>
                <a:latin typeface="+mn-lt"/>
                <a:cs typeface="Times New Roman" panose="02020603050405020304" pitchFamily="18" charset="0"/>
              </a:rPr>
              <a:t> </a:t>
            </a:r>
            <a:r>
              <a:rPr lang="tr-TR" sz="3950" b="1" dirty="0">
                <a:solidFill>
                  <a:srgbClr val="0070C0"/>
                </a:solidFill>
                <a:latin typeface="+mn-lt"/>
                <a:cs typeface="Times New Roman" panose="02020603050405020304" pitchFamily="18" charset="0"/>
              </a:rPr>
              <a:t>Detayları </a:t>
            </a:r>
            <a:br>
              <a:rPr lang="tr-TR" sz="3950" b="1" dirty="0">
                <a:solidFill>
                  <a:srgbClr val="0070C0"/>
                </a:solidFill>
                <a:latin typeface="+mn-lt"/>
                <a:cs typeface="Times New Roman" panose="02020603050405020304" pitchFamily="18" charset="0"/>
              </a:rPr>
            </a:br>
            <a:r>
              <a:rPr lang="tr-TR" sz="3950" b="1" dirty="0">
                <a:solidFill>
                  <a:srgbClr val="0070C0"/>
                </a:solidFill>
                <a:latin typeface="+mn-lt"/>
                <a:cs typeface="Times New Roman" panose="02020603050405020304" pitchFamily="18" charset="0"/>
              </a:rPr>
              <a:t> </a:t>
            </a:r>
          </a:p>
        </p:txBody>
      </p:sp>
      <p:cxnSp>
        <p:nvCxnSpPr>
          <p:cNvPr id="5" name="Straight Connector 4"/>
          <p:cNvCxnSpPr/>
          <p:nvPr/>
        </p:nvCxnSpPr>
        <p:spPr>
          <a:xfrm flipV="1">
            <a:off x="0" y="1352684"/>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78851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9724145" y="6979608"/>
            <a:ext cx="201986" cy="161290"/>
          </a:xfrm>
        </p:spPr>
        <p:txBody>
          <a:bodyPr/>
          <a:lstStyle/>
          <a:p>
            <a:fld id="{87BEDC82-49FF-42E3-B7EA-26FF728940D5}" type="slidenum">
              <a:rPr lang="tr-TR" smtClean="0"/>
              <a:t>16</a:t>
            </a:fld>
            <a:endParaRPr lang="tr-TR"/>
          </a:p>
        </p:txBody>
      </p:sp>
      <p:sp>
        <p:nvSpPr>
          <p:cNvPr id="4" name="Date Placeholder 3"/>
          <p:cNvSpPr>
            <a:spLocks noGrp="1"/>
          </p:cNvSpPr>
          <p:nvPr>
            <p:ph type="dt" sz="half" idx="10"/>
          </p:nvPr>
        </p:nvSpPr>
        <p:spPr>
          <a:xfrm>
            <a:off x="802650" y="6979608"/>
            <a:ext cx="1321036" cy="161616"/>
          </a:xfrm>
        </p:spPr>
        <p:txBody>
          <a:bodyPr/>
          <a:lstStyle/>
          <a:p>
            <a:fld id="{EDE2B080-7780-4181-9874-602AE39FD195}" type="datetime2">
              <a:rPr lang="tr-TR" smtClean="0"/>
              <a:t>3 Temmuz 2026 Cuma</a:t>
            </a:fld>
            <a:endParaRPr lang="tr-TR"/>
          </a:p>
        </p:txBody>
      </p:sp>
      <p:pic>
        <p:nvPicPr>
          <p:cNvPr id="11"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276225"/>
            <a:ext cx="1063165" cy="1063165"/>
          </a:xfrm>
          <a:prstGeom prst="rect">
            <a:avLst/>
          </a:prstGeom>
        </p:spPr>
      </p:pic>
      <p:sp>
        <p:nvSpPr>
          <p:cNvPr id="12" name="Footer Placeholder 8"/>
          <p:cNvSpPr>
            <a:spLocks noGrp="1"/>
          </p:cNvSpPr>
          <p:nvPr>
            <p:ph type="ftr" sz="quarter" idx="11"/>
          </p:nvPr>
        </p:nvSpPr>
        <p:spPr>
          <a:xfrm>
            <a:off x="3542189" y="6890180"/>
            <a:ext cx="3609023" cy="320245"/>
          </a:xfrm>
        </p:spPr>
        <p:txBody>
          <a:bodyPr/>
          <a:lstStyle/>
          <a:p>
            <a:pPr algn="ctr"/>
            <a:r>
              <a:rPr lang="tr-TR" dirty="0"/>
              <a:t>2026 TEKNOFEST DİKEY İNİŞLİ ROKET YARIŞMASI</a:t>
            </a:r>
          </a:p>
          <a:p>
            <a:pPr algn="ctr"/>
            <a:r>
              <a:rPr lang="tr-TR" dirty="0"/>
              <a:t>ATIŞA HAZIRLIK RAPORU (AHR)</a:t>
            </a:r>
          </a:p>
        </p:txBody>
      </p:sp>
      <p:sp>
        <p:nvSpPr>
          <p:cNvPr id="13" name="Rectangle 6">
            <a:extLst>
              <a:ext uri="{FF2B5EF4-FFF2-40B4-BE49-F238E27FC236}">
                <a16:creationId xmlns:a16="http://schemas.microsoft.com/office/drawing/2014/main" id="{2684484E-F9AE-41F4-A2BB-3DB5A1CA4229}"/>
              </a:ext>
            </a:extLst>
          </p:cNvPr>
          <p:cNvSpPr/>
          <p:nvPr/>
        </p:nvSpPr>
        <p:spPr>
          <a:xfrm>
            <a:off x="0" y="6296025"/>
            <a:ext cx="10693400" cy="461665"/>
          </a:xfrm>
          <a:prstGeom prst="rect">
            <a:avLst/>
          </a:prstGeom>
        </p:spPr>
        <p:txBody>
          <a:bodyPr wrap="square">
            <a:spAutoFit/>
          </a:bodyPr>
          <a:lstStyle/>
          <a:p>
            <a:pPr marL="171450" indent="-171450" algn="just">
              <a:buFont typeface="Arial" panose="020B0604020202020204" pitchFamily="34" charset="0"/>
              <a:buChar char="•"/>
            </a:pPr>
            <a:r>
              <a:rPr lang="tr-TR" sz="1200" i="1" dirty="0">
                <a:latin typeface="+mn-lt"/>
              </a:rPr>
              <a:t>Bu bölümde şartnamede yer alan </a:t>
            </a:r>
            <a:r>
              <a:rPr lang="tr-TR" sz="1200" b="1" i="1" dirty="0">
                <a:latin typeface="+mn-lt"/>
              </a:rPr>
              <a:t>3.2.3, 3.2.4, 3.2.6, 3.2.7, 3.2.8, 3.2.9, 3.2.10, 3.2.11, 3.2.13, 3.2.14, 3.2.15, 3.2.16, 3.2.17, 3.2.18, 3.2.19, 3.2.20, 3.2.21, 3.2.24, 3.2.26, 3.3.3, 3.3.4, 3.3.5, 3.3.6, 4.3.1, 4.3.5, 4.3.6, ve 4.3.7 </a:t>
            </a:r>
            <a:r>
              <a:rPr lang="tr-TR" sz="1200" i="1" dirty="0">
                <a:latin typeface="+mn-lt"/>
              </a:rPr>
              <a:t>numaralı gereksinimlerin karşılanıp karşılanmadığı kontrol edilecektir. </a:t>
            </a:r>
          </a:p>
        </p:txBody>
      </p:sp>
      <p:sp>
        <p:nvSpPr>
          <p:cNvPr id="7" name="TextBox 6">
            <a:extLst>
              <a:ext uri="{FF2B5EF4-FFF2-40B4-BE49-F238E27FC236}">
                <a16:creationId xmlns:a16="http://schemas.microsoft.com/office/drawing/2014/main" id="{B7A635B0-AC52-F54C-A22B-3840F4348D4B}"/>
              </a:ext>
            </a:extLst>
          </p:cNvPr>
          <p:cNvSpPr txBox="1"/>
          <p:nvPr/>
        </p:nvSpPr>
        <p:spPr>
          <a:xfrm>
            <a:off x="6357" y="544652"/>
            <a:ext cx="1027922" cy="569387"/>
          </a:xfrm>
          <a:prstGeom prst="rect">
            <a:avLst/>
          </a:prstGeom>
          <a:noFill/>
          <a:ln>
            <a:solidFill>
              <a:schemeClr val="tx1"/>
            </a:solidFill>
          </a:ln>
        </p:spPr>
        <p:txBody>
          <a:bodyPr wrap="square" rtlCol="0">
            <a:spAutoFit/>
          </a:bodyPr>
          <a:lstStyle/>
          <a:p>
            <a:pPr algn="ctr"/>
            <a:r>
              <a:rPr lang="tr-TR" sz="1550" dirty="0">
                <a:latin typeface="+mn-lt"/>
              </a:rPr>
              <a:t>Takım Logosu</a:t>
            </a:r>
          </a:p>
        </p:txBody>
      </p:sp>
    </p:spTree>
    <p:extLst>
      <p:ext uri="{BB962C8B-B14F-4D97-AF65-F5344CB8AC3E}">
        <p14:creationId xmlns:p14="http://schemas.microsoft.com/office/powerpoint/2010/main" val="6313815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35012" y="494808"/>
            <a:ext cx="8020050" cy="658651"/>
          </a:xfrm>
        </p:spPr>
        <p:txBody>
          <a:bodyPr>
            <a:noAutofit/>
          </a:bodyPr>
          <a:lstStyle/>
          <a:p>
            <a:r>
              <a:rPr lang="tr-TR" sz="3950" dirty="0">
                <a:solidFill>
                  <a:srgbClr val="0070C0"/>
                </a:solidFill>
                <a:latin typeface="+mn-lt"/>
                <a:cs typeface="Times New Roman" panose="02020603050405020304" pitchFamily="18" charset="0"/>
              </a:rPr>
              <a:t>Pnömatik Sistem Tasarımı</a:t>
            </a:r>
          </a:p>
        </p:txBody>
      </p:sp>
      <p:cxnSp>
        <p:nvCxnSpPr>
          <p:cNvPr id="5" name="Straight Connector 4"/>
          <p:cNvCxnSpPr/>
          <p:nvPr/>
        </p:nvCxnSpPr>
        <p:spPr>
          <a:xfrm flipV="1">
            <a:off x="0" y="1352684"/>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78851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9724145" y="6979608"/>
            <a:ext cx="201986" cy="161290"/>
          </a:xfrm>
        </p:spPr>
        <p:txBody>
          <a:bodyPr/>
          <a:lstStyle/>
          <a:p>
            <a:fld id="{87BEDC82-49FF-42E3-B7EA-26FF728940D5}" type="slidenum">
              <a:rPr lang="tr-TR" smtClean="0"/>
              <a:t>17</a:t>
            </a:fld>
            <a:endParaRPr lang="tr-TR"/>
          </a:p>
        </p:txBody>
      </p:sp>
      <p:sp>
        <p:nvSpPr>
          <p:cNvPr id="4" name="Date Placeholder 3"/>
          <p:cNvSpPr>
            <a:spLocks noGrp="1"/>
          </p:cNvSpPr>
          <p:nvPr>
            <p:ph type="dt" sz="half" idx="10"/>
          </p:nvPr>
        </p:nvSpPr>
        <p:spPr>
          <a:xfrm>
            <a:off x="802650" y="6979608"/>
            <a:ext cx="1321036" cy="161616"/>
          </a:xfrm>
        </p:spPr>
        <p:txBody>
          <a:bodyPr/>
          <a:lstStyle/>
          <a:p>
            <a:fld id="{FBDB489B-69C7-49B0-84EC-6555F08B0E3E}" type="datetime2">
              <a:rPr lang="tr-TR" smtClean="0"/>
              <a:t>3 Temmuz 2026 Cuma</a:t>
            </a:fld>
            <a:endParaRPr lang="tr-TR"/>
          </a:p>
        </p:txBody>
      </p:sp>
      <p:pic>
        <p:nvPicPr>
          <p:cNvPr id="13"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276225"/>
            <a:ext cx="1063165" cy="1063165"/>
          </a:xfrm>
          <a:prstGeom prst="rect">
            <a:avLst/>
          </a:prstGeom>
        </p:spPr>
      </p:pic>
      <p:sp>
        <p:nvSpPr>
          <p:cNvPr id="17" name="Dikdörtgen 16"/>
          <p:cNvSpPr/>
          <p:nvPr/>
        </p:nvSpPr>
        <p:spPr>
          <a:xfrm>
            <a:off x="2230654" y="2162287"/>
            <a:ext cx="6232093" cy="13347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2400" b="1" dirty="0"/>
              <a:t>Pnömatik Devre Şeması</a:t>
            </a:r>
          </a:p>
        </p:txBody>
      </p:sp>
      <p:sp>
        <p:nvSpPr>
          <p:cNvPr id="7" name="Dikdörtgen 6"/>
          <p:cNvSpPr/>
          <p:nvPr/>
        </p:nvSpPr>
        <p:spPr>
          <a:xfrm>
            <a:off x="27224" y="3603094"/>
            <a:ext cx="10435627" cy="2239074"/>
          </a:xfrm>
          <a:prstGeom prst="rect">
            <a:avLst/>
          </a:prstGeom>
        </p:spPr>
        <p:txBody>
          <a:bodyPr wrap="square">
            <a:spAutoFit/>
          </a:bodyPr>
          <a:lstStyle/>
          <a:p>
            <a:pPr marL="250631" indent="-250631" algn="just">
              <a:buFont typeface="Arial" panose="020B0604020202020204" pitchFamily="34" charset="0"/>
              <a:buChar char="•"/>
            </a:pPr>
            <a:r>
              <a:rPr lang="tr-TR" sz="1550" i="1" dirty="0">
                <a:latin typeface="+mn-lt"/>
              </a:rPr>
              <a:t>Pnömatik devre şemasında aşağıdaki bilgiler ile birlikte bu yansıda </a:t>
            </a:r>
          </a:p>
          <a:p>
            <a:pPr marL="701768" lvl="1" indent="-300758" algn="just">
              <a:lnSpc>
                <a:spcPct val="150000"/>
              </a:lnSpc>
              <a:buFont typeface="+mj-lt"/>
              <a:buAutoNum type="alphaLcPeriod"/>
            </a:pPr>
            <a:r>
              <a:rPr lang="tr-TR" sz="1550" i="1" dirty="0">
                <a:latin typeface="+mn-lt"/>
              </a:rPr>
              <a:t>Çalışma şartları (basınç, sıcaklık ve debi) ile birlikte  borulamaların iç ve dış çapları</a:t>
            </a:r>
          </a:p>
          <a:p>
            <a:pPr marL="701768" lvl="1" indent="-300758" algn="just">
              <a:lnSpc>
                <a:spcPct val="150000"/>
              </a:lnSpc>
              <a:buFont typeface="+mj-lt"/>
              <a:buAutoNum type="alphaLcPeriod"/>
            </a:pPr>
            <a:r>
              <a:rPr lang="tr-TR" sz="1550" i="1" dirty="0">
                <a:latin typeface="+mn-lt"/>
              </a:rPr>
              <a:t>Ara bağlantı bileşenlerine ait bağlantı ölçüleri ve kullanılan kısma elemanı/elemanlarına ait marka/model bilgileri ile birlikte çalışma şartları</a:t>
            </a:r>
          </a:p>
          <a:p>
            <a:pPr marL="701768" lvl="1" indent="-300758" algn="just">
              <a:lnSpc>
                <a:spcPct val="150000"/>
              </a:lnSpc>
              <a:buFont typeface="+mj-lt"/>
              <a:buAutoNum type="alphaLcPeriod"/>
            </a:pPr>
            <a:r>
              <a:rPr lang="tr-TR" sz="1550" i="1" dirty="0">
                <a:latin typeface="+mn-lt"/>
              </a:rPr>
              <a:t>Tasarım şartları (</a:t>
            </a:r>
            <a:r>
              <a:rPr lang="tr-TR" sz="1550" i="1" dirty="0" err="1">
                <a:latin typeface="+mn-lt"/>
              </a:rPr>
              <a:t>Mach</a:t>
            </a:r>
            <a:r>
              <a:rPr lang="tr-TR" sz="1550" i="1" dirty="0">
                <a:latin typeface="+mn-lt"/>
              </a:rPr>
              <a:t> sayısı, giriş toplam basıncı, boğaz çapı) ile birlikte kullanılan lüle elemanı/elemanları</a:t>
            </a:r>
          </a:p>
          <a:p>
            <a:pPr algn="just"/>
            <a:r>
              <a:rPr lang="tr-TR" sz="1550" i="1" dirty="0">
                <a:latin typeface="+mn-lt"/>
              </a:rPr>
              <a:t>özetlenmelidir. </a:t>
            </a:r>
          </a:p>
          <a:p>
            <a:pPr marL="250631" indent="-250631" algn="just">
              <a:buFont typeface="Arial" panose="020B0604020202020204" pitchFamily="34" charset="0"/>
              <a:buChar char="•"/>
            </a:pPr>
            <a:r>
              <a:rPr lang="tr-TR" sz="1550" i="1" dirty="0">
                <a:latin typeface="+mn-lt"/>
              </a:rPr>
              <a:t>Bu bölüm </a:t>
            </a:r>
            <a:r>
              <a:rPr lang="tr-TR" sz="1550" b="1" dirty="0">
                <a:latin typeface="+mn-lt"/>
              </a:rPr>
              <a:t>2 yansıyı </a:t>
            </a:r>
            <a:r>
              <a:rPr lang="tr-TR" sz="1550" dirty="0">
                <a:latin typeface="+mn-lt"/>
              </a:rPr>
              <a:t>geçmemelidir.</a:t>
            </a:r>
            <a:endParaRPr lang="tr-TR" sz="1550" i="1" dirty="0">
              <a:latin typeface="+mn-lt"/>
            </a:endParaRPr>
          </a:p>
        </p:txBody>
      </p:sp>
      <p:sp>
        <p:nvSpPr>
          <p:cNvPr id="14" name="Footer Placeholder 8">
            <a:extLst>
              <a:ext uri="{FF2B5EF4-FFF2-40B4-BE49-F238E27FC236}">
                <a16:creationId xmlns:a16="http://schemas.microsoft.com/office/drawing/2014/main" id="{20CA57DD-01FE-4602-867A-51E838C9A4B1}"/>
              </a:ext>
            </a:extLst>
          </p:cNvPr>
          <p:cNvSpPr>
            <a:spLocks noGrp="1"/>
          </p:cNvSpPr>
          <p:nvPr>
            <p:ph type="ftr" sz="quarter" idx="11"/>
          </p:nvPr>
        </p:nvSpPr>
        <p:spPr>
          <a:xfrm>
            <a:off x="3542189" y="6890180"/>
            <a:ext cx="3609023" cy="320245"/>
          </a:xfrm>
        </p:spPr>
        <p:txBody>
          <a:bodyPr/>
          <a:lstStyle/>
          <a:p>
            <a:pPr algn="ctr"/>
            <a:r>
              <a:rPr lang="tr-TR" dirty="0"/>
              <a:t>2026 TEKNOFEST DİKEY İNİŞLİ ROKET YARIŞMASI</a:t>
            </a:r>
          </a:p>
          <a:p>
            <a:pPr algn="ctr"/>
            <a:r>
              <a:rPr lang="tr-TR" dirty="0"/>
              <a:t>ATIŞA HAZIRLIK RAPORU (AHR)</a:t>
            </a:r>
          </a:p>
        </p:txBody>
      </p:sp>
      <p:sp>
        <p:nvSpPr>
          <p:cNvPr id="15" name="Dikdörtgen 14">
            <a:extLst>
              <a:ext uri="{FF2B5EF4-FFF2-40B4-BE49-F238E27FC236}">
                <a16:creationId xmlns:a16="http://schemas.microsoft.com/office/drawing/2014/main" id="{8BBEC454-C605-4793-9B47-F4793DA39A92}"/>
              </a:ext>
            </a:extLst>
          </p:cNvPr>
          <p:cNvSpPr/>
          <p:nvPr/>
        </p:nvSpPr>
        <p:spPr>
          <a:xfrm>
            <a:off x="6357" y="6296025"/>
            <a:ext cx="10659819" cy="461665"/>
          </a:xfrm>
          <a:prstGeom prst="rect">
            <a:avLst/>
          </a:prstGeom>
        </p:spPr>
        <p:txBody>
          <a:bodyPr wrap="square">
            <a:spAutoFit/>
          </a:bodyPr>
          <a:lstStyle/>
          <a:p>
            <a:pPr marL="171450" indent="-171450" algn="just">
              <a:buFont typeface="Arial" panose="020B0604020202020204" pitchFamily="34" charset="0"/>
              <a:buChar char="•"/>
            </a:pPr>
            <a:r>
              <a:rPr lang="tr-TR" sz="1200" i="1" dirty="0">
                <a:latin typeface="+mn-lt"/>
              </a:rPr>
              <a:t>Bu bölümde şartnamede yer alan </a:t>
            </a:r>
            <a:r>
              <a:rPr lang="tr-TR" sz="1200" b="1" i="1" dirty="0">
                <a:latin typeface="+mn-lt"/>
              </a:rPr>
              <a:t>3.2.1</a:t>
            </a:r>
            <a:r>
              <a:rPr lang="tr-TR" sz="1200" i="1" dirty="0">
                <a:latin typeface="+mn-lt"/>
              </a:rPr>
              <a:t>, </a:t>
            </a:r>
            <a:r>
              <a:rPr lang="tr-TR" sz="1200" b="1" i="1" dirty="0">
                <a:latin typeface="+mn-lt"/>
              </a:rPr>
              <a:t>3.2.3, 3.2.4, 3.2.8,</a:t>
            </a:r>
            <a:r>
              <a:rPr lang="tr-TR" sz="1200" b="1" i="1" noProof="1">
                <a:latin typeface="+mn-lt"/>
              </a:rPr>
              <a:t> 3.2.11, 3.2.14, 3.2.20, 3.3.3, 3.3.4, 3.3.6, 4.3.1, 4.3.5, 4.3.6, ve 4.3.7 </a:t>
            </a:r>
            <a:r>
              <a:rPr lang="tr-TR" sz="1200" i="1" dirty="0">
                <a:latin typeface="+mn-lt"/>
              </a:rPr>
              <a:t>numaralı gereksinimlerin karşılanıp karşılanmadığı kontrol edilecektir.</a:t>
            </a:r>
            <a:endParaRPr lang="tr-TR" sz="1200" dirty="0">
              <a:latin typeface="+mn-lt"/>
            </a:endParaRPr>
          </a:p>
        </p:txBody>
      </p:sp>
      <p:sp>
        <p:nvSpPr>
          <p:cNvPr id="9" name="TextBox 8">
            <a:extLst>
              <a:ext uri="{FF2B5EF4-FFF2-40B4-BE49-F238E27FC236}">
                <a16:creationId xmlns:a16="http://schemas.microsoft.com/office/drawing/2014/main" id="{AFFE7E4F-958B-DC35-2E92-1854994AA94F}"/>
              </a:ext>
            </a:extLst>
          </p:cNvPr>
          <p:cNvSpPr txBox="1"/>
          <p:nvPr/>
        </p:nvSpPr>
        <p:spPr>
          <a:xfrm>
            <a:off x="6357" y="544652"/>
            <a:ext cx="1027922" cy="569387"/>
          </a:xfrm>
          <a:prstGeom prst="rect">
            <a:avLst/>
          </a:prstGeom>
          <a:noFill/>
          <a:ln>
            <a:solidFill>
              <a:schemeClr val="tx1"/>
            </a:solidFill>
          </a:ln>
        </p:spPr>
        <p:txBody>
          <a:bodyPr wrap="square" rtlCol="0">
            <a:spAutoFit/>
          </a:bodyPr>
          <a:lstStyle/>
          <a:p>
            <a:pPr algn="ctr"/>
            <a:r>
              <a:rPr lang="tr-TR" sz="1550" dirty="0">
                <a:latin typeface="+mn-lt"/>
              </a:rPr>
              <a:t>Takım Logosu</a:t>
            </a:r>
          </a:p>
        </p:txBody>
      </p:sp>
    </p:spTree>
    <p:extLst>
      <p:ext uri="{BB962C8B-B14F-4D97-AF65-F5344CB8AC3E}">
        <p14:creationId xmlns:p14="http://schemas.microsoft.com/office/powerpoint/2010/main" val="796523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35012" y="494808"/>
            <a:ext cx="8020050" cy="658651"/>
          </a:xfrm>
        </p:spPr>
        <p:txBody>
          <a:bodyPr>
            <a:noAutofit/>
          </a:bodyPr>
          <a:lstStyle/>
          <a:p>
            <a:r>
              <a:rPr lang="tr-TR" sz="3950" dirty="0" err="1">
                <a:solidFill>
                  <a:srgbClr val="0070C0"/>
                </a:solidFill>
                <a:latin typeface="+mn-lt"/>
                <a:cs typeface="Times New Roman" panose="02020603050405020304" pitchFamily="18" charset="0"/>
              </a:rPr>
              <a:t>Pnömatik</a:t>
            </a:r>
            <a:r>
              <a:rPr lang="tr-TR" sz="3950" dirty="0">
                <a:solidFill>
                  <a:srgbClr val="0070C0"/>
                </a:solidFill>
                <a:latin typeface="+mn-lt"/>
                <a:cs typeface="Times New Roman" panose="02020603050405020304" pitchFamily="18" charset="0"/>
              </a:rPr>
              <a:t> Sistem Tasarımı - Detay</a:t>
            </a:r>
          </a:p>
        </p:txBody>
      </p:sp>
      <p:cxnSp>
        <p:nvCxnSpPr>
          <p:cNvPr id="5" name="Straight Connector 4"/>
          <p:cNvCxnSpPr/>
          <p:nvPr/>
        </p:nvCxnSpPr>
        <p:spPr>
          <a:xfrm flipV="1">
            <a:off x="0" y="1352684"/>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78851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9724145" y="6979608"/>
            <a:ext cx="201986" cy="161290"/>
          </a:xfrm>
        </p:spPr>
        <p:txBody>
          <a:bodyPr/>
          <a:lstStyle/>
          <a:p>
            <a:fld id="{87BEDC82-49FF-42E3-B7EA-26FF728940D5}" type="slidenum">
              <a:rPr lang="tr-TR" smtClean="0"/>
              <a:t>18</a:t>
            </a:fld>
            <a:endParaRPr lang="tr-TR"/>
          </a:p>
        </p:txBody>
      </p:sp>
      <p:sp>
        <p:nvSpPr>
          <p:cNvPr id="4" name="Date Placeholder 3"/>
          <p:cNvSpPr>
            <a:spLocks noGrp="1"/>
          </p:cNvSpPr>
          <p:nvPr>
            <p:ph type="dt" sz="half" idx="10"/>
          </p:nvPr>
        </p:nvSpPr>
        <p:spPr>
          <a:xfrm>
            <a:off x="802650" y="6979608"/>
            <a:ext cx="1321036" cy="161616"/>
          </a:xfrm>
        </p:spPr>
        <p:txBody>
          <a:bodyPr/>
          <a:lstStyle/>
          <a:p>
            <a:fld id="{3BBF55FC-4B31-4D83-B9A5-A15A1E0451CC}" type="datetime2">
              <a:rPr lang="tr-TR" smtClean="0"/>
              <a:t>3 Temmuz 2026 Cuma</a:t>
            </a:fld>
            <a:endParaRPr lang="tr-TR" dirty="0"/>
          </a:p>
        </p:txBody>
      </p:sp>
      <p:sp>
        <p:nvSpPr>
          <p:cNvPr id="10" name="TextBox 9"/>
          <p:cNvSpPr txBox="1"/>
          <p:nvPr/>
        </p:nvSpPr>
        <p:spPr>
          <a:xfrm>
            <a:off x="6358" y="2036298"/>
            <a:ext cx="10693399" cy="807913"/>
          </a:xfrm>
          <a:prstGeom prst="rect">
            <a:avLst/>
          </a:prstGeom>
          <a:noFill/>
        </p:spPr>
        <p:txBody>
          <a:bodyPr wrap="square" rtlCol="0">
            <a:spAutoFit/>
          </a:bodyPr>
          <a:lstStyle/>
          <a:p>
            <a:pPr marL="250631" indent="-250631">
              <a:buFont typeface="Arial" panose="020B0604020202020204" pitchFamily="34" charset="0"/>
              <a:buChar char="•"/>
            </a:pPr>
            <a:r>
              <a:rPr lang="tr-TR" sz="1550" dirty="0">
                <a:latin typeface="+mn-lt"/>
              </a:rPr>
              <a:t>Atışa hazırlık aşamasında pnömatik tasarımınızın en güncel hali tanıtılmalıdır. Bu kapsamda Pnömatik sistem güncelleme tablosu doldurulmalıdır.  </a:t>
            </a:r>
          </a:p>
          <a:p>
            <a:pPr marL="250631" indent="-250631">
              <a:buFont typeface="Arial" panose="020B0604020202020204" pitchFamily="34" charset="0"/>
              <a:buChar char="•"/>
            </a:pPr>
            <a:r>
              <a:rPr lang="tr-TR" sz="1550" dirty="0">
                <a:latin typeface="+mn-lt"/>
              </a:rPr>
              <a:t>Pnömatik sistem güncelleme tablosu </a:t>
            </a:r>
            <a:r>
              <a:rPr lang="tr-TR" sz="1550" b="1" dirty="0">
                <a:latin typeface="+mn-lt"/>
              </a:rPr>
              <a:t>7 yansıyı </a:t>
            </a:r>
            <a:r>
              <a:rPr lang="tr-TR" sz="1550" dirty="0">
                <a:latin typeface="+mn-lt"/>
              </a:rPr>
              <a:t>geçmemelidir.</a:t>
            </a:r>
          </a:p>
        </p:txBody>
      </p:sp>
      <p:pic>
        <p:nvPicPr>
          <p:cNvPr id="12"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276225"/>
            <a:ext cx="1063165" cy="1063165"/>
          </a:xfrm>
          <a:prstGeom prst="rect">
            <a:avLst/>
          </a:prstGeom>
        </p:spPr>
      </p:pic>
      <p:graphicFrame>
        <p:nvGraphicFramePr>
          <p:cNvPr id="16" name="Tablo 13"/>
          <p:cNvGraphicFramePr>
            <a:graphicFrameLocks noGrp="1"/>
          </p:cNvGraphicFramePr>
          <p:nvPr/>
        </p:nvGraphicFramePr>
        <p:xfrm>
          <a:off x="610450" y="2985688"/>
          <a:ext cx="9472500" cy="2927322"/>
        </p:xfrm>
        <a:graphic>
          <a:graphicData uri="http://schemas.openxmlformats.org/drawingml/2006/table">
            <a:tbl>
              <a:tblPr firstRow="1" bandRow="1">
                <a:tableStyleId>{5C22544A-7EE6-4342-B048-85BDC9FD1C3A}</a:tableStyleId>
              </a:tblPr>
              <a:tblGrid>
                <a:gridCol w="3157500">
                  <a:extLst>
                    <a:ext uri="{9D8B030D-6E8A-4147-A177-3AD203B41FA5}">
                      <a16:colId xmlns:a16="http://schemas.microsoft.com/office/drawing/2014/main" val="2265175694"/>
                    </a:ext>
                  </a:extLst>
                </a:gridCol>
                <a:gridCol w="3157500">
                  <a:extLst>
                    <a:ext uri="{9D8B030D-6E8A-4147-A177-3AD203B41FA5}">
                      <a16:colId xmlns:a16="http://schemas.microsoft.com/office/drawing/2014/main" val="3050119131"/>
                    </a:ext>
                  </a:extLst>
                </a:gridCol>
                <a:gridCol w="3157500">
                  <a:extLst>
                    <a:ext uri="{9D8B030D-6E8A-4147-A177-3AD203B41FA5}">
                      <a16:colId xmlns:a16="http://schemas.microsoft.com/office/drawing/2014/main" val="476029237"/>
                    </a:ext>
                  </a:extLst>
                </a:gridCol>
              </a:tblGrid>
              <a:tr h="325258">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sz="1600" dirty="0"/>
                        <a:t>PNÖMATİK SİSTEM GÜNCELLEME TABLOSU</a:t>
                      </a:r>
                    </a:p>
                  </a:txBody>
                  <a:tcPr marL="80201" marR="80201" marT="40100" marB="40100" anchor="ctr">
                    <a:solidFill>
                      <a:schemeClr val="accent1"/>
                    </a:solidFill>
                  </a:tcPr>
                </a:tc>
                <a:tc hMerge="1">
                  <a:txBody>
                    <a:bodyPr/>
                    <a:lstStyle/>
                    <a:p>
                      <a:pPr algn="ctr"/>
                      <a:endParaRPr lang="tr-TR" dirty="0"/>
                    </a:p>
                  </a:txBody>
                  <a:tcPr anchor="ctr">
                    <a:solidFill>
                      <a:schemeClr val="accent1"/>
                    </a:solidFill>
                  </a:tcPr>
                </a:tc>
                <a:tc hMerge="1">
                  <a:txBody>
                    <a:bodyPr/>
                    <a:lstStyle/>
                    <a:p>
                      <a:pPr algn="ctr"/>
                      <a:endParaRPr lang="tr-TR" dirty="0"/>
                    </a:p>
                  </a:txBody>
                  <a:tcPr anchor="ctr">
                    <a:solidFill>
                      <a:schemeClr val="accent1"/>
                    </a:solidFill>
                  </a:tcPr>
                </a:tc>
                <a:extLst>
                  <a:ext uri="{0D108BD9-81ED-4DB2-BD59-A6C34878D82A}">
                    <a16:rowId xmlns:a16="http://schemas.microsoft.com/office/drawing/2014/main" val="791342091"/>
                  </a:ext>
                </a:extLst>
              </a:tr>
              <a:tr h="325258">
                <a:tc>
                  <a:txBody>
                    <a:bodyPr/>
                    <a:lstStyle/>
                    <a:p>
                      <a:pPr algn="ctr"/>
                      <a:r>
                        <a:rPr lang="tr-TR" sz="1600" dirty="0"/>
                        <a:t>Kritik Tasarım</a:t>
                      </a:r>
                    </a:p>
                  </a:txBody>
                  <a:tcPr marL="80201" marR="80201" marT="40100" marB="40100" anchor="ctr">
                    <a:solidFill>
                      <a:schemeClr val="accent1"/>
                    </a:solidFill>
                  </a:tcPr>
                </a:tc>
                <a:tc>
                  <a:txBody>
                    <a:bodyPr/>
                    <a:lstStyle/>
                    <a:p>
                      <a:pPr algn="ctr"/>
                      <a:r>
                        <a:rPr lang="tr-TR" sz="1600" dirty="0"/>
                        <a:t>Güncel</a:t>
                      </a:r>
                      <a:r>
                        <a:rPr lang="tr-TR" sz="1600" baseline="0" dirty="0"/>
                        <a:t> Tasarım</a:t>
                      </a:r>
                      <a:endParaRPr lang="tr-TR" sz="1600" dirty="0"/>
                    </a:p>
                  </a:txBody>
                  <a:tcPr marL="80201" marR="80201" marT="40100" marB="40100" anchor="ctr">
                    <a:solidFill>
                      <a:schemeClr val="accent1"/>
                    </a:solidFill>
                  </a:tcPr>
                </a:tc>
                <a:tc>
                  <a:txBody>
                    <a:bodyPr/>
                    <a:lstStyle/>
                    <a:p>
                      <a:pPr algn="ctr"/>
                      <a:r>
                        <a:rPr lang="tr-TR" sz="1600" dirty="0"/>
                        <a:t>Yapılan</a:t>
                      </a:r>
                      <a:r>
                        <a:rPr lang="tr-TR" sz="1600" baseline="0" dirty="0"/>
                        <a:t> değişimin açıklaması</a:t>
                      </a:r>
                      <a:endParaRPr lang="tr-TR" sz="1600" dirty="0"/>
                    </a:p>
                  </a:txBody>
                  <a:tcPr marL="80201" marR="80201" marT="40100" marB="40100" anchor="ctr">
                    <a:solidFill>
                      <a:schemeClr val="accent1"/>
                    </a:solidFill>
                  </a:tcPr>
                </a:tc>
                <a:extLst>
                  <a:ext uri="{0D108BD9-81ED-4DB2-BD59-A6C34878D82A}">
                    <a16:rowId xmlns:a16="http://schemas.microsoft.com/office/drawing/2014/main" val="2499479259"/>
                  </a:ext>
                </a:extLst>
              </a:tr>
              <a:tr h="325258">
                <a:tc>
                  <a:txBody>
                    <a:bodyPr/>
                    <a:lstStyle/>
                    <a:p>
                      <a:pPr algn="ctr"/>
                      <a:endParaRPr lang="tr-TR" sz="1600" dirty="0"/>
                    </a:p>
                  </a:txBody>
                  <a:tcPr marL="80201" marR="80201" marT="40100" marB="40100" anchor="ctr"/>
                </a:tc>
                <a:tc>
                  <a:txBody>
                    <a:bodyPr/>
                    <a:lstStyle/>
                    <a:p>
                      <a:pPr algn="ctr"/>
                      <a:endParaRPr lang="tr-TR" sz="1600" dirty="0"/>
                    </a:p>
                  </a:txBody>
                  <a:tcPr marL="80201" marR="80201" marT="40100" marB="40100" anchor="ctr"/>
                </a:tc>
                <a:tc>
                  <a:txBody>
                    <a:bodyPr/>
                    <a:lstStyle/>
                    <a:p>
                      <a:pPr algn="ctr"/>
                      <a:endParaRPr lang="tr-TR" sz="1600" dirty="0"/>
                    </a:p>
                  </a:txBody>
                  <a:tcPr marL="80201" marR="80201" marT="40100" marB="40100" anchor="ctr"/>
                </a:tc>
                <a:extLst>
                  <a:ext uri="{0D108BD9-81ED-4DB2-BD59-A6C34878D82A}">
                    <a16:rowId xmlns:a16="http://schemas.microsoft.com/office/drawing/2014/main" val="1816308166"/>
                  </a:ext>
                </a:extLst>
              </a:tr>
              <a:tr h="325258">
                <a:tc>
                  <a:txBody>
                    <a:bodyPr/>
                    <a:lstStyle/>
                    <a:p>
                      <a:pPr algn="ctr"/>
                      <a:endParaRPr lang="tr-TR" sz="1600" dirty="0"/>
                    </a:p>
                  </a:txBody>
                  <a:tcPr marL="80201" marR="80201" marT="40100" marB="40100" anchor="ctr"/>
                </a:tc>
                <a:tc>
                  <a:txBody>
                    <a:bodyPr/>
                    <a:lstStyle/>
                    <a:p>
                      <a:pPr algn="ctr"/>
                      <a:endParaRPr lang="tr-TR" sz="1600" dirty="0"/>
                    </a:p>
                  </a:txBody>
                  <a:tcPr marL="80201" marR="80201" marT="40100" marB="40100" anchor="ctr"/>
                </a:tc>
                <a:tc>
                  <a:txBody>
                    <a:bodyPr/>
                    <a:lstStyle/>
                    <a:p>
                      <a:pPr algn="ctr"/>
                      <a:endParaRPr lang="tr-TR" sz="1600" dirty="0"/>
                    </a:p>
                  </a:txBody>
                  <a:tcPr marL="80201" marR="80201" marT="40100" marB="40100" anchor="ctr"/>
                </a:tc>
                <a:extLst>
                  <a:ext uri="{0D108BD9-81ED-4DB2-BD59-A6C34878D82A}">
                    <a16:rowId xmlns:a16="http://schemas.microsoft.com/office/drawing/2014/main" val="1362583560"/>
                  </a:ext>
                </a:extLst>
              </a:tr>
              <a:tr h="325258">
                <a:tc>
                  <a:txBody>
                    <a:bodyPr/>
                    <a:lstStyle/>
                    <a:p>
                      <a:pPr algn="ctr"/>
                      <a:endParaRPr lang="tr-TR" sz="1600"/>
                    </a:p>
                  </a:txBody>
                  <a:tcPr marL="80201" marR="80201" marT="40100" marB="40100" anchor="ctr"/>
                </a:tc>
                <a:tc>
                  <a:txBody>
                    <a:bodyPr/>
                    <a:lstStyle/>
                    <a:p>
                      <a:pPr algn="ctr"/>
                      <a:endParaRPr lang="tr-TR" sz="1600" dirty="0"/>
                    </a:p>
                  </a:txBody>
                  <a:tcPr marL="80201" marR="80201" marT="40100" marB="40100" anchor="ctr"/>
                </a:tc>
                <a:tc>
                  <a:txBody>
                    <a:bodyPr/>
                    <a:lstStyle/>
                    <a:p>
                      <a:pPr algn="ctr"/>
                      <a:endParaRPr lang="tr-TR" sz="1600" dirty="0"/>
                    </a:p>
                  </a:txBody>
                  <a:tcPr marL="80201" marR="80201" marT="40100" marB="40100" anchor="ctr"/>
                </a:tc>
                <a:extLst>
                  <a:ext uri="{0D108BD9-81ED-4DB2-BD59-A6C34878D82A}">
                    <a16:rowId xmlns:a16="http://schemas.microsoft.com/office/drawing/2014/main" val="2976448572"/>
                  </a:ext>
                </a:extLst>
              </a:tr>
              <a:tr h="325258">
                <a:tc>
                  <a:txBody>
                    <a:bodyPr/>
                    <a:lstStyle/>
                    <a:p>
                      <a:pPr algn="ctr"/>
                      <a:endParaRPr lang="tr-TR" sz="1600"/>
                    </a:p>
                  </a:txBody>
                  <a:tcPr marL="80201" marR="80201" marT="40100" marB="40100" anchor="ctr"/>
                </a:tc>
                <a:tc>
                  <a:txBody>
                    <a:bodyPr/>
                    <a:lstStyle/>
                    <a:p>
                      <a:pPr algn="ctr"/>
                      <a:endParaRPr lang="tr-TR" sz="1600" dirty="0"/>
                    </a:p>
                  </a:txBody>
                  <a:tcPr marL="80201" marR="80201" marT="40100" marB="40100" anchor="ctr"/>
                </a:tc>
                <a:tc>
                  <a:txBody>
                    <a:bodyPr/>
                    <a:lstStyle/>
                    <a:p>
                      <a:pPr algn="ctr"/>
                      <a:endParaRPr lang="tr-TR" sz="1600" dirty="0"/>
                    </a:p>
                  </a:txBody>
                  <a:tcPr marL="80201" marR="80201" marT="40100" marB="40100" anchor="ctr"/>
                </a:tc>
                <a:extLst>
                  <a:ext uri="{0D108BD9-81ED-4DB2-BD59-A6C34878D82A}">
                    <a16:rowId xmlns:a16="http://schemas.microsoft.com/office/drawing/2014/main" val="1352537514"/>
                  </a:ext>
                </a:extLst>
              </a:tr>
              <a:tr h="325258">
                <a:tc>
                  <a:txBody>
                    <a:bodyPr/>
                    <a:lstStyle/>
                    <a:p>
                      <a:pPr algn="ctr"/>
                      <a:endParaRPr lang="tr-TR" sz="1600"/>
                    </a:p>
                  </a:txBody>
                  <a:tcPr marL="80201" marR="80201" marT="40100" marB="40100" anchor="ctr"/>
                </a:tc>
                <a:tc>
                  <a:txBody>
                    <a:bodyPr/>
                    <a:lstStyle/>
                    <a:p>
                      <a:pPr algn="ctr"/>
                      <a:endParaRPr lang="tr-TR" sz="1600" dirty="0"/>
                    </a:p>
                  </a:txBody>
                  <a:tcPr marL="80201" marR="80201" marT="40100" marB="40100" anchor="ctr"/>
                </a:tc>
                <a:tc>
                  <a:txBody>
                    <a:bodyPr/>
                    <a:lstStyle/>
                    <a:p>
                      <a:pPr algn="ctr"/>
                      <a:endParaRPr lang="tr-TR" sz="1600" dirty="0"/>
                    </a:p>
                  </a:txBody>
                  <a:tcPr marL="80201" marR="80201" marT="40100" marB="40100" anchor="ctr"/>
                </a:tc>
                <a:extLst>
                  <a:ext uri="{0D108BD9-81ED-4DB2-BD59-A6C34878D82A}">
                    <a16:rowId xmlns:a16="http://schemas.microsoft.com/office/drawing/2014/main" val="669090105"/>
                  </a:ext>
                </a:extLst>
              </a:tr>
              <a:tr h="325258">
                <a:tc>
                  <a:txBody>
                    <a:bodyPr/>
                    <a:lstStyle/>
                    <a:p>
                      <a:pPr algn="ctr"/>
                      <a:endParaRPr lang="tr-TR" sz="1600"/>
                    </a:p>
                  </a:txBody>
                  <a:tcPr marL="80201" marR="80201" marT="40100" marB="40100" anchor="ctr"/>
                </a:tc>
                <a:tc>
                  <a:txBody>
                    <a:bodyPr/>
                    <a:lstStyle/>
                    <a:p>
                      <a:pPr algn="ctr"/>
                      <a:endParaRPr lang="tr-TR" sz="1600" dirty="0"/>
                    </a:p>
                  </a:txBody>
                  <a:tcPr marL="80201" marR="80201" marT="40100" marB="40100" anchor="ctr"/>
                </a:tc>
                <a:tc>
                  <a:txBody>
                    <a:bodyPr/>
                    <a:lstStyle/>
                    <a:p>
                      <a:pPr algn="ctr"/>
                      <a:endParaRPr lang="tr-TR" sz="1600" dirty="0"/>
                    </a:p>
                  </a:txBody>
                  <a:tcPr marL="80201" marR="80201" marT="40100" marB="40100" anchor="ctr"/>
                </a:tc>
                <a:extLst>
                  <a:ext uri="{0D108BD9-81ED-4DB2-BD59-A6C34878D82A}">
                    <a16:rowId xmlns:a16="http://schemas.microsoft.com/office/drawing/2014/main" val="4214590994"/>
                  </a:ext>
                </a:extLst>
              </a:tr>
              <a:tr h="325258">
                <a:tc>
                  <a:txBody>
                    <a:bodyPr/>
                    <a:lstStyle/>
                    <a:p>
                      <a:pPr algn="ctr"/>
                      <a:endParaRPr lang="tr-TR" sz="1600"/>
                    </a:p>
                  </a:txBody>
                  <a:tcPr marL="80201" marR="80201" marT="40100" marB="40100" anchor="ctr"/>
                </a:tc>
                <a:tc>
                  <a:txBody>
                    <a:bodyPr/>
                    <a:lstStyle/>
                    <a:p>
                      <a:pPr algn="ctr"/>
                      <a:endParaRPr lang="tr-TR" sz="1600" dirty="0"/>
                    </a:p>
                  </a:txBody>
                  <a:tcPr marL="80201" marR="80201" marT="40100" marB="40100" anchor="ctr"/>
                </a:tc>
                <a:tc>
                  <a:txBody>
                    <a:bodyPr/>
                    <a:lstStyle/>
                    <a:p>
                      <a:pPr algn="ctr"/>
                      <a:endParaRPr lang="tr-TR" sz="1600" dirty="0"/>
                    </a:p>
                  </a:txBody>
                  <a:tcPr marL="80201" marR="80201" marT="40100" marB="40100" anchor="ctr"/>
                </a:tc>
                <a:extLst>
                  <a:ext uri="{0D108BD9-81ED-4DB2-BD59-A6C34878D82A}">
                    <a16:rowId xmlns:a16="http://schemas.microsoft.com/office/drawing/2014/main" val="1187242163"/>
                  </a:ext>
                </a:extLst>
              </a:tr>
            </a:tbl>
          </a:graphicData>
        </a:graphic>
      </p:graphicFrame>
      <p:sp>
        <p:nvSpPr>
          <p:cNvPr id="17" name="TextBox 16"/>
          <p:cNvSpPr txBox="1"/>
          <p:nvPr/>
        </p:nvSpPr>
        <p:spPr>
          <a:xfrm rot="19567001">
            <a:off x="3178328" y="4286570"/>
            <a:ext cx="4059125" cy="983218"/>
          </a:xfrm>
          <a:prstGeom prst="rect">
            <a:avLst/>
          </a:prstGeom>
          <a:noFill/>
        </p:spPr>
        <p:txBody>
          <a:bodyPr wrap="none" rtlCol="0">
            <a:spAutoFit/>
          </a:bodyPr>
          <a:lstStyle/>
          <a:p>
            <a:r>
              <a:rPr lang="tr-TR" sz="5789" b="1" dirty="0">
                <a:solidFill>
                  <a:srgbClr val="FF0000"/>
                </a:solidFill>
              </a:rPr>
              <a:t>ÖRNEKTİR</a:t>
            </a:r>
          </a:p>
        </p:txBody>
      </p:sp>
      <p:sp>
        <p:nvSpPr>
          <p:cNvPr id="18" name="Footer Placeholder 8"/>
          <p:cNvSpPr>
            <a:spLocks noGrp="1"/>
          </p:cNvSpPr>
          <p:nvPr>
            <p:ph type="ftr" sz="quarter" idx="11"/>
          </p:nvPr>
        </p:nvSpPr>
        <p:spPr>
          <a:xfrm>
            <a:off x="3542189" y="6890180"/>
            <a:ext cx="3609023" cy="320245"/>
          </a:xfrm>
        </p:spPr>
        <p:txBody>
          <a:bodyPr/>
          <a:lstStyle/>
          <a:p>
            <a:pPr algn="ctr"/>
            <a:r>
              <a:rPr lang="tr-TR" dirty="0"/>
              <a:t>2026 TEKNOFEST DİKEY İNİŞLİ ROKET YARIŞMASI</a:t>
            </a:r>
          </a:p>
          <a:p>
            <a:pPr algn="ctr"/>
            <a:r>
              <a:rPr lang="tr-TR" dirty="0"/>
              <a:t>ATIŞA HAZIRLIK RAPORU (AHR)</a:t>
            </a:r>
          </a:p>
        </p:txBody>
      </p:sp>
      <p:sp>
        <p:nvSpPr>
          <p:cNvPr id="7" name="TextBox 6">
            <a:extLst>
              <a:ext uri="{FF2B5EF4-FFF2-40B4-BE49-F238E27FC236}">
                <a16:creationId xmlns:a16="http://schemas.microsoft.com/office/drawing/2014/main" id="{41C761F7-BEA6-E684-8F0B-873B70208D06}"/>
              </a:ext>
            </a:extLst>
          </p:cNvPr>
          <p:cNvSpPr txBox="1"/>
          <p:nvPr/>
        </p:nvSpPr>
        <p:spPr>
          <a:xfrm>
            <a:off x="6357" y="544652"/>
            <a:ext cx="1027922" cy="569387"/>
          </a:xfrm>
          <a:prstGeom prst="rect">
            <a:avLst/>
          </a:prstGeom>
          <a:noFill/>
          <a:ln>
            <a:solidFill>
              <a:schemeClr val="tx1"/>
            </a:solidFill>
          </a:ln>
        </p:spPr>
        <p:txBody>
          <a:bodyPr wrap="square" rtlCol="0">
            <a:spAutoFit/>
          </a:bodyPr>
          <a:lstStyle/>
          <a:p>
            <a:pPr algn="ctr"/>
            <a:r>
              <a:rPr lang="tr-TR" sz="1550" dirty="0">
                <a:latin typeface="+mn-lt"/>
              </a:rPr>
              <a:t>Takım Logosu</a:t>
            </a:r>
          </a:p>
        </p:txBody>
      </p:sp>
    </p:spTree>
    <p:extLst>
      <p:ext uri="{BB962C8B-B14F-4D97-AF65-F5344CB8AC3E}">
        <p14:creationId xmlns:p14="http://schemas.microsoft.com/office/powerpoint/2010/main" val="672110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35012" y="494808"/>
            <a:ext cx="8020050" cy="658651"/>
          </a:xfrm>
        </p:spPr>
        <p:txBody>
          <a:bodyPr>
            <a:noAutofit/>
          </a:bodyPr>
          <a:lstStyle/>
          <a:p>
            <a:r>
              <a:rPr lang="tr-TR" sz="3950" dirty="0" err="1">
                <a:solidFill>
                  <a:srgbClr val="0070C0"/>
                </a:solidFill>
                <a:latin typeface="+mn-lt"/>
                <a:cs typeface="Times New Roman" panose="02020603050405020304" pitchFamily="18" charset="0"/>
              </a:rPr>
              <a:t>Pnömatik</a:t>
            </a:r>
            <a:r>
              <a:rPr lang="tr-TR" sz="3950" dirty="0">
                <a:solidFill>
                  <a:srgbClr val="0070C0"/>
                </a:solidFill>
                <a:latin typeface="+mn-lt"/>
                <a:cs typeface="Times New Roman" panose="02020603050405020304" pitchFamily="18" charset="0"/>
              </a:rPr>
              <a:t> Sistem Tasarımı - Detay</a:t>
            </a:r>
          </a:p>
        </p:txBody>
      </p:sp>
      <p:cxnSp>
        <p:nvCxnSpPr>
          <p:cNvPr id="5" name="Straight Connector 4"/>
          <p:cNvCxnSpPr/>
          <p:nvPr/>
        </p:nvCxnSpPr>
        <p:spPr>
          <a:xfrm flipV="1">
            <a:off x="0" y="1352684"/>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78851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9724145" y="6979608"/>
            <a:ext cx="201986" cy="161290"/>
          </a:xfrm>
        </p:spPr>
        <p:txBody>
          <a:bodyPr/>
          <a:lstStyle/>
          <a:p>
            <a:fld id="{87BEDC82-49FF-42E3-B7EA-26FF728940D5}" type="slidenum">
              <a:rPr lang="tr-TR" smtClean="0"/>
              <a:t>19</a:t>
            </a:fld>
            <a:endParaRPr lang="tr-TR"/>
          </a:p>
        </p:txBody>
      </p:sp>
      <p:sp>
        <p:nvSpPr>
          <p:cNvPr id="4" name="Date Placeholder 3"/>
          <p:cNvSpPr>
            <a:spLocks noGrp="1"/>
          </p:cNvSpPr>
          <p:nvPr>
            <p:ph type="dt" sz="half" idx="10"/>
          </p:nvPr>
        </p:nvSpPr>
        <p:spPr>
          <a:xfrm>
            <a:off x="802650" y="6979608"/>
            <a:ext cx="1321036" cy="161616"/>
          </a:xfrm>
        </p:spPr>
        <p:txBody>
          <a:bodyPr/>
          <a:lstStyle/>
          <a:p>
            <a:fld id="{4360A3EB-8F43-4F24-9650-C342605B07E6}" type="datetime2">
              <a:rPr lang="tr-TR" smtClean="0"/>
              <a:t>3 Temmuz 2026 Cuma</a:t>
            </a:fld>
            <a:endParaRPr lang="tr-TR" dirty="0"/>
          </a:p>
        </p:txBody>
      </p:sp>
      <p:sp>
        <p:nvSpPr>
          <p:cNvPr id="10" name="TextBox 9"/>
          <p:cNvSpPr txBox="1"/>
          <p:nvPr/>
        </p:nvSpPr>
        <p:spPr>
          <a:xfrm>
            <a:off x="6358" y="2036298"/>
            <a:ext cx="10693399" cy="1523494"/>
          </a:xfrm>
          <a:prstGeom prst="rect">
            <a:avLst/>
          </a:prstGeom>
          <a:noFill/>
        </p:spPr>
        <p:txBody>
          <a:bodyPr wrap="square" rtlCol="0">
            <a:spAutoFit/>
          </a:bodyPr>
          <a:lstStyle/>
          <a:p>
            <a:pPr marL="250631" indent="-250631">
              <a:buFont typeface="Arial" panose="020B0604020202020204" pitchFamily="34" charset="0"/>
              <a:buChar char="•"/>
            </a:pPr>
            <a:r>
              <a:rPr lang="tr-TR" sz="1550" dirty="0">
                <a:latin typeface="+mn-lt"/>
              </a:rPr>
              <a:t>Güncel pnömatik sistem tasarımında kullanılan ve piyasadan temin edilen tüm ürünler tanıtılmalıdır. Bu kapsamda </a:t>
            </a:r>
            <a:r>
              <a:rPr lang="tr-TR" sz="1550" b="1" dirty="0">
                <a:latin typeface="+mn-lt"/>
              </a:rPr>
              <a:t>Pnömatik Sistem Ürün Ağacı Tablosu</a:t>
            </a:r>
            <a:r>
              <a:rPr lang="tr-TR" sz="1550" dirty="0">
                <a:latin typeface="+mn-lt"/>
              </a:rPr>
              <a:t> doldurulmalıdır. </a:t>
            </a:r>
          </a:p>
          <a:p>
            <a:pPr marL="250631" indent="-250631">
              <a:buFont typeface="Arial" panose="020B0604020202020204" pitchFamily="34" charset="0"/>
              <a:buChar char="•"/>
            </a:pPr>
            <a:r>
              <a:rPr lang="tr-TR" sz="1550" b="1" dirty="0">
                <a:solidFill>
                  <a:srgbClr val="FF0000"/>
                </a:solidFill>
                <a:latin typeface="+mn-lt"/>
              </a:rPr>
              <a:t>Her ürünün teknik özelliklerini barındıran kataloğu (veya muadil kaynak) PDF formatında ek olarak paylaşılmalıdır.</a:t>
            </a:r>
            <a:r>
              <a:rPr lang="tr-TR" sz="1550" dirty="0">
                <a:latin typeface="+mn-lt"/>
              </a:rPr>
              <a:t> </a:t>
            </a:r>
          </a:p>
          <a:p>
            <a:pPr marL="250631" indent="-250631">
              <a:buFont typeface="Arial" panose="020B0604020202020204" pitchFamily="34" charset="0"/>
              <a:buChar char="•"/>
            </a:pPr>
            <a:r>
              <a:rPr lang="tr-TR" sz="1550" dirty="0">
                <a:latin typeface="+mn-lt"/>
              </a:rPr>
              <a:t>Katalog dosyaları </a:t>
            </a:r>
            <a:r>
              <a:rPr lang="tr-TR" sz="1550" b="1" i="1" dirty="0">
                <a:latin typeface="+mn-lt"/>
              </a:rPr>
              <a:t>«Takımismi_Ürünkodu_katalog.pdf»</a:t>
            </a:r>
            <a:r>
              <a:rPr lang="tr-TR" sz="1550" b="1" dirty="0">
                <a:latin typeface="+mn-lt"/>
              </a:rPr>
              <a:t> </a:t>
            </a:r>
            <a:r>
              <a:rPr lang="tr-TR" sz="1550" dirty="0">
                <a:latin typeface="+mn-lt"/>
              </a:rPr>
              <a:t>formatında isimlendirilmelidir.</a:t>
            </a:r>
          </a:p>
          <a:p>
            <a:pPr marL="250631" indent="-250631">
              <a:buFont typeface="Arial" panose="020B0604020202020204" pitchFamily="34" charset="0"/>
              <a:buChar char="•"/>
            </a:pPr>
            <a:r>
              <a:rPr lang="tr-TR" sz="1550" dirty="0">
                <a:latin typeface="+mn-lt"/>
              </a:rPr>
              <a:t>Pnömatik sistem ürün ağacı tablosunda istenen bilgiler katalog dokümanlarında </a:t>
            </a:r>
            <a:r>
              <a:rPr lang="tr-TR" sz="1550" dirty="0">
                <a:highlight>
                  <a:srgbClr val="FFFF00"/>
                </a:highlight>
                <a:latin typeface="+mn-lt"/>
              </a:rPr>
              <a:t>işaretlenmiş</a:t>
            </a:r>
            <a:r>
              <a:rPr lang="tr-TR" sz="1550" dirty="0">
                <a:latin typeface="+mn-lt"/>
              </a:rPr>
              <a:t> olmalıdır.</a:t>
            </a:r>
          </a:p>
          <a:p>
            <a:pPr marL="250631" indent="-250631">
              <a:buFont typeface="Arial" panose="020B0604020202020204" pitchFamily="34" charset="0"/>
              <a:buChar char="•"/>
            </a:pPr>
            <a:r>
              <a:rPr lang="tr-TR" sz="1550" dirty="0">
                <a:latin typeface="+mn-lt"/>
              </a:rPr>
              <a:t>Bu bölüm 5 yansıyı geçmemelidir.</a:t>
            </a:r>
          </a:p>
        </p:txBody>
      </p:sp>
      <p:pic>
        <p:nvPicPr>
          <p:cNvPr id="12"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276225"/>
            <a:ext cx="1063165" cy="1063165"/>
          </a:xfrm>
          <a:prstGeom prst="rect">
            <a:avLst/>
          </a:prstGeom>
        </p:spPr>
      </p:pic>
      <p:graphicFrame>
        <p:nvGraphicFramePr>
          <p:cNvPr id="18" name="Tablo 6"/>
          <p:cNvGraphicFramePr>
            <a:graphicFrameLocks noGrp="1"/>
          </p:cNvGraphicFramePr>
          <p:nvPr/>
        </p:nvGraphicFramePr>
        <p:xfrm>
          <a:off x="100386" y="3861850"/>
          <a:ext cx="10492629" cy="2098582"/>
        </p:xfrm>
        <a:graphic>
          <a:graphicData uri="http://schemas.openxmlformats.org/drawingml/2006/table">
            <a:tbl>
              <a:tblPr firstRow="1" bandRow="1">
                <a:tableStyleId>{5C22544A-7EE6-4342-B048-85BDC9FD1C3A}</a:tableStyleId>
              </a:tblPr>
              <a:tblGrid>
                <a:gridCol w="955152">
                  <a:extLst>
                    <a:ext uri="{9D8B030D-6E8A-4147-A177-3AD203B41FA5}">
                      <a16:colId xmlns:a16="http://schemas.microsoft.com/office/drawing/2014/main" val="2265175694"/>
                    </a:ext>
                  </a:extLst>
                </a:gridCol>
                <a:gridCol w="955152">
                  <a:extLst>
                    <a:ext uri="{9D8B030D-6E8A-4147-A177-3AD203B41FA5}">
                      <a16:colId xmlns:a16="http://schemas.microsoft.com/office/drawing/2014/main" val="2858313917"/>
                    </a:ext>
                  </a:extLst>
                </a:gridCol>
                <a:gridCol w="684753">
                  <a:extLst>
                    <a:ext uri="{9D8B030D-6E8A-4147-A177-3AD203B41FA5}">
                      <a16:colId xmlns:a16="http://schemas.microsoft.com/office/drawing/2014/main" val="3050119131"/>
                    </a:ext>
                  </a:extLst>
                </a:gridCol>
                <a:gridCol w="634921">
                  <a:extLst>
                    <a:ext uri="{9D8B030D-6E8A-4147-A177-3AD203B41FA5}">
                      <a16:colId xmlns:a16="http://schemas.microsoft.com/office/drawing/2014/main" val="476029237"/>
                    </a:ext>
                  </a:extLst>
                </a:gridCol>
                <a:gridCol w="1470343">
                  <a:extLst>
                    <a:ext uri="{9D8B030D-6E8A-4147-A177-3AD203B41FA5}">
                      <a16:colId xmlns:a16="http://schemas.microsoft.com/office/drawing/2014/main" val="1664172675"/>
                    </a:ext>
                  </a:extLst>
                </a:gridCol>
                <a:gridCol w="1236424">
                  <a:extLst>
                    <a:ext uri="{9D8B030D-6E8A-4147-A177-3AD203B41FA5}">
                      <a16:colId xmlns:a16="http://schemas.microsoft.com/office/drawing/2014/main" val="1130216952"/>
                    </a:ext>
                  </a:extLst>
                </a:gridCol>
                <a:gridCol w="861609">
                  <a:extLst>
                    <a:ext uri="{9D8B030D-6E8A-4147-A177-3AD203B41FA5}">
                      <a16:colId xmlns:a16="http://schemas.microsoft.com/office/drawing/2014/main" val="3571806052"/>
                    </a:ext>
                  </a:extLst>
                </a:gridCol>
                <a:gridCol w="852525">
                  <a:extLst>
                    <a:ext uri="{9D8B030D-6E8A-4147-A177-3AD203B41FA5}">
                      <a16:colId xmlns:a16="http://schemas.microsoft.com/office/drawing/2014/main" val="1354482178"/>
                    </a:ext>
                  </a:extLst>
                </a:gridCol>
                <a:gridCol w="1136700">
                  <a:extLst>
                    <a:ext uri="{9D8B030D-6E8A-4147-A177-3AD203B41FA5}">
                      <a16:colId xmlns:a16="http://schemas.microsoft.com/office/drawing/2014/main" val="1034022442"/>
                    </a:ext>
                  </a:extLst>
                </a:gridCol>
                <a:gridCol w="852525">
                  <a:extLst>
                    <a:ext uri="{9D8B030D-6E8A-4147-A177-3AD203B41FA5}">
                      <a16:colId xmlns:a16="http://schemas.microsoft.com/office/drawing/2014/main" val="2275062370"/>
                    </a:ext>
                  </a:extLst>
                </a:gridCol>
                <a:gridCol w="852525">
                  <a:extLst>
                    <a:ext uri="{9D8B030D-6E8A-4147-A177-3AD203B41FA5}">
                      <a16:colId xmlns:a16="http://schemas.microsoft.com/office/drawing/2014/main" val="3570620568"/>
                    </a:ext>
                  </a:extLst>
                </a:gridCol>
              </a:tblGrid>
              <a:tr h="325258">
                <a:tc gridSpan="1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sz="1400" dirty="0"/>
                        <a:t>PNÖMATİK SİSTEM ÜRÜN AĞACI TABLOSU</a:t>
                      </a:r>
                    </a:p>
                  </a:txBody>
                  <a:tcPr marL="80201" marR="80201" marT="40100" marB="40100" anchor="ctr">
                    <a:solidFill>
                      <a:schemeClr val="accent1"/>
                    </a:solidFill>
                  </a:tcPr>
                </a:tc>
                <a:tc hMerge="1">
                  <a:txBody>
                    <a:bodyPr/>
                    <a:lstStyle/>
                    <a:p>
                      <a:pPr algn="ctr"/>
                      <a:endParaRPr lang="tr-TR" sz="1600" dirty="0"/>
                    </a:p>
                  </a:txBody>
                  <a:tcPr anchor="ctr">
                    <a:solidFill>
                      <a:schemeClr val="accent1"/>
                    </a:solidFill>
                  </a:tcPr>
                </a:tc>
                <a:tc hMerge="1">
                  <a:txBody>
                    <a:bodyPr/>
                    <a:lstStyle/>
                    <a:p>
                      <a:pPr algn="ctr"/>
                      <a:endParaRPr lang="tr-TR" sz="1600" dirty="0"/>
                    </a:p>
                  </a:txBody>
                  <a:tcPr anchor="ctr">
                    <a:solidFill>
                      <a:schemeClr val="accent1"/>
                    </a:solidFill>
                  </a:tcPr>
                </a:tc>
                <a:tc hMerge="1">
                  <a:txBody>
                    <a:bodyPr/>
                    <a:lstStyle/>
                    <a:p>
                      <a:pPr algn="ctr"/>
                      <a:endParaRPr lang="tr-TR" sz="1600" dirty="0"/>
                    </a:p>
                  </a:txBody>
                  <a:tcPr anchor="ctr">
                    <a:solidFill>
                      <a:schemeClr val="accent1"/>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tr-TR" sz="1400" dirty="0"/>
                    </a:p>
                  </a:txBody>
                  <a:tcPr anchor="ctr">
                    <a:solidFill>
                      <a:schemeClr val="accent1"/>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tr-TR" sz="1400" dirty="0"/>
                    </a:p>
                  </a:txBody>
                  <a:tcPr anchor="ctr">
                    <a:solidFill>
                      <a:schemeClr val="accent1"/>
                    </a:solidFill>
                  </a:tcPr>
                </a:tc>
                <a:tc hMerge="1">
                  <a:txBody>
                    <a:bodyPr/>
                    <a:lstStyle/>
                    <a:p>
                      <a:pPr algn="ctr"/>
                      <a:endParaRPr lang="tr-TR" sz="1600" dirty="0"/>
                    </a:p>
                  </a:txBody>
                  <a:tcPr anchor="ctr">
                    <a:solidFill>
                      <a:schemeClr val="accent1"/>
                    </a:solidFill>
                  </a:tcPr>
                </a:tc>
                <a:tc hMerge="1">
                  <a:txBody>
                    <a:bodyPr/>
                    <a:lstStyle/>
                    <a:p>
                      <a:pPr algn="ctr"/>
                      <a:endParaRPr lang="tr-TR" sz="1600" dirty="0"/>
                    </a:p>
                  </a:txBody>
                  <a:tcPr anchor="ctr">
                    <a:solidFill>
                      <a:schemeClr val="accent1"/>
                    </a:solidFill>
                  </a:tcPr>
                </a:tc>
                <a:tc hMerge="1">
                  <a:txBody>
                    <a:bodyPr/>
                    <a:lstStyle/>
                    <a:p>
                      <a:pPr algn="ctr"/>
                      <a:endParaRPr lang="tr-TR" sz="1600" dirty="0"/>
                    </a:p>
                  </a:txBody>
                  <a:tcPr anchor="ctr">
                    <a:solidFill>
                      <a:schemeClr val="accent1"/>
                    </a:solidFill>
                  </a:tcPr>
                </a:tc>
                <a:tc hMerge="1">
                  <a:txBody>
                    <a:bodyPr/>
                    <a:lstStyle/>
                    <a:p>
                      <a:pPr algn="ctr"/>
                      <a:endParaRPr lang="tr-TR" sz="1600" dirty="0"/>
                    </a:p>
                  </a:txBody>
                  <a:tcPr anchor="ctr">
                    <a:solidFill>
                      <a:schemeClr val="accent1"/>
                    </a:solidFill>
                  </a:tcPr>
                </a:tc>
                <a:tc hMerge="1">
                  <a:txBody>
                    <a:bodyPr/>
                    <a:lstStyle/>
                    <a:p>
                      <a:pPr algn="ctr"/>
                      <a:endParaRPr lang="tr-TR" sz="1600" dirty="0"/>
                    </a:p>
                  </a:txBody>
                  <a:tcPr anchor="ctr">
                    <a:solidFill>
                      <a:schemeClr val="accent1"/>
                    </a:solidFill>
                  </a:tcPr>
                </a:tc>
                <a:extLst>
                  <a:ext uri="{0D108BD9-81ED-4DB2-BD59-A6C34878D82A}">
                    <a16:rowId xmlns:a16="http://schemas.microsoft.com/office/drawing/2014/main" val="528123769"/>
                  </a:ext>
                </a:extLst>
              </a:tr>
              <a:tr h="828739">
                <a:tc>
                  <a:txBody>
                    <a:bodyPr/>
                    <a:lstStyle/>
                    <a:p>
                      <a:pPr algn="ctr"/>
                      <a:r>
                        <a:rPr lang="tr-TR" sz="1400" baseline="0" dirty="0"/>
                        <a:t>Ürün Adı</a:t>
                      </a:r>
                      <a:endParaRPr lang="tr-TR" sz="1400" dirty="0"/>
                    </a:p>
                  </a:txBody>
                  <a:tcPr marL="80201" marR="80201" marT="40100" marB="40100" anchor="ctr">
                    <a:solidFill>
                      <a:schemeClr val="accent1"/>
                    </a:solidFill>
                  </a:tcPr>
                </a:tc>
                <a:tc>
                  <a:txBody>
                    <a:bodyPr/>
                    <a:lstStyle/>
                    <a:p>
                      <a:pPr algn="ctr"/>
                      <a:r>
                        <a:rPr lang="tr-TR" sz="1400" dirty="0"/>
                        <a:t>Ürün Kodu</a:t>
                      </a:r>
                    </a:p>
                  </a:txBody>
                  <a:tcPr marL="80201" marR="80201" marT="40100" marB="40100" anchor="ctr">
                    <a:solidFill>
                      <a:schemeClr val="accent1"/>
                    </a:solidFill>
                  </a:tcPr>
                </a:tc>
                <a:tc>
                  <a:txBody>
                    <a:bodyPr/>
                    <a:lstStyle/>
                    <a:p>
                      <a:pPr algn="ctr"/>
                      <a:r>
                        <a:rPr lang="tr-TR" sz="1400" dirty="0"/>
                        <a:t>Giriş</a:t>
                      </a:r>
                      <a:r>
                        <a:rPr lang="tr-TR" sz="1400" baseline="0" dirty="0"/>
                        <a:t> Çapı</a:t>
                      </a:r>
                      <a:endParaRPr lang="tr-TR" sz="1400" dirty="0"/>
                    </a:p>
                  </a:txBody>
                  <a:tcPr marL="80201" marR="80201" marT="40100" marB="40100" anchor="ctr">
                    <a:solidFill>
                      <a:schemeClr val="accent1"/>
                    </a:solidFill>
                  </a:tcPr>
                </a:tc>
                <a:tc>
                  <a:txBody>
                    <a:bodyPr/>
                    <a:lstStyle/>
                    <a:p>
                      <a:pPr algn="ctr"/>
                      <a:r>
                        <a:rPr lang="tr-TR" sz="1400" dirty="0"/>
                        <a:t>Çıkış Çapı</a:t>
                      </a:r>
                    </a:p>
                  </a:txBody>
                  <a:tcPr marL="80201" marR="80201" marT="40100" marB="40100" anchor="ctr">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200" dirty="0"/>
                        <a:t>Maksimum Operasyon Basıncı</a:t>
                      </a:r>
                      <a:br>
                        <a:rPr lang="tr-TR" sz="1200" dirty="0"/>
                      </a:br>
                      <a:r>
                        <a:rPr lang="tr-TR" sz="1200" dirty="0"/>
                        <a:t>[bar]</a:t>
                      </a:r>
                    </a:p>
                  </a:txBody>
                  <a:tcPr marL="80201" marR="80201" marT="40100" marB="40100" anchor="ctr">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200" dirty="0"/>
                        <a:t>Maksimum Operasyon Sıcaklığı</a:t>
                      </a:r>
                      <a:br>
                        <a:rPr lang="tr-TR" sz="1200" dirty="0"/>
                      </a:br>
                      <a:r>
                        <a:rPr lang="tr-TR" sz="1200" dirty="0"/>
                        <a:t>[</a:t>
                      </a:r>
                      <a:r>
                        <a:rPr lang="tr-TR" sz="1200" baseline="30000" dirty="0" err="1"/>
                        <a:t>o</a:t>
                      </a:r>
                      <a:r>
                        <a:rPr lang="tr-TR" sz="1200" dirty="0" err="1"/>
                        <a:t>C</a:t>
                      </a:r>
                      <a:r>
                        <a:rPr lang="tr-TR" sz="1200" dirty="0"/>
                        <a:t>]</a:t>
                      </a:r>
                    </a:p>
                  </a:txBody>
                  <a:tcPr marL="80201" marR="80201" marT="40100" marB="40100" anchor="ctr">
                    <a:solidFill>
                      <a:schemeClr val="accent1"/>
                    </a:solidFill>
                  </a:tcPr>
                </a:tc>
                <a:tc>
                  <a:txBody>
                    <a:bodyPr/>
                    <a:lstStyle/>
                    <a:p>
                      <a:pPr algn="ctr"/>
                      <a:r>
                        <a:rPr lang="tr-TR" sz="1400" dirty="0"/>
                        <a:t>Çalışma Basıncı</a:t>
                      </a:r>
                    </a:p>
                    <a:p>
                      <a:pPr algn="ctr"/>
                      <a:r>
                        <a:rPr lang="tr-TR" sz="1400" dirty="0"/>
                        <a:t>[bar]</a:t>
                      </a:r>
                    </a:p>
                  </a:txBody>
                  <a:tcPr marL="80201" marR="80201" marT="40100" marB="40100" anchor="ctr">
                    <a:solidFill>
                      <a:schemeClr val="accent1"/>
                    </a:solidFill>
                  </a:tcPr>
                </a:tc>
                <a:tc>
                  <a:txBody>
                    <a:bodyPr/>
                    <a:lstStyle/>
                    <a:p>
                      <a:pPr algn="ctr"/>
                      <a:r>
                        <a:rPr lang="tr-TR" sz="1400" dirty="0"/>
                        <a:t>Çalışma Sıcaklığı</a:t>
                      </a:r>
                    </a:p>
                    <a:p>
                      <a:pPr algn="ctr"/>
                      <a:r>
                        <a:rPr lang="tr-TR" sz="1400" dirty="0"/>
                        <a:t>[</a:t>
                      </a:r>
                      <a:r>
                        <a:rPr lang="tr-TR" sz="1400" baseline="30000" dirty="0" err="1"/>
                        <a:t>o</a:t>
                      </a:r>
                      <a:r>
                        <a:rPr lang="tr-TR" sz="1400" dirty="0" err="1"/>
                        <a:t>C</a:t>
                      </a:r>
                      <a:r>
                        <a:rPr lang="tr-TR" sz="1400" dirty="0"/>
                        <a:t>]</a:t>
                      </a:r>
                    </a:p>
                  </a:txBody>
                  <a:tcPr marL="80201" marR="80201" marT="40100" marB="40100" anchor="ctr">
                    <a:solidFill>
                      <a:schemeClr val="accent1"/>
                    </a:solidFill>
                  </a:tcPr>
                </a:tc>
                <a:tc>
                  <a:txBody>
                    <a:bodyPr/>
                    <a:lstStyle/>
                    <a:p>
                      <a:pPr algn="ctr"/>
                      <a:r>
                        <a:rPr lang="tr-TR" sz="1400" dirty="0"/>
                        <a:t>Debi Geçirgenliği [g/s]</a:t>
                      </a:r>
                    </a:p>
                  </a:txBody>
                  <a:tcPr marL="80201" marR="80201" marT="40100" marB="40100" anchor="ctr">
                    <a:solidFill>
                      <a:schemeClr val="accent1"/>
                    </a:solidFill>
                  </a:tcPr>
                </a:tc>
                <a:tc>
                  <a:txBody>
                    <a:bodyPr/>
                    <a:lstStyle/>
                    <a:p>
                      <a:pPr algn="ctr"/>
                      <a:r>
                        <a:rPr lang="tr-TR" sz="1400" dirty="0"/>
                        <a:t>Adeti</a:t>
                      </a:r>
                    </a:p>
                  </a:txBody>
                  <a:tcPr marL="80201" marR="80201" marT="40100" marB="40100" anchor="ctr">
                    <a:solidFill>
                      <a:schemeClr val="accent1"/>
                    </a:solidFill>
                  </a:tcPr>
                </a:tc>
                <a:tc>
                  <a:txBody>
                    <a:bodyPr/>
                    <a:lstStyle/>
                    <a:p>
                      <a:pPr algn="ctr"/>
                      <a:r>
                        <a:rPr lang="tr-TR" sz="1400" dirty="0"/>
                        <a:t>Birim Kütlesi</a:t>
                      </a:r>
                    </a:p>
                  </a:txBody>
                  <a:tcPr marL="80201" marR="80201" marT="40100" marB="40100" anchor="ctr">
                    <a:solidFill>
                      <a:schemeClr val="accent1"/>
                    </a:solidFill>
                  </a:tcPr>
                </a:tc>
                <a:extLst>
                  <a:ext uri="{0D108BD9-81ED-4DB2-BD59-A6C34878D82A}">
                    <a16:rowId xmlns:a16="http://schemas.microsoft.com/office/drawing/2014/main" val="2499479259"/>
                  </a:ext>
                </a:extLst>
              </a:tr>
              <a:tr h="325258">
                <a:tc>
                  <a:txBody>
                    <a:bodyPr/>
                    <a:lstStyle/>
                    <a:p>
                      <a:pPr algn="ctr"/>
                      <a:endParaRPr lang="tr-TR" sz="1400" dirty="0"/>
                    </a:p>
                  </a:txBody>
                  <a:tcPr marL="80201" marR="80201" marT="40100" marB="40100" anchor="ctr"/>
                </a:tc>
                <a:tc>
                  <a:txBody>
                    <a:bodyPr/>
                    <a:lstStyle/>
                    <a:p>
                      <a:pPr algn="ctr"/>
                      <a:r>
                        <a:rPr lang="tr-TR" sz="1400" dirty="0"/>
                        <a:t>PN001</a:t>
                      </a:r>
                    </a:p>
                  </a:txBody>
                  <a:tcPr marL="80201" marR="80201" marT="40100" marB="40100" anchor="ctr"/>
                </a:tc>
                <a:tc>
                  <a:txBody>
                    <a:bodyPr/>
                    <a:lstStyle/>
                    <a:p>
                      <a:pPr algn="ctr"/>
                      <a:endParaRPr lang="tr-TR" sz="1400" dirty="0"/>
                    </a:p>
                  </a:txBody>
                  <a:tcPr marL="80201" marR="80201" marT="40100" marB="40100" anchor="ctr"/>
                </a:tc>
                <a:tc>
                  <a:txBody>
                    <a:bodyPr/>
                    <a:lstStyle/>
                    <a:p>
                      <a:pPr algn="ctr"/>
                      <a:endParaRPr lang="tr-TR" sz="1400" dirty="0"/>
                    </a:p>
                  </a:txBody>
                  <a:tcPr marL="80201" marR="80201" marT="40100" marB="40100" anchor="ctr"/>
                </a:tc>
                <a:tc>
                  <a:txBody>
                    <a:bodyPr/>
                    <a:lstStyle/>
                    <a:p>
                      <a:pPr algn="ctr"/>
                      <a:endParaRPr lang="tr-TR" sz="1400" dirty="0"/>
                    </a:p>
                  </a:txBody>
                  <a:tcPr marL="80201" marR="80201" marT="40100" marB="40100" anchor="ctr"/>
                </a:tc>
                <a:tc>
                  <a:txBody>
                    <a:bodyPr/>
                    <a:lstStyle/>
                    <a:p>
                      <a:pPr algn="ctr"/>
                      <a:endParaRPr lang="tr-TR" sz="1400" dirty="0"/>
                    </a:p>
                  </a:txBody>
                  <a:tcPr marL="80201" marR="80201" marT="40100" marB="40100" anchor="ctr"/>
                </a:tc>
                <a:tc>
                  <a:txBody>
                    <a:bodyPr/>
                    <a:lstStyle/>
                    <a:p>
                      <a:pPr algn="ctr"/>
                      <a:endParaRPr lang="tr-TR" sz="1400" dirty="0"/>
                    </a:p>
                  </a:txBody>
                  <a:tcPr marL="80201" marR="80201" marT="40100" marB="40100" anchor="ctr"/>
                </a:tc>
                <a:tc>
                  <a:txBody>
                    <a:bodyPr/>
                    <a:lstStyle/>
                    <a:p>
                      <a:pPr algn="ctr"/>
                      <a:endParaRPr lang="tr-TR" sz="1400" dirty="0"/>
                    </a:p>
                  </a:txBody>
                  <a:tcPr marL="80201" marR="80201" marT="40100" marB="40100" anchor="ctr"/>
                </a:tc>
                <a:tc>
                  <a:txBody>
                    <a:bodyPr/>
                    <a:lstStyle/>
                    <a:p>
                      <a:pPr algn="ctr"/>
                      <a:endParaRPr lang="tr-TR" sz="1400" dirty="0"/>
                    </a:p>
                  </a:txBody>
                  <a:tcPr marL="80201" marR="80201" marT="40100" marB="40100" anchor="ctr"/>
                </a:tc>
                <a:tc>
                  <a:txBody>
                    <a:bodyPr/>
                    <a:lstStyle/>
                    <a:p>
                      <a:pPr algn="ctr"/>
                      <a:endParaRPr lang="tr-TR" sz="1400" dirty="0"/>
                    </a:p>
                  </a:txBody>
                  <a:tcPr marL="80201" marR="80201" marT="40100" marB="40100" anchor="ctr"/>
                </a:tc>
                <a:tc>
                  <a:txBody>
                    <a:bodyPr/>
                    <a:lstStyle/>
                    <a:p>
                      <a:pPr algn="ctr"/>
                      <a:endParaRPr lang="tr-TR" sz="1400" dirty="0"/>
                    </a:p>
                  </a:txBody>
                  <a:tcPr marL="80201" marR="80201" marT="40100" marB="40100" anchor="ctr"/>
                </a:tc>
                <a:extLst>
                  <a:ext uri="{0D108BD9-81ED-4DB2-BD59-A6C34878D82A}">
                    <a16:rowId xmlns:a16="http://schemas.microsoft.com/office/drawing/2014/main" val="1816308166"/>
                  </a:ext>
                </a:extLst>
              </a:tr>
              <a:tr h="325258">
                <a:tc>
                  <a:txBody>
                    <a:bodyPr/>
                    <a:lstStyle/>
                    <a:p>
                      <a:pPr algn="ctr"/>
                      <a:endParaRPr lang="tr-TR" sz="1400"/>
                    </a:p>
                  </a:txBody>
                  <a:tcPr marL="80201" marR="80201" marT="40100" marB="40100" anchor="ctr"/>
                </a:tc>
                <a:tc>
                  <a:txBody>
                    <a:bodyPr/>
                    <a:lstStyle/>
                    <a:p>
                      <a:pPr algn="ctr"/>
                      <a:r>
                        <a:rPr lang="tr-TR" sz="1400" dirty="0"/>
                        <a:t>PN002</a:t>
                      </a:r>
                    </a:p>
                  </a:txBody>
                  <a:tcPr marL="80201" marR="80201" marT="40100" marB="40100" anchor="ctr"/>
                </a:tc>
                <a:tc>
                  <a:txBody>
                    <a:bodyPr/>
                    <a:lstStyle/>
                    <a:p>
                      <a:pPr algn="ctr"/>
                      <a:endParaRPr lang="tr-TR" sz="1400" dirty="0"/>
                    </a:p>
                  </a:txBody>
                  <a:tcPr marL="80201" marR="80201" marT="40100" marB="40100" anchor="ctr"/>
                </a:tc>
                <a:tc>
                  <a:txBody>
                    <a:bodyPr/>
                    <a:lstStyle/>
                    <a:p>
                      <a:pPr algn="ctr"/>
                      <a:endParaRPr lang="tr-TR" sz="1400" dirty="0"/>
                    </a:p>
                  </a:txBody>
                  <a:tcPr marL="80201" marR="80201" marT="40100" marB="40100" anchor="ctr"/>
                </a:tc>
                <a:tc>
                  <a:txBody>
                    <a:bodyPr/>
                    <a:lstStyle/>
                    <a:p>
                      <a:pPr algn="ctr"/>
                      <a:endParaRPr lang="tr-TR" sz="1400" dirty="0"/>
                    </a:p>
                  </a:txBody>
                  <a:tcPr marL="80201" marR="80201" marT="40100" marB="40100" anchor="ctr"/>
                </a:tc>
                <a:tc>
                  <a:txBody>
                    <a:bodyPr/>
                    <a:lstStyle/>
                    <a:p>
                      <a:pPr algn="ctr"/>
                      <a:endParaRPr lang="tr-TR" sz="1400" dirty="0"/>
                    </a:p>
                  </a:txBody>
                  <a:tcPr marL="80201" marR="80201" marT="40100" marB="40100" anchor="ctr"/>
                </a:tc>
                <a:tc>
                  <a:txBody>
                    <a:bodyPr/>
                    <a:lstStyle/>
                    <a:p>
                      <a:pPr algn="ctr"/>
                      <a:endParaRPr lang="tr-TR" sz="1400" dirty="0"/>
                    </a:p>
                  </a:txBody>
                  <a:tcPr marL="80201" marR="80201" marT="40100" marB="40100" anchor="ctr"/>
                </a:tc>
                <a:tc>
                  <a:txBody>
                    <a:bodyPr/>
                    <a:lstStyle/>
                    <a:p>
                      <a:pPr algn="ctr"/>
                      <a:endParaRPr lang="tr-TR" sz="1400" dirty="0"/>
                    </a:p>
                  </a:txBody>
                  <a:tcPr marL="80201" marR="80201" marT="40100" marB="40100" anchor="ctr"/>
                </a:tc>
                <a:tc>
                  <a:txBody>
                    <a:bodyPr/>
                    <a:lstStyle/>
                    <a:p>
                      <a:pPr algn="ctr"/>
                      <a:endParaRPr lang="tr-TR" sz="1400" dirty="0"/>
                    </a:p>
                  </a:txBody>
                  <a:tcPr marL="80201" marR="80201" marT="40100" marB="40100" anchor="ctr"/>
                </a:tc>
                <a:tc>
                  <a:txBody>
                    <a:bodyPr/>
                    <a:lstStyle/>
                    <a:p>
                      <a:pPr algn="ctr"/>
                      <a:endParaRPr lang="tr-TR" sz="1400" dirty="0"/>
                    </a:p>
                  </a:txBody>
                  <a:tcPr marL="80201" marR="80201" marT="40100" marB="40100" anchor="ctr"/>
                </a:tc>
                <a:tc>
                  <a:txBody>
                    <a:bodyPr/>
                    <a:lstStyle/>
                    <a:p>
                      <a:pPr algn="ctr"/>
                      <a:endParaRPr lang="tr-TR" sz="1400" dirty="0"/>
                    </a:p>
                  </a:txBody>
                  <a:tcPr marL="80201" marR="80201" marT="40100" marB="40100" anchor="ctr"/>
                </a:tc>
                <a:extLst>
                  <a:ext uri="{0D108BD9-81ED-4DB2-BD59-A6C34878D82A}">
                    <a16:rowId xmlns:a16="http://schemas.microsoft.com/office/drawing/2014/main" val="1362583560"/>
                  </a:ext>
                </a:extLst>
              </a:tr>
              <a:tr h="294069">
                <a:tc>
                  <a:txBody>
                    <a:bodyPr/>
                    <a:lstStyle/>
                    <a:p>
                      <a:pPr algn="ctr"/>
                      <a:endParaRPr lang="tr-TR" sz="1400" dirty="0"/>
                    </a:p>
                  </a:txBody>
                  <a:tcPr marL="80201" marR="80201" marT="40100" marB="40100" anchor="ctr"/>
                </a:tc>
                <a:tc>
                  <a:txBody>
                    <a:bodyPr/>
                    <a:lstStyle/>
                    <a:p>
                      <a:pPr algn="ctr"/>
                      <a:r>
                        <a:rPr lang="tr-TR" sz="1400" dirty="0"/>
                        <a:t>PN003</a:t>
                      </a:r>
                    </a:p>
                  </a:txBody>
                  <a:tcPr marL="80201" marR="80201" marT="40100" marB="40100" anchor="ctr"/>
                </a:tc>
                <a:tc>
                  <a:txBody>
                    <a:bodyPr/>
                    <a:lstStyle/>
                    <a:p>
                      <a:pPr algn="ctr"/>
                      <a:endParaRPr lang="tr-TR" sz="1400" dirty="0"/>
                    </a:p>
                  </a:txBody>
                  <a:tcPr marL="80201" marR="80201" marT="40100" marB="40100" anchor="ctr"/>
                </a:tc>
                <a:tc>
                  <a:txBody>
                    <a:bodyPr/>
                    <a:lstStyle/>
                    <a:p>
                      <a:pPr algn="ctr"/>
                      <a:endParaRPr lang="tr-TR" sz="1400" dirty="0"/>
                    </a:p>
                  </a:txBody>
                  <a:tcPr marL="80201" marR="80201" marT="40100" marB="40100" anchor="ctr"/>
                </a:tc>
                <a:tc>
                  <a:txBody>
                    <a:bodyPr/>
                    <a:lstStyle/>
                    <a:p>
                      <a:pPr algn="ctr"/>
                      <a:endParaRPr lang="tr-TR" sz="1400" dirty="0"/>
                    </a:p>
                  </a:txBody>
                  <a:tcPr marL="80201" marR="80201" marT="40100" marB="40100" anchor="ctr"/>
                </a:tc>
                <a:tc>
                  <a:txBody>
                    <a:bodyPr/>
                    <a:lstStyle/>
                    <a:p>
                      <a:pPr algn="ctr"/>
                      <a:endParaRPr lang="tr-TR" sz="1400" dirty="0"/>
                    </a:p>
                  </a:txBody>
                  <a:tcPr marL="80201" marR="80201" marT="40100" marB="40100" anchor="ctr"/>
                </a:tc>
                <a:tc>
                  <a:txBody>
                    <a:bodyPr/>
                    <a:lstStyle/>
                    <a:p>
                      <a:pPr algn="ctr"/>
                      <a:endParaRPr lang="tr-TR" sz="1400" dirty="0"/>
                    </a:p>
                  </a:txBody>
                  <a:tcPr marL="80201" marR="80201" marT="40100" marB="40100" anchor="ctr"/>
                </a:tc>
                <a:tc>
                  <a:txBody>
                    <a:bodyPr/>
                    <a:lstStyle/>
                    <a:p>
                      <a:pPr algn="ctr"/>
                      <a:endParaRPr lang="tr-TR" sz="1400" dirty="0"/>
                    </a:p>
                  </a:txBody>
                  <a:tcPr marL="80201" marR="80201" marT="40100" marB="40100" anchor="ctr"/>
                </a:tc>
                <a:tc>
                  <a:txBody>
                    <a:bodyPr/>
                    <a:lstStyle/>
                    <a:p>
                      <a:pPr algn="ctr"/>
                      <a:endParaRPr lang="tr-TR" sz="1400" dirty="0"/>
                    </a:p>
                  </a:txBody>
                  <a:tcPr marL="80201" marR="80201" marT="40100" marB="40100" anchor="ctr"/>
                </a:tc>
                <a:tc>
                  <a:txBody>
                    <a:bodyPr/>
                    <a:lstStyle/>
                    <a:p>
                      <a:pPr algn="ctr"/>
                      <a:endParaRPr lang="tr-TR" sz="1400" dirty="0"/>
                    </a:p>
                  </a:txBody>
                  <a:tcPr marL="80201" marR="80201" marT="40100" marB="40100" anchor="ctr"/>
                </a:tc>
                <a:tc>
                  <a:txBody>
                    <a:bodyPr/>
                    <a:lstStyle/>
                    <a:p>
                      <a:pPr algn="ctr"/>
                      <a:endParaRPr lang="tr-TR" sz="1400" dirty="0"/>
                    </a:p>
                  </a:txBody>
                  <a:tcPr marL="80201" marR="80201" marT="40100" marB="40100" anchor="ctr"/>
                </a:tc>
                <a:extLst>
                  <a:ext uri="{0D108BD9-81ED-4DB2-BD59-A6C34878D82A}">
                    <a16:rowId xmlns:a16="http://schemas.microsoft.com/office/drawing/2014/main" val="2976448572"/>
                  </a:ext>
                </a:extLst>
              </a:tr>
            </a:tbl>
          </a:graphicData>
        </a:graphic>
      </p:graphicFrame>
      <p:sp>
        <p:nvSpPr>
          <p:cNvPr id="19" name="TextBox 18"/>
          <p:cNvSpPr txBox="1"/>
          <p:nvPr/>
        </p:nvSpPr>
        <p:spPr>
          <a:xfrm>
            <a:off x="3685408" y="4770127"/>
            <a:ext cx="4059125" cy="983218"/>
          </a:xfrm>
          <a:prstGeom prst="rect">
            <a:avLst/>
          </a:prstGeom>
          <a:noFill/>
        </p:spPr>
        <p:txBody>
          <a:bodyPr wrap="none" rtlCol="0">
            <a:spAutoFit/>
          </a:bodyPr>
          <a:lstStyle/>
          <a:p>
            <a:r>
              <a:rPr lang="tr-TR" sz="5789" b="1" dirty="0">
                <a:solidFill>
                  <a:srgbClr val="FF0000"/>
                </a:solidFill>
              </a:rPr>
              <a:t>ÖRNEKTİR</a:t>
            </a:r>
          </a:p>
        </p:txBody>
      </p:sp>
      <p:sp>
        <p:nvSpPr>
          <p:cNvPr id="20" name="Footer Placeholder 8"/>
          <p:cNvSpPr>
            <a:spLocks noGrp="1"/>
          </p:cNvSpPr>
          <p:nvPr>
            <p:ph type="ftr" sz="quarter" idx="11"/>
          </p:nvPr>
        </p:nvSpPr>
        <p:spPr>
          <a:xfrm>
            <a:off x="3542189" y="6890180"/>
            <a:ext cx="3609023" cy="320245"/>
          </a:xfrm>
        </p:spPr>
        <p:txBody>
          <a:bodyPr/>
          <a:lstStyle/>
          <a:p>
            <a:pPr algn="ctr"/>
            <a:r>
              <a:rPr lang="tr-TR" dirty="0"/>
              <a:t>2026 TEKNOFEST DİKEY İNİŞLİ ROKET YARIŞMASI</a:t>
            </a:r>
          </a:p>
          <a:p>
            <a:pPr algn="ctr"/>
            <a:r>
              <a:rPr lang="tr-TR" dirty="0"/>
              <a:t>ATIŞA HAZIRLIK RAPORU (AHR)</a:t>
            </a:r>
          </a:p>
        </p:txBody>
      </p:sp>
      <p:sp>
        <p:nvSpPr>
          <p:cNvPr id="7" name="TextBox 6">
            <a:extLst>
              <a:ext uri="{FF2B5EF4-FFF2-40B4-BE49-F238E27FC236}">
                <a16:creationId xmlns:a16="http://schemas.microsoft.com/office/drawing/2014/main" id="{11565EB4-BD53-1AC4-4FDC-4D930A85778C}"/>
              </a:ext>
            </a:extLst>
          </p:cNvPr>
          <p:cNvSpPr txBox="1"/>
          <p:nvPr/>
        </p:nvSpPr>
        <p:spPr>
          <a:xfrm>
            <a:off x="6357" y="544652"/>
            <a:ext cx="1027922" cy="569387"/>
          </a:xfrm>
          <a:prstGeom prst="rect">
            <a:avLst/>
          </a:prstGeom>
          <a:noFill/>
          <a:ln>
            <a:solidFill>
              <a:schemeClr val="tx1"/>
            </a:solidFill>
          </a:ln>
        </p:spPr>
        <p:txBody>
          <a:bodyPr wrap="square" rtlCol="0">
            <a:spAutoFit/>
          </a:bodyPr>
          <a:lstStyle/>
          <a:p>
            <a:pPr algn="ctr"/>
            <a:r>
              <a:rPr lang="tr-TR" sz="1550" dirty="0">
                <a:latin typeface="+mn-lt"/>
              </a:rPr>
              <a:t>Takım Logosu</a:t>
            </a:r>
          </a:p>
        </p:txBody>
      </p:sp>
    </p:spTree>
    <p:extLst>
      <p:ext uri="{BB962C8B-B14F-4D97-AF65-F5344CB8AC3E}">
        <p14:creationId xmlns:p14="http://schemas.microsoft.com/office/powerpoint/2010/main" val="2657833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35012" y="494808"/>
            <a:ext cx="8020050" cy="658651"/>
          </a:xfrm>
        </p:spPr>
        <p:txBody>
          <a:bodyPr>
            <a:noAutofit/>
          </a:bodyPr>
          <a:lstStyle/>
          <a:p>
            <a:r>
              <a:rPr lang="tr-TR" sz="3950" dirty="0">
                <a:solidFill>
                  <a:srgbClr val="0070C0"/>
                </a:solidFill>
                <a:latin typeface="+mn-lt"/>
                <a:cs typeface="Times New Roman" panose="02020603050405020304" pitchFamily="18" charset="0"/>
              </a:rPr>
              <a:t>Pnömatik Sistem Testleri</a:t>
            </a:r>
          </a:p>
        </p:txBody>
      </p:sp>
      <p:cxnSp>
        <p:nvCxnSpPr>
          <p:cNvPr id="5" name="Straight Connector 4"/>
          <p:cNvCxnSpPr/>
          <p:nvPr/>
        </p:nvCxnSpPr>
        <p:spPr>
          <a:xfrm flipV="1">
            <a:off x="0" y="1352684"/>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78851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9724145" y="6979608"/>
            <a:ext cx="201986" cy="161290"/>
          </a:xfrm>
        </p:spPr>
        <p:txBody>
          <a:bodyPr/>
          <a:lstStyle/>
          <a:p>
            <a:fld id="{87BEDC82-49FF-42E3-B7EA-26FF728940D5}" type="slidenum">
              <a:rPr lang="tr-TR" smtClean="0"/>
              <a:t>20</a:t>
            </a:fld>
            <a:endParaRPr lang="tr-TR"/>
          </a:p>
        </p:txBody>
      </p:sp>
      <p:sp>
        <p:nvSpPr>
          <p:cNvPr id="4" name="Date Placeholder 3"/>
          <p:cNvSpPr>
            <a:spLocks noGrp="1"/>
          </p:cNvSpPr>
          <p:nvPr>
            <p:ph type="dt" sz="half" idx="10"/>
          </p:nvPr>
        </p:nvSpPr>
        <p:spPr>
          <a:xfrm>
            <a:off x="802650" y="6979608"/>
            <a:ext cx="1321036" cy="161616"/>
          </a:xfrm>
        </p:spPr>
        <p:txBody>
          <a:bodyPr/>
          <a:lstStyle/>
          <a:p>
            <a:fld id="{1026EDEE-F8B9-4520-A516-D178743C64C9}" type="datetime2">
              <a:rPr lang="tr-TR" smtClean="0"/>
              <a:t>3 Temmuz 2026 Cuma</a:t>
            </a:fld>
            <a:endParaRPr lang="tr-TR" dirty="0"/>
          </a:p>
        </p:txBody>
      </p:sp>
      <p:pic>
        <p:nvPicPr>
          <p:cNvPr id="12"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276225"/>
            <a:ext cx="1063165" cy="1063165"/>
          </a:xfrm>
          <a:prstGeom prst="rect">
            <a:avLst/>
          </a:prstGeom>
        </p:spPr>
      </p:pic>
      <p:sp>
        <p:nvSpPr>
          <p:cNvPr id="34" name="Footer Placeholder 8"/>
          <p:cNvSpPr>
            <a:spLocks noGrp="1"/>
          </p:cNvSpPr>
          <p:nvPr>
            <p:ph type="ftr" sz="quarter" idx="11"/>
          </p:nvPr>
        </p:nvSpPr>
        <p:spPr>
          <a:xfrm>
            <a:off x="3542189" y="6890180"/>
            <a:ext cx="3609023" cy="320245"/>
          </a:xfrm>
        </p:spPr>
        <p:txBody>
          <a:bodyPr/>
          <a:lstStyle/>
          <a:p>
            <a:pPr algn="ctr"/>
            <a:r>
              <a:rPr lang="tr-TR" dirty="0"/>
              <a:t>2026 TEKNOFEST DİKEY İNİŞLİ ROKET YARIŞMASI</a:t>
            </a:r>
          </a:p>
          <a:p>
            <a:pPr algn="ctr"/>
            <a:r>
              <a:rPr lang="tr-TR" dirty="0"/>
              <a:t>ATIŞA HAZIRLIK RAPORU (AHR)</a:t>
            </a:r>
          </a:p>
        </p:txBody>
      </p:sp>
      <p:sp>
        <p:nvSpPr>
          <p:cNvPr id="35" name="TextBox 34"/>
          <p:cNvSpPr txBox="1"/>
          <p:nvPr/>
        </p:nvSpPr>
        <p:spPr>
          <a:xfrm>
            <a:off x="210234" y="2036298"/>
            <a:ext cx="9974451" cy="3193182"/>
          </a:xfrm>
          <a:prstGeom prst="rect">
            <a:avLst/>
          </a:prstGeom>
          <a:noFill/>
        </p:spPr>
        <p:txBody>
          <a:bodyPr wrap="square" rtlCol="0">
            <a:spAutoFit/>
          </a:bodyPr>
          <a:lstStyle/>
          <a:p>
            <a:pPr marL="250631" indent="-250631">
              <a:buFont typeface="Arial" panose="020B0604020202020204" pitchFamily="34" charset="0"/>
              <a:buChar char="•"/>
            </a:pPr>
            <a:r>
              <a:rPr lang="tr-TR" sz="1550" dirty="0">
                <a:latin typeface="+mn-lt"/>
              </a:rPr>
              <a:t>Bütünlemesi yapılan roketin deneme atışlarından önce takımlarca ön testlerinin yapılması gerekmektedir. Bu testler sırasıyla aşağıdaki gibi listelenmiştir.</a:t>
            </a:r>
          </a:p>
          <a:p>
            <a:pPr marL="651641" lvl="1" indent="-250631">
              <a:buFont typeface="Arial" panose="020B0604020202020204" pitchFamily="34" charset="0"/>
              <a:buChar char="•"/>
            </a:pPr>
            <a:endParaRPr lang="tr-TR" sz="1550" dirty="0">
              <a:latin typeface="+mn-lt"/>
            </a:endParaRPr>
          </a:p>
          <a:p>
            <a:pPr marL="701768" lvl="1" indent="-300758">
              <a:lnSpc>
                <a:spcPct val="150000"/>
              </a:lnSpc>
              <a:buFont typeface="+mj-lt"/>
              <a:buAutoNum type="arabicPeriod"/>
            </a:pPr>
            <a:r>
              <a:rPr lang="tr-TR" sz="1550" dirty="0">
                <a:latin typeface="+mn-lt"/>
              </a:rPr>
              <a:t>Sızdırmazlık Testi</a:t>
            </a:r>
          </a:p>
          <a:p>
            <a:pPr marL="701768" lvl="1" indent="-300758">
              <a:lnSpc>
                <a:spcPct val="150000"/>
              </a:lnSpc>
              <a:buFont typeface="+mj-lt"/>
              <a:buAutoNum type="arabicPeriod"/>
            </a:pPr>
            <a:r>
              <a:rPr lang="nn-NO" sz="1550" dirty="0">
                <a:latin typeface="+mn-lt"/>
              </a:rPr>
              <a:t>Tek Lüle İtki ve Performans Testi </a:t>
            </a:r>
            <a:endParaRPr lang="tr-TR" sz="1550" dirty="0">
              <a:latin typeface="+mn-lt"/>
            </a:endParaRPr>
          </a:p>
          <a:p>
            <a:pPr marL="701768" lvl="1" indent="-300758">
              <a:lnSpc>
                <a:spcPct val="150000"/>
              </a:lnSpc>
              <a:buFont typeface="+mj-lt"/>
              <a:buAutoNum type="arabicPeriod"/>
            </a:pPr>
            <a:r>
              <a:rPr lang="tr-TR" sz="1550" dirty="0">
                <a:latin typeface="+mn-lt"/>
              </a:rPr>
              <a:t>Ana İtki İşlevsellik Testi</a:t>
            </a:r>
          </a:p>
          <a:p>
            <a:pPr marL="701768" lvl="1" indent="-300758">
              <a:lnSpc>
                <a:spcPct val="150000"/>
              </a:lnSpc>
              <a:buFont typeface="+mj-lt"/>
              <a:buAutoNum type="arabicPeriod"/>
            </a:pPr>
            <a:r>
              <a:rPr lang="tr-TR" sz="1550" dirty="0">
                <a:latin typeface="+mn-lt"/>
              </a:rPr>
              <a:t>İkincil Sistemler İşlevsellik Testleri (varsa) </a:t>
            </a:r>
          </a:p>
          <a:p>
            <a:endParaRPr lang="tr-TR" sz="1550" dirty="0">
              <a:latin typeface="+mn-lt"/>
            </a:endParaRPr>
          </a:p>
          <a:p>
            <a:pPr marL="250631" indent="-250631">
              <a:buFont typeface="Arial" panose="020B0604020202020204" pitchFamily="34" charset="0"/>
              <a:buChar char="•"/>
            </a:pPr>
            <a:r>
              <a:rPr lang="tr-TR" sz="1550" dirty="0">
                <a:latin typeface="+mn-lt"/>
              </a:rPr>
              <a:t>Bu kısım, yapılacak her bir test için 4 yansıyı geçmemelidir.</a:t>
            </a:r>
          </a:p>
          <a:p>
            <a:endParaRPr lang="tr-TR" sz="1550" dirty="0">
              <a:latin typeface="+mn-lt"/>
            </a:endParaRPr>
          </a:p>
          <a:p>
            <a:pPr marL="250631" indent="-250631">
              <a:buFont typeface="Arial" panose="020B0604020202020204" pitchFamily="34" charset="0"/>
              <a:buChar char="•"/>
            </a:pPr>
            <a:r>
              <a:rPr lang="tr-TR" sz="1550" dirty="0">
                <a:latin typeface="+mn-lt"/>
              </a:rPr>
              <a:t>Test video boyutları yüksek olması durumunda </a:t>
            </a:r>
            <a:r>
              <a:rPr lang="tr-TR" sz="1550" dirty="0" err="1">
                <a:latin typeface="+mn-lt"/>
              </a:rPr>
              <a:t>youtube.com’a</a:t>
            </a:r>
            <a:r>
              <a:rPr lang="tr-TR" sz="1550" dirty="0">
                <a:latin typeface="+mn-lt"/>
              </a:rPr>
              <a:t> yüklenerek linkleri ilgili sayfalara eklenmelidir.</a:t>
            </a:r>
          </a:p>
        </p:txBody>
      </p:sp>
      <p:sp>
        <p:nvSpPr>
          <p:cNvPr id="11" name="Rectangle 13">
            <a:extLst>
              <a:ext uri="{FF2B5EF4-FFF2-40B4-BE49-F238E27FC236}">
                <a16:creationId xmlns:a16="http://schemas.microsoft.com/office/drawing/2014/main" id="{5DC69818-7EBA-4B2E-A0AC-F32A5DF53C13}"/>
              </a:ext>
            </a:extLst>
          </p:cNvPr>
          <p:cNvSpPr/>
          <p:nvPr/>
        </p:nvSpPr>
        <p:spPr>
          <a:xfrm>
            <a:off x="216592" y="6529868"/>
            <a:ext cx="10476809" cy="281295"/>
          </a:xfrm>
          <a:prstGeom prst="rect">
            <a:avLst/>
          </a:prstGeom>
        </p:spPr>
        <p:txBody>
          <a:bodyPr wrap="square">
            <a:spAutoFit/>
          </a:bodyPr>
          <a:lstStyle/>
          <a:p>
            <a:pPr marL="171450" indent="-171450">
              <a:buFont typeface="Arial" panose="020B0604020202020204" pitchFamily="34" charset="0"/>
              <a:buChar char="•"/>
            </a:pPr>
            <a:r>
              <a:rPr lang="tr-TR" sz="1200" i="1" dirty="0">
                <a:latin typeface="+mn-lt"/>
              </a:rPr>
              <a:t>Bu bölümde şartnamede yer alan </a:t>
            </a:r>
            <a:r>
              <a:rPr lang="tr-TR" sz="1200" b="1" i="1" dirty="0">
                <a:latin typeface="+mn-lt"/>
              </a:rPr>
              <a:t>3.2.2, 4.3.1, 4.3.5, 4.3.6 ve 4.3.7 </a:t>
            </a:r>
            <a:r>
              <a:rPr lang="tr-TR" sz="1200" i="1" dirty="0">
                <a:latin typeface="+mn-lt"/>
              </a:rPr>
              <a:t>numaralı gereksinimin karşılanıp karşılanmadığı kontrol edilecektir.</a:t>
            </a:r>
          </a:p>
        </p:txBody>
      </p:sp>
      <p:sp>
        <p:nvSpPr>
          <p:cNvPr id="7" name="TextBox 6">
            <a:extLst>
              <a:ext uri="{FF2B5EF4-FFF2-40B4-BE49-F238E27FC236}">
                <a16:creationId xmlns:a16="http://schemas.microsoft.com/office/drawing/2014/main" id="{4507B5F1-DB3D-8E51-ACFA-E75EFD55EB79}"/>
              </a:ext>
            </a:extLst>
          </p:cNvPr>
          <p:cNvSpPr txBox="1"/>
          <p:nvPr/>
        </p:nvSpPr>
        <p:spPr>
          <a:xfrm>
            <a:off x="6357" y="544652"/>
            <a:ext cx="1027922" cy="569387"/>
          </a:xfrm>
          <a:prstGeom prst="rect">
            <a:avLst/>
          </a:prstGeom>
          <a:noFill/>
          <a:ln>
            <a:solidFill>
              <a:schemeClr val="tx1"/>
            </a:solidFill>
          </a:ln>
        </p:spPr>
        <p:txBody>
          <a:bodyPr wrap="square" rtlCol="0">
            <a:spAutoFit/>
          </a:bodyPr>
          <a:lstStyle/>
          <a:p>
            <a:pPr algn="ctr"/>
            <a:r>
              <a:rPr lang="tr-TR" sz="1550" dirty="0">
                <a:latin typeface="+mn-lt"/>
              </a:rPr>
              <a:t>Takım Logosu</a:t>
            </a:r>
          </a:p>
        </p:txBody>
      </p:sp>
    </p:spTree>
    <p:extLst>
      <p:ext uri="{BB962C8B-B14F-4D97-AF65-F5344CB8AC3E}">
        <p14:creationId xmlns:p14="http://schemas.microsoft.com/office/powerpoint/2010/main" val="13466209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35012" y="494808"/>
            <a:ext cx="8020050" cy="658651"/>
          </a:xfrm>
        </p:spPr>
        <p:txBody>
          <a:bodyPr>
            <a:noAutofit/>
          </a:bodyPr>
          <a:lstStyle/>
          <a:p>
            <a:r>
              <a:rPr lang="tr-TR" sz="3950" dirty="0">
                <a:solidFill>
                  <a:srgbClr val="0070C0"/>
                </a:solidFill>
                <a:latin typeface="+mn-lt"/>
                <a:cs typeface="Times New Roman" panose="02020603050405020304" pitchFamily="18" charset="0"/>
              </a:rPr>
              <a:t>Pnömatik Sistem Testleri</a:t>
            </a:r>
          </a:p>
        </p:txBody>
      </p:sp>
      <p:cxnSp>
        <p:nvCxnSpPr>
          <p:cNvPr id="5" name="Straight Connector 4"/>
          <p:cNvCxnSpPr/>
          <p:nvPr/>
        </p:nvCxnSpPr>
        <p:spPr>
          <a:xfrm flipV="1">
            <a:off x="0" y="1352684"/>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78851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9724145" y="6979608"/>
            <a:ext cx="201986" cy="161290"/>
          </a:xfrm>
        </p:spPr>
        <p:txBody>
          <a:bodyPr/>
          <a:lstStyle/>
          <a:p>
            <a:fld id="{87BEDC82-49FF-42E3-B7EA-26FF728940D5}" type="slidenum">
              <a:rPr lang="tr-TR" smtClean="0"/>
              <a:t>21</a:t>
            </a:fld>
            <a:endParaRPr lang="tr-TR"/>
          </a:p>
        </p:txBody>
      </p:sp>
      <p:sp>
        <p:nvSpPr>
          <p:cNvPr id="4" name="Date Placeholder 3"/>
          <p:cNvSpPr>
            <a:spLocks noGrp="1"/>
          </p:cNvSpPr>
          <p:nvPr>
            <p:ph type="dt" sz="half" idx="10"/>
          </p:nvPr>
        </p:nvSpPr>
        <p:spPr>
          <a:xfrm>
            <a:off x="802650" y="6979608"/>
            <a:ext cx="1321036" cy="161616"/>
          </a:xfrm>
        </p:spPr>
        <p:txBody>
          <a:bodyPr/>
          <a:lstStyle/>
          <a:p>
            <a:fld id="{562C0C87-6362-4F43-9E41-01DDE917541B}" type="datetime2">
              <a:rPr lang="tr-TR" smtClean="0"/>
              <a:t>3 Temmuz 2026 Cuma</a:t>
            </a:fld>
            <a:endParaRPr lang="tr-TR" dirty="0"/>
          </a:p>
        </p:txBody>
      </p:sp>
      <p:pic>
        <p:nvPicPr>
          <p:cNvPr id="12"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276225"/>
            <a:ext cx="1063165" cy="1063165"/>
          </a:xfrm>
          <a:prstGeom prst="rect">
            <a:avLst/>
          </a:prstGeom>
        </p:spPr>
      </p:pic>
      <p:sp>
        <p:nvSpPr>
          <p:cNvPr id="34" name="Footer Placeholder 8"/>
          <p:cNvSpPr>
            <a:spLocks noGrp="1"/>
          </p:cNvSpPr>
          <p:nvPr>
            <p:ph type="ftr" sz="quarter" idx="11"/>
          </p:nvPr>
        </p:nvSpPr>
        <p:spPr>
          <a:xfrm>
            <a:off x="3542189" y="6890180"/>
            <a:ext cx="3609023" cy="320245"/>
          </a:xfrm>
        </p:spPr>
        <p:txBody>
          <a:bodyPr/>
          <a:lstStyle/>
          <a:p>
            <a:pPr algn="ctr"/>
            <a:r>
              <a:rPr lang="tr-TR" dirty="0"/>
              <a:t>2026 TEKNOFEST DİKEY İNİŞLİ ROKET YARIŞMASI</a:t>
            </a:r>
          </a:p>
          <a:p>
            <a:pPr algn="ctr"/>
            <a:r>
              <a:rPr lang="tr-TR" dirty="0"/>
              <a:t>ATIŞA HAZIRLIK RAPORU (AHR)</a:t>
            </a:r>
          </a:p>
        </p:txBody>
      </p:sp>
      <p:sp>
        <p:nvSpPr>
          <p:cNvPr id="35" name="TextBox 34"/>
          <p:cNvSpPr txBox="1"/>
          <p:nvPr/>
        </p:nvSpPr>
        <p:spPr>
          <a:xfrm>
            <a:off x="218021" y="2036298"/>
            <a:ext cx="10278122" cy="2967672"/>
          </a:xfrm>
          <a:prstGeom prst="rect">
            <a:avLst/>
          </a:prstGeom>
          <a:noFill/>
        </p:spPr>
        <p:txBody>
          <a:bodyPr wrap="square" rtlCol="0">
            <a:spAutoFit/>
          </a:bodyPr>
          <a:lstStyle/>
          <a:p>
            <a:pPr algn="just">
              <a:lnSpc>
                <a:spcPct val="107000"/>
              </a:lnSpc>
            </a:pPr>
            <a:r>
              <a:rPr lang="tr-TR" sz="1550" b="1" dirty="0">
                <a:latin typeface="+mn-lt"/>
              </a:rPr>
              <a:t>Sızdırmazlık Testi: </a:t>
            </a:r>
            <a:r>
              <a:rPr lang="tr-TR" sz="1550" dirty="0">
                <a:latin typeface="+mn-lt"/>
              </a:rPr>
              <a:t>Tasarımın güvenliği atışa hazırlık öncesi test edilmelidir. Roket hareket etmeyecek şekilde engeller ile sabitlendikten sonra tankın dolumu yapılmalı ve basınçlandırıldıktan sonra </a:t>
            </a:r>
            <a:r>
              <a:rPr lang="tr-TR" sz="1550" b="1" dirty="0">
                <a:latin typeface="+mn-lt"/>
              </a:rPr>
              <a:t>1 saat </a:t>
            </a:r>
            <a:r>
              <a:rPr lang="tr-TR" sz="1550" dirty="0">
                <a:latin typeface="+mn-lt"/>
              </a:rPr>
              <a:t>boyunca basınç altında sızıntı durumu incelenmelidir. </a:t>
            </a:r>
          </a:p>
          <a:p>
            <a:pPr marL="651641" lvl="1" indent="-250631" algn="just">
              <a:lnSpc>
                <a:spcPct val="150000"/>
              </a:lnSpc>
              <a:buFont typeface="Courier New" panose="02070309020205020404" pitchFamily="49" charset="0"/>
              <a:buChar char="o"/>
            </a:pPr>
            <a:r>
              <a:rPr lang="tr-TR" sz="1550" dirty="0">
                <a:latin typeface="+mn-lt"/>
              </a:rPr>
              <a:t>Test prosedürü açıklanmalıdır.</a:t>
            </a:r>
          </a:p>
          <a:p>
            <a:pPr marL="651641" lvl="1" indent="-250631" algn="just">
              <a:lnSpc>
                <a:spcPct val="150000"/>
              </a:lnSpc>
              <a:buFont typeface="Courier New" panose="02070309020205020404" pitchFamily="49" charset="0"/>
              <a:buChar char="o"/>
            </a:pPr>
            <a:r>
              <a:rPr lang="tr-TR" sz="1550" dirty="0">
                <a:latin typeface="+mn-lt"/>
              </a:rPr>
              <a:t>Testte yer alan kişiler ve görev dağılımı tablo halinde belirtilmelidir.</a:t>
            </a:r>
          </a:p>
          <a:p>
            <a:pPr marL="651641" lvl="1" indent="-250631" algn="just">
              <a:lnSpc>
                <a:spcPct val="150000"/>
              </a:lnSpc>
              <a:buFont typeface="Courier New" panose="02070309020205020404" pitchFamily="49" charset="0"/>
              <a:buChar char="o"/>
            </a:pPr>
            <a:r>
              <a:rPr lang="tr-TR" sz="1550" dirty="0">
                <a:latin typeface="+mn-lt"/>
              </a:rPr>
              <a:t>Bir adet test sürecinin </a:t>
            </a:r>
            <a:r>
              <a:rPr lang="tr-TR" sz="1550" b="1" dirty="0">
                <a:latin typeface="+mn-lt"/>
              </a:rPr>
              <a:t>ilk 10 dakikası</a:t>
            </a:r>
            <a:r>
              <a:rPr lang="tr-TR" sz="1550" dirty="0">
                <a:latin typeface="+mn-lt"/>
              </a:rPr>
              <a:t>,</a:t>
            </a:r>
            <a:r>
              <a:rPr lang="tr-TR" sz="1550" b="1" dirty="0">
                <a:latin typeface="+mn-lt"/>
              </a:rPr>
              <a:t> </a:t>
            </a:r>
            <a:r>
              <a:rPr lang="tr-TR" sz="1550" dirty="0">
                <a:latin typeface="+mn-lt"/>
              </a:rPr>
              <a:t>dolum anını kapsayacak şekilde </a:t>
            </a:r>
            <a:r>
              <a:rPr lang="tr-TR" sz="1550" b="1" u="sng" dirty="0">
                <a:latin typeface="+mn-lt"/>
              </a:rPr>
              <a:t>videoya alınmalıdır</a:t>
            </a:r>
            <a:r>
              <a:rPr lang="tr-TR" sz="1550" dirty="0">
                <a:latin typeface="+mn-lt"/>
              </a:rPr>
              <a:t>.</a:t>
            </a:r>
          </a:p>
          <a:p>
            <a:pPr marL="651641" lvl="1" indent="-250631" algn="just">
              <a:lnSpc>
                <a:spcPct val="150000"/>
              </a:lnSpc>
              <a:buFont typeface="Courier New" panose="02070309020205020404" pitchFamily="49" charset="0"/>
              <a:buChar char="o"/>
            </a:pPr>
            <a:r>
              <a:rPr lang="tr-TR" sz="1550" dirty="0">
                <a:latin typeface="+mn-lt"/>
              </a:rPr>
              <a:t>Başarı kriteri tank basıncının </a:t>
            </a:r>
            <a:r>
              <a:rPr lang="tr-TR" sz="1550" b="1" dirty="0">
                <a:latin typeface="+mn-lt"/>
              </a:rPr>
              <a:t>1 saat boyunca </a:t>
            </a:r>
            <a:r>
              <a:rPr lang="tr-TR" sz="1550" dirty="0">
                <a:latin typeface="+mn-lt"/>
              </a:rPr>
              <a:t>dolum basıncının %95’inin altına inmemesidir. Test sonucunda başarı kriterinin sağlanıp sağlanmadığı ölçüm sonuçları ile belirtilmelidir.</a:t>
            </a:r>
          </a:p>
          <a:p>
            <a:pPr marL="651641" lvl="1" indent="-250631" algn="just">
              <a:lnSpc>
                <a:spcPct val="150000"/>
              </a:lnSpc>
              <a:spcAft>
                <a:spcPts val="702"/>
              </a:spcAft>
              <a:buFont typeface="Courier New" panose="02070309020205020404" pitchFamily="49" charset="0"/>
              <a:buChar char="o"/>
            </a:pPr>
            <a:r>
              <a:rPr lang="tr-TR" sz="1550" dirty="0">
                <a:latin typeface="+mn-lt"/>
              </a:rPr>
              <a:t>Test </a:t>
            </a:r>
            <a:r>
              <a:rPr lang="tr-TR" sz="1550" b="1" dirty="0">
                <a:latin typeface="+mn-lt"/>
              </a:rPr>
              <a:t>5 defa </a:t>
            </a:r>
            <a:r>
              <a:rPr lang="tr-TR" sz="1550" dirty="0">
                <a:latin typeface="+mn-lt"/>
              </a:rPr>
              <a:t>tekrar edilmelidir.</a:t>
            </a:r>
          </a:p>
        </p:txBody>
      </p:sp>
      <p:sp>
        <p:nvSpPr>
          <p:cNvPr id="7" name="Rectangle 13">
            <a:extLst>
              <a:ext uri="{FF2B5EF4-FFF2-40B4-BE49-F238E27FC236}">
                <a16:creationId xmlns:a16="http://schemas.microsoft.com/office/drawing/2014/main" id="{3814EC2A-2524-25D9-EAEA-194A6417A017}"/>
              </a:ext>
            </a:extLst>
          </p:cNvPr>
          <p:cNvSpPr/>
          <p:nvPr/>
        </p:nvSpPr>
        <p:spPr>
          <a:xfrm>
            <a:off x="216592" y="6529868"/>
            <a:ext cx="10476809" cy="281295"/>
          </a:xfrm>
          <a:prstGeom prst="rect">
            <a:avLst/>
          </a:prstGeom>
        </p:spPr>
        <p:txBody>
          <a:bodyPr wrap="square">
            <a:spAutoFit/>
          </a:bodyPr>
          <a:lstStyle/>
          <a:p>
            <a:pPr marL="285750" indent="-285750">
              <a:buFont typeface="Arial" panose="020B0604020202020204" pitchFamily="34" charset="0"/>
              <a:buChar char="•"/>
            </a:pPr>
            <a:r>
              <a:rPr lang="tr-TR" sz="1200" i="1" dirty="0">
                <a:latin typeface="+mn-lt"/>
              </a:rPr>
              <a:t>Bu bölümde şartnamede yer alan </a:t>
            </a:r>
            <a:r>
              <a:rPr lang="tr-TR" sz="1200" b="1" i="1" dirty="0">
                <a:latin typeface="+mn-lt"/>
              </a:rPr>
              <a:t>3.2.2, 4.3.1, 4.3.5, 4.3.6 ve 4.3.7 </a:t>
            </a:r>
            <a:r>
              <a:rPr lang="tr-TR" sz="1200" i="1" dirty="0">
                <a:latin typeface="+mn-lt"/>
              </a:rPr>
              <a:t>numaralı gereksinimin karşılanıp karşılanmadığı kontrol edilecektir.</a:t>
            </a:r>
          </a:p>
        </p:txBody>
      </p:sp>
      <p:sp>
        <p:nvSpPr>
          <p:cNvPr id="9" name="TextBox 8">
            <a:extLst>
              <a:ext uri="{FF2B5EF4-FFF2-40B4-BE49-F238E27FC236}">
                <a16:creationId xmlns:a16="http://schemas.microsoft.com/office/drawing/2014/main" id="{81DD2325-797F-C02D-2562-7346428F2B8D}"/>
              </a:ext>
            </a:extLst>
          </p:cNvPr>
          <p:cNvSpPr txBox="1"/>
          <p:nvPr/>
        </p:nvSpPr>
        <p:spPr>
          <a:xfrm>
            <a:off x="6357" y="544652"/>
            <a:ext cx="1027922" cy="569387"/>
          </a:xfrm>
          <a:prstGeom prst="rect">
            <a:avLst/>
          </a:prstGeom>
          <a:noFill/>
          <a:ln>
            <a:solidFill>
              <a:schemeClr val="tx1"/>
            </a:solidFill>
          </a:ln>
        </p:spPr>
        <p:txBody>
          <a:bodyPr wrap="square" rtlCol="0">
            <a:spAutoFit/>
          </a:bodyPr>
          <a:lstStyle/>
          <a:p>
            <a:pPr algn="ctr"/>
            <a:r>
              <a:rPr lang="tr-TR" sz="1550" dirty="0">
                <a:latin typeface="+mn-lt"/>
              </a:rPr>
              <a:t>Takım Logosu</a:t>
            </a:r>
          </a:p>
        </p:txBody>
      </p:sp>
    </p:spTree>
    <p:extLst>
      <p:ext uri="{BB962C8B-B14F-4D97-AF65-F5344CB8AC3E}">
        <p14:creationId xmlns:p14="http://schemas.microsoft.com/office/powerpoint/2010/main" val="1481149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35012" y="494808"/>
            <a:ext cx="8020050" cy="658651"/>
          </a:xfrm>
        </p:spPr>
        <p:txBody>
          <a:bodyPr>
            <a:noAutofit/>
          </a:bodyPr>
          <a:lstStyle/>
          <a:p>
            <a:r>
              <a:rPr lang="tr-TR" sz="3950" dirty="0">
                <a:solidFill>
                  <a:srgbClr val="0070C0"/>
                </a:solidFill>
                <a:latin typeface="+mn-lt"/>
                <a:cs typeface="Times New Roman" panose="02020603050405020304" pitchFamily="18" charset="0"/>
              </a:rPr>
              <a:t>Pnömatik Sistem Testleri</a:t>
            </a:r>
          </a:p>
        </p:txBody>
      </p:sp>
      <p:cxnSp>
        <p:nvCxnSpPr>
          <p:cNvPr id="5" name="Straight Connector 4"/>
          <p:cNvCxnSpPr/>
          <p:nvPr/>
        </p:nvCxnSpPr>
        <p:spPr>
          <a:xfrm flipV="1">
            <a:off x="0" y="1352684"/>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78851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9724145" y="6979608"/>
            <a:ext cx="201986" cy="161290"/>
          </a:xfrm>
        </p:spPr>
        <p:txBody>
          <a:bodyPr/>
          <a:lstStyle/>
          <a:p>
            <a:fld id="{87BEDC82-49FF-42E3-B7EA-26FF728940D5}" type="slidenum">
              <a:rPr lang="tr-TR" smtClean="0"/>
              <a:t>22</a:t>
            </a:fld>
            <a:endParaRPr lang="tr-TR"/>
          </a:p>
        </p:txBody>
      </p:sp>
      <p:sp>
        <p:nvSpPr>
          <p:cNvPr id="4" name="Date Placeholder 3"/>
          <p:cNvSpPr>
            <a:spLocks noGrp="1"/>
          </p:cNvSpPr>
          <p:nvPr>
            <p:ph type="dt" sz="half" idx="10"/>
          </p:nvPr>
        </p:nvSpPr>
        <p:spPr>
          <a:xfrm>
            <a:off x="802650" y="6979608"/>
            <a:ext cx="1321036" cy="161616"/>
          </a:xfrm>
        </p:spPr>
        <p:txBody>
          <a:bodyPr/>
          <a:lstStyle/>
          <a:p>
            <a:fld id="{562C0C87-6362-4F43-9E41-01DDE917541B}" type="datetime2">
              <a:rPr lang="tr-TR" smtClean="0"/>
              <a:t>3 Temmuz 2026 Cuma</a:t>
            </a:fld>
            <a:endParaRPr lang="tr-TR" dirty="0"/>
          </a:p>
        </p:txBody>
      </p:sp>
      <p:pic>
        <p:nvPicPr>
          <p:cNvPr id="12"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276225"/>
            <a:ext cx="1063165" cy="1063165"/>
          </a:xfrm>
          <a:prstGeom prst="rect">
            <a:avLst/>
          </a:prstGeom>
        </p:spPr>
      </p:pic>
      <p:sp>
        <p:nvSpPr>
          <p:cNvPr id="34" name="Footer Placeholder 8"/>
          <p:cNvSpPr>
            <a:spLocks noGrp="1"/>
          </p:cNvSpPr>
          <p:nvPr>
            <p:ph type="ftr" sz="quarter" idx="11"/>
          </p:nvPr>
        </p:nvSpPr>
        <p:spPr>
          <a:xfrm>
            <a:off x="3542189" y="6890180"/>
            <a:ext cx="3609023" cy="320245"/>
          </a:xfrm>
        </p:spPr>
        <p:txBody>
          <a:bodyPr/>
          <a:lstStyle/>
          <a:p>
            <a:pPr algn="ctr"/>
            <a:r>
              <a:rPr lang="tr-TR" dirty="0"/>
              <a:t>2026 TEKNOFEST DİKEY İNİŞLİ ROKET YARIŞMASI</a:t>
            </a:r>
          </a:p>
          <a:p>
            <a:pPr algn="ctr"/>
            <a:r>
              <a:rPr lang="tr-TR" dirty="0"/>
              <a:t>ATIŞA HAZIRLIK RAPORU (AHR)</a:t>
            </a:r>
          </a:p>
        </p:txBody>
      </p:sp>
      <p:sp>
        <p:nvSpPr>
          <p:cNvPr id="35" name="TextBox 34"/>
          <p:cNvSpPr txBox="1"/>
          <p:nvPr/>
        </p:nvSpPr>
        <p:spPr>
          <a:xfrm>
            <a:off x="218021" y="2036298"/>
            <a:ext cx="10278122" cy="3398623"/>
          </a:xfrm>
          <a:prstGeom prst="rect">
            <a:avLst/>
          </a:prstGeom>
          <a:noFill/>
        </p:spPr>
        <p:txBody>
          <a:bodyPr wrap="square" rtlCol="0">
            <a:spAutoFit/>
          </a:bodyPr>
          <a:lstStyle/>
          <a:p>
            <a:pPr algn="just">
              <a:lnSpc>
                <a:spcPct val="107000"/>
              </a:lnSpc>
            </a:pPr>
            <a:r>
              <a:rPr lang="tr-TR" sz="1550" b="1" dirty="0">
                <a:latin typeface="+mn-lt"/>
              </a:rPr>
              <a:t>Tek Lüle İtki ve Performans Testi: </a:t>
            </a:r>
            <a:r>
              <a:rPr lang="tr-TR" sz="1550" dirty="0">
                <a:latin typeface="+mn-lt"/>
              </a:rPr>
              <a:t>Tek lüleli soğuk gaz itki sisteminin işlevselliği ve performansı atış öncesi test edilmelidir. Bu testin temel amacı, sistemin çalıştırılmasıyla elde edilen itki-zaman grafiklerinin belirlenmesidir. Bu test, sızdırmazlık testinin ardından gerçekleştirilmelidir.</a:t>
            </a:r>
          </a:p>
          <a:p>
            <a:pPr algn="just">
              <a:lnSpc>
                <a:spcPct val="107000"/>
              </a:lnSpc>
            </a:pPr>
            <a:endParaRPr lang="tr-TR" sz="1550" dirty="0">
              <a:latin typeface="+mn-lt"/>
            </a:endParaRPr>
          </a:p>
          <a:p>
            <a:pPr marL="285750" indent="-285750" algn="just">
              <a:lnSpc>
                <a:spcPct val="107000"/>
              </a:lnSpc>
              <a:buFont typeface="Arial" panose="020B0604020202020204" pitchFamily="34" charset="0"/>
              <a:buChar char="•"/>
            </a:pPr>
            <a:r>
              <a:rPr lang="tr-TR" sz="1550" dirty="0">
                <a:latin typeface="+mn-lt"/>
              </a:rPr>
              <a:t>Test prosedürü açıklanmalıdır.</a:t>
            </a:r>
          </a:p>
          <a:p>
            <a:pPr marL="285750" indent="-285750" algn="just">
              <a:lnSpc>
                <a:spcPct val="107000"/>
              </a:lnSpc>
              <a:buFont typeface="Arial" panose="020B0604020202020204" pitchFamily="34" charset="0"/>
              <a:buChar char="•"/>
            </a:pPr>
            <a:endParaRPr lang="tr-TR" sz="1550" dirty="0">
              <a:latin typeface="+mn-lt"/>
            </a:endParaRPr>
          </a:p>
          <a:p>
            <a:pPr marL="285750" indent="-285750" algn="just">
              <a:lnSpc>
                <a:spcPct val="107000"/>
              </a:lnSpc>
              <a:buFont typeface="Arial" panose="020B0604020202020204" pitchFamily="34" charset="0"/>
              <a:buChar char="•"/>
            </a:pPr>
            <a:r>
              <a:rPr lang="tr-TR" sz="1550" dirty="0">
                <a:latin typeface="+mn-lt"/>
              </a:rPr>
              <a:t>Testte yer alan kişiler ve görev dağılımı tablo halinde belirtilmelidir.</a:t>
            </a:r>
          </a:p>
          <a:p>
            <a:pPr marL="285750" indent="-285750" algn="just">
              <a:lnSpc>
                <a:spcPct val="107000"/>
              </a:lnSpc>
              <a:buFont typeface="Arial" panose="020B0604020202020204" pitchFamily="34" charset="0"/>
              <a:buChar char="•"/>
            </a:pPr>
            <a:endParaRPr lang="tr-TR" sz="1550" dirty="0">
              <a:latin typeface="+mn-lt"/>
            </a:endParaRPr>
          </a:p>
          <a:p>
            <a:pPr marL="285750" indent="-285750" algn="just">
              <a:lnSpc>
                <a:spcPct val="107000"/>
              </a:lnSpc>
              <a:buFont typeface="Arial" panose="020B0604020202020204" pitchFamily="34" charset="0"/>
              <a:buChar char="•"/>
            </a:pPr>
            <a:r>
              <a:rPr lang="tr-TR" sz="1550" dirty="0">
                <a:latin typeface="+mn-lt"/>
              </a:rPr>
              <a:t>Başarı kriteri, tek lüleli itki sisteminin tasarıma uygun biçimde çalışması ve beklenen itki profilini üretmesidir. Test sonucunda başarı kriterinin sağlanıp sağlanmadığı ölçüm sonuçları (kuvvet sensöründen alınan itki-zaman grafikleri veya ölçüm almak mümkün değil ise video kaydı ile) belirtilmelidir.</a:t>
            </a:r>
          </a:p>
          <a:p>
            <a:pPr marL="285750" indent="-285750" algn="just">
              <a:lnSpc>
                <a:spcPct val="107000"/>
              </a:lnSpc>
              <a:buFont typeface="Arial" panose="020B0604020202020204" pitchFamily="34" charset="0"/>
              <a:buChar char="•"/>
            </a:pPr>
            <a:endParaRPr lang="tr-TR" sz="1550" dirty="0">
              <a:latin typeface="+mn-lt"/>
            </a:endParaRPr>
          </a:p>
          <a:p>
            <a:pPr marL="285750" indent="-285750" algn="just">
              <a:lnSpc>
                <a:spcPct val="107000"/>
              </a:lnSpc>
              <a:buFont typeface="Arial" panose="020B0604020202020204" pitchFamily="34" charset="0"/>
              <a:buChar char="•"/>
            </a:pPr>
            <a:r>
              <a:rPr lang="tr-TR" sz="1550" dirty="0">
                <a:latin typeface="+mn-lt"/>
              </a:rPr>
              <a:t>Test 5 defa tekrar edilmelidir.</a:t>
            </a:r>
          </a:p>
        </p:txBody>
      </p:sp>
      <p:sp>
        <p:nvSpPr>
          <p:cNvPr id="7" name="Rectangle 13">
            <a:extLst>
              <a:ext uri="{FF2B5EF4-FFF2-40B4-BE49-F238E27FC236}">
                <a16:creationId xmlns:a16="http://schemas.microsoft.com/office/drawing/2014/main" id="{3814EC2A-2524-25D9-EAEA-194A6417A017}"/>
              </a:ext>
            </a:extLst>
          </p:cNvPr>
          <p:cNvSpPr/>
          <p:nvPr/>
        </p:nvSpPr>
        <p:spPr>
          <a:xfrm>
            <a:off x="216592" y="6529868"/>
            <a:ext cx="10476809" cy="281295"/>
          </a:xfrm>
          <a:prstGeom prst="rect">
            <a:avLst/>
          </a:prstGeom>
        </p:spPr>
        <p:txBody>
          <a:bodyPr wrap="square">
            <a:spAutoFit/>
          </a:bodyPr>
          <a:lstStyle/>
          <a:p>
            <a:pPr marL="285750" indent="-285750">
              <a:buFont typeface="Arial" panose="020B0604020202020204" pitchFamily="34" charset="0"/>
              <a:buChar char="•"/>
            </a:pPr>
            <a:r>
              <a:rPr lang="tr-TR" sz="1200" i="1" dirty="0">
                <a:latin typeface="+mn-lt"/>
              </a:rPr>
              <a:t>Bu bölümde şartnamede yer alan </a:t>
            </a:r>
            <a:r>
              <a:rPr lang="tr-TR" sz="1200" b="1" i="1" dirty="0">
                <a:latin typeface="+mn-lt"/>
              </a:rPr>
              <a:t>3.2.2, 4.3.1, 4.3.5, 4.3.6 ve 4.3.7 </a:t>
            </a:r>
            <a:r>
              <a:rPr lang="tr-TR" sz="1200" i="1" dirty="0">
                <a:latin typeface="+mn-lt"/>
              </a:rPr>
              <a:t>numaralı gereksinimin karşılanıp karşılanmadığı kontrol edilecektir.</a:t>
            </a:r>
          </a:p>
        </p:txBody>
      </p:sp>
      <p:sp>
        <p:nvSpPr>
          <p:cNvPr id="9" name="TextBox 8">
            <a:extLst>
              <a:ext uri="{FF2B5EF4-FFF2-40B4-BE49-F238E27FC236}">
                <a16:creationId xmlns:a16="http://schemas.microsoft.com/office/drawing/2014/main" id="{81DD2325-797F-C02D-2562-7346428F2B8D}"/>
              </a:ext>
            </a:extLst>
          </p:cNvPr>
          <p:cNvSpPr txBox="1"/>
          <p:nvPr/>
        </p:nvSpPr>
        <p:spPr>
          <a:xfrm>
            <a:off x="6357" y="544652"/>
            <a:ext cx="1027922" cy="569387"/>
          </a:xfrm>
          <a:prstGeom prst="rect">
            <a:avLst/>
          </a:prstGeom>
          <a:noFill/>
          <a:ln>
            <a:solidFill>
              <a:schemeClr val="tx1"/>
            </a:solidFill>
          </a:ln>
        </p:spPr>
        <p:txBody>
          <a:bodyPr wrap="square" rtlCol="0">
            <a:spAutoFit/>
          </a:bodyPr>
          <a:lstStyle/>
          <a:p>
            <a:pPr algn="ctr"/>
            <a:r>
              <a:rPr lang="tr-TR" sz="1550" dirty="0">
                <a:latin typeface="+mn-lt"/>
              </a:rPr>
              <a:t>Takım Logosu</a:t>
            </a:r>
          </a:p>
        </p:txBody>
      </p:sp>
    </p:spTree>
    <p:extLst>
      <p:ext uri="{BB962C8B-B14F-4D97-AF65-F5344CB8AC3E}">
        <p14:creationId xmlns:p14="http://schemas.microsoft.com/office/powerpoint/2010/main" val="17568007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35012" y="494808"/>
            <a:ext cx="8020050" cy="658651"/>
          </a:xfrm>
        </p:spPr>
        <p:txBody>
          <a:bodyPr>
            <a:noAutofit/>
          </a:bodyPr>
          <a:lstStyle/>
          <a:p>
            <a:r>
              <a:rPr lang="tr-TR" sz="3950" dirty="0">
                <a:solidFill>
                  <a:srgbClr val="0070C0"/>
                </a:solidFill>
                <a:latin typeface="+mn-lt"/>
                <a:cs typeface="Times New Roman" panose="02020603050405020304" pitchFamily="18" charset="0"/>
              </a:rPr>
              <a:t>Pnömatik Sistem Testleri</a:t>
            </a:r>
          </a:p>
        </p:txBody>
      </p:sp>
      <p:cxnSp>
        <p:nvCxnSpPr>
          <p:cNvPr id="5" name="Straight Connector 4"/>
          <p:cNvCxnSpPr/>
          <p:nvPr/>
        </p:nvCxnSpPr>
        <p:spPr>
          <a:xfrm flipV="1">
            <a:off x="0" y="1352684"/>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78851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9724145" y="6979608"/>
            <a:ext cx="201986" cy="161290"/>
          </a:xfrm>
        </p:spPr>
        <p:txBody>
          <a:bodyPr/>
          <a:lstStyle/>
          <a:p>
            <a:fld id="{87BEDC82-49FF-42E3-B7EA-26FF728940D5}" type="slidenum">
              <a:rPr lang="tr-TR" smtClean="0"/>
              <a:t>23</a:t>
            </a:fld>
            <a:endParaRPr lang="tr-TR"/>
          </a:p>
        </p:txBody>
      </p:sp>
      <p:sp>
        <p:nvSpPr>
          <p:cNvPr id="4" name="Date Placeholder 3"/>
          <p:cNvSpPr>
            <a:spLocks noGrp="1"/>
          </p:cNvSpPr>
          <p:nvPr>
            <p:ph type="dt" sz="half" idx="10"/>
          </p:nvPr>
        </p:nvSpPr>
        <p:spPr>
          <a:xfrm>
            <a:off x="802650" y="6979608"/>
            <a:ext cx="1321036" cy="161616"/>
          </a:xfrm>
        </p:spPr>
        <p:txBody>
          <a:bodyPr/>
          <a:lstStyle/>
          <a:p>
            <a:fld id="{7A9D3783-D32F-4911-A01D-98036F1DA65C}" type="datetime2">
              <a:rPr lang="tr-TR" smtClean="0"/>
              <a:t>3 Temmuz 2026 Cuma</a:t>
            </a:fld>
            <a:endParaRPr lang="tr-TR" dirty="0"/>
          </a:p>
        </p:txBody>
      </p:sp>
      <p:pic>
        <p:nvPicPr>
          <p:cNvPr id="12"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276225"/>
            <a:ext cx="1063165" cy="1063165"/>
          </a:xfrm>
          <a:prstGeom prst="rect">
            <a:avLst/>
          </a:prstGeom>
        </p:spPr>
      </p:pic>
      <p:sp>
        <p:nvSpPr>
          <p:cNvPr id="34" name="Footer Placeholder 8"/>
          <p:cNvSpPr>
            <a:spLocks noGrp="1"/>
          </p:cNvSpPr>
          <p:nvPr>
            <p:ph type="ftr" sz="quarter" idx="11"/>
          </p:nvPr>
        </p:nvSpPr>
        <p:spPr>
          <a:xfrm>
            <a:off x="3542189" y="6890180"/>
            <a:ext cx="3609023" cy="320245"/>
          </a:xfrm>
        </p:spPr>
        <p:txBody>
          <a:bodyPr/>
          <a:lstStyle/>
          <a:p>
            <a:pPr algn="ctr"/>
            <a:r>
              <a:rPr lang="tr-TR" dirty="0"/>
              <a:t>2026 TEKNOFEST DİKEY İNİŞLİ ROKET YARIŞMASI</a:t>
            </a:r>
          </a:p>
          <a:p>
            <a:pPr algn="ctr"/>
            <a:r>
              <a:rPr lang="tr-TR" dirty="0"/>
              <a:t>ATIŞA HAZIRLIK RAPORU (AHR)</a:t>
            </a:r>
          </a:p>
        </p:txBody>
      </p:sp>
      <p:sp>
        <p:nvSpPr>
          <p:cNvPr id="35" name="TextBox 34"/>
          <p:cNvSpPr txBox="1"/>
          <p:nvPr/>
        </p:nvSpPr>
        <p:spPr>
          <a:xfrm>
            <a:off x="295885" y="2028587"/>
            <a:ext cx="10052315" cy="3230372"/>
          </a:xfrm>
          <a:prstGeom prst="rect">
            <a:avLst/>
          </a:prstGeom>
          <a:noFill/>
        </p:spPr>
        <p:txBody>
          <a:bodyPr wrap="square" rtlCol="0">
            <a:spAutoFit/>
          </a:bodyPr>
          <a:lstStyle/>
          <a:p>
            <a:pPr marL="50126" algn="just">
              <a:lnSpc>
                <a:spcPct val="107000"/>
              </a:lnSpc>
            </a:pPr>
            <a:r>
              <a:rPr lang="tr-TR" sz="1550" b="1" dirty="0">
                <a:latin typeface="+mn-lt"/>
              </a:rPr>
              <a:t>Ana İtki İşlevsellik Testi: </a:t>
            </a:r>
            <a:r>
              <a:rPr lang="tr-TR" sz="1550" dirty="0">
                <a:latin typeface="+mn-lt"/>
              </a:rPr>
              <a:t>Ana itki sisteminin işlevselliği atış öncesi test edilmelidir. Bunun için tasarım hareket etmeyecek şekilde engeller ile sabitlendikten sonra tankın dolumu yapılmalı ve ana itki sistemi çalıştırılmalıdır. Bu test sızdırmazlık testinin ardından gerçekleştirilebilir. </a:t>
            </a:r>
          </a:p>
          <a:p>
            <a:pPr marL="50126" algn="just">
              <a:lnSpc>
                <a:spcPct val="107000"/>
              </a:lnSpc>
            </a:pPr>
            <a:endParaRPr lang="tr-TR" sz="1550" dirty="0">
              <a:latin typeface="+mn-lt"/>
            </a:endParaRPr>
          </a:p>
          <a:p>
            <a:pPr marL="651641" lvl="1" indent="-250631" algn="just">
              <a:lnSpc>
                <a:spcPct val="150000"/>
              </a:lnSpc>
              <a:buFont typeface="Courier New" panose="02070309020205020404" pitchFamily="49" charset="0"/>
              <a:buChar char="o"/>
            </a:pPr>
            <a:r>
              <a:rPr lang="tr-TR" sz="1550" dirty="0">
                <a:latin typeface="+mn-lt"/>
              </a:rPr>
              <a:t>Test prosedürü açıklanmalıdır.</a:t>
            </a:r>
          </a:p>
          <a:p>
            <a:pPr marL="651641" lvl="1" indent="-250631" algn="just">
              <a:lnSpc>
                <a:spcPct val="150000"/>
              </a:lnSpc>
              <a:buFont typeface="Courier New" panose="02070309020205020404" pitchFamily="49" charset="0"/>
              <a:buChar char="o"/>
            </a:pPr>
            <a:r>
              <a:rPr lang="tr-TR" sz="1550" dirty="0">
                <a:latin typeface="+mn-lt"/>
              </a:rPr>
              <a:t>Testte yer alan kişiler ve görev dağılımı tablo halinde belirtilmelidir.</a:t>
            </a:r>
          </a:p>
          <a:p>
            <a:pPr marL="651641" lvl="1" indent="-250631" algn="just">
              <a:lnSpc>
                <a:spcPct val="150000"/>
              </a:lnSpc>
              <a:buFont typeface="Courier New" panose="02070309020205020404" pitchFamily="49" charset="0"/>
              <a:buChar char="o"/>
            </a:pPr>
            <a:r>
              <a:rPr lang="tr-TR" sz="1550" dirty="0">
                <a:latin typeface="+mn-lt"/>
              </a:rPr>
              <a:t>Başarı kriteri itki sistemlerinin tasarıma uygun biçimde çalışmasıdır. Test sonucunda başarı kriterinin sağlanıp sağlanmadığı ölçüm sonuçları (ölçüm almak mümkün değil ise video kayıdı ile) belirtilmelidir.</a:t>
            </a:r>
          </a:p>
          <a:p>
            <a:pPr marL="651641" lvl="1" indent="-250631" algn="just">
              <a:lnSpc>
                <a:spcPct val="150000"/>
              </a:lnSpc>
              <a:spcAft>
                <a:spcPts val="702"/>
              </a:spcAft>
              <a:buFont typeface="Courier New" panose="02070309020205020404" pitchFamily="49" charset="0"/>
              <a:buChar char="o"/>
            </a:pPr>
            <a:r>
              <a:rPr lang="tr-TR" sz="1550" dirty="0">
                <a:latin typeface="+mn-lt"/>
              </a:rPr>
              <a:t>Test </a:t>
            </a:r>
            <a:r>
              <a:rPr lang="tr-TR" sz="1550" b="1" dirty="0">
                <a:latin typeface="+mn-lt"/>
              </a:rPr>
              <a:t>5 defa </a:t>
            </a:r>
            <a:r>
              <a:rPr lang="tr-TR" sz="1550" dirty="0">
                <a:latin typeface="+mn-lt"/>
              </a:rPr>
              <a:t>tekrar edilmelidir.</a:t>
            </a:r>
          </a:p>
          <a:p>
            <a:pPr marL="250631" indent="-250631">
              <a:buFont typeface="Arial" panose="020B0604020202020204" pitchFamily="34" charset="0"/>
              <a:buChar char="•"/>
            </a:pPr>
            <a:endParaRPr lang="tr-TR" sz="1550" dirty="0">
              <a:latin typeface="+mn-lt"/>
            </a:endParaRPr>
          </a:p>
        </p:txBody>
      </p:sp>
      <p:sp>
        <p:nvSpPr>
          <p:cNvPr id="11" name="Rectangle 10"/>
          <p:cNvSpPr/>
          <p:nvPr/>
        </p:nvSpPr>
        <p:spPr>
          <a:xfrm>
            <a:off x="2850716" y="4529697"/>
            <a:ext cx="5346700" cy="244169"/>
          </a:xfrm>
          <a:prstGeom prst="rect">
            <a:avLst/>
          </a:prstGeom>
        </p:spPr>
        <p:txBody>
          <a:bodyPr>
            <a:spAutoFit/>
          </a:bodyPr>
          <a:lstStyle/>
          <a:p>
            <a:pPr marL="300758" indent="-300758" algn="just">
              <a:lnSpc>
                <a:spcPct val="107000"/>
              </a:lnSpc>
              <a:buFont typeface="Calibri" panose="020F0502020204030204" pitchFamily="34" charset="0"/>
              <a:buChar char="-"/>
            </a:pPr>
            <a:endParaRPr lang="tr-TR" sz="965" dirty="0">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13">
            <a:extLst>
              <a:ext uri="{FF2B5EF4-FFF2-40B4-BE49-F238E27FC236}">
                <a16:creationId xmlns:a16="http://schemas.microsoft.com/office/drawing/2014/main" id="{4461D3BB-B2C8-56FA-56BB-425141B5B631}"/>
              </a:ext>
            </a:extLst>
          </p:cNvPr>
          <p:cNvSpPr/>
          <p:nvPr/>
        </p:nvSpPr>
        <p:spPr>
          <a:xfrm>
            <a:off x="216592" y="6529868"/>
            <a:ext cx="10476809" cy="281295"/>
          </a:xfrm>
          <a:prstGeom prst="rect">
            <a:avLst/>
          </a:prstGeom>
        </p:spPr>
        <p:txBody>
          <a:bodyPr wrap="square">
            <a:spAutoFit/>
          </a:bodyPr>
          <a:lstStyle/>
          <a:p>
            <a:pPr marL="285750" indent="-285750">
              <a:buFont typeface="Arial" panose="020B0604020202020204" pitchFamily="34" charset="0"/>
              <a:buChar char="•"/>
            </a:pPr>
            <a:r>
              <a:rPr lang="tr-TR" sz="1200" i="1" dirty="0">
                <a:latin typeface="+mn-lt"/>
              </a:rPr>
              <a:t>Bu bölümde şartnamede yer alan </a:t>
            </a:r>
            <a:r>
              <a:rPr lang="tr-TR" sz="1200" b="1" i="1" dirty="0">
                <a:latin typeface="+mn-lt"/>
              </a:rPr>
              <a:t>3.2.2, 4.3.1, 4.3.5, 4.3.6 ve 4.3.7 </a:t>
            </a:r>
            <a:r>
              <a:rPr lang="tr-TR" sz="1200" i="1" dirty="0">
                <a:latin typeface="+mn-lt"/>
              </a:rPr>
              <a:t>numaralı gereksinimin karşılanıp karşılanmadığı kontrol edilecektir.</a:t>
            </a:r>
          </a:p>
        </p:txBody>
      </p:sp>
      <p:sp>
        <p:nvSpPr>
          <p:cNvPr id="9" name="TextBox 8">
            <a:extLst>
              <a:ext uri="{FF2B5EF4-FFF2-40B4-BE49-F238E27FC236}">
                <a16:creationId xmlns:a16="http://schemas.microsoft.com/office/drawing/2014/main" id="{5BCE1628-8CA5-5FD0-186B-31C89D9B7205}"/>
              </a:ext>
            </a:extLst>
          </p:cNvPr>
          <p:cNvSpPr txBox="1"/>
          <p:nvPr/>
        </p:nvSpPr>
        <p:spPr>
          <a:xfrm>
            <a:off x="6357" y="544652"/>
            <a:ext cx="1027922" cy="569387"/>
          </a:xfrm>
          <a:prstGeom prst="rect">
            <a:avLst/>
          </a:prstGeom>
          <a:noFill/>
          <a:ln>
            <a:solidFill>
              <a:schemeClr val="tx1"/>
            </a:solidFill>
          </a:ln>
        </p:spPr>
        <p:txBody>
          <a:bodyPr wrap="square" rtlCol="0">
            <a:spAutoFit/>
          </a:bodyPr>
          <a:lstStyle/>
          <a:p>
            <a:pPr algn="ctr"/>
            <a:r>
              <a:rPr lang="tr-TR" sz="1550" dirty="0">
                <a:latin typeface="+mn-lt"/>
              </a:rPr>
              <a:t>Takım Logosu</a:t>
            </a:r>
          </a:p>
        </p:txBody>
      </p:sp>
    </p:spTree>
    <p:extLst>
      <p:ext uri="{BB962C8B-B14F-4D97-AF65-F5344CB8AC3E}">
        <p14:creationId xmlns:p14="http://schemas.microsoft.com/office/powerpoint/2010/main" val="23727532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35012" y="494808"/>
            <a:ext cx="8020050" cy="658651"/>
          </a:xfrm>
        </p:spPr>
        <p:txBody>
          <a:bodyPr>
            <a:noAutofit/>
          </a:bodyPr>
          <a:lstStyle/>
          <a:p>
            <a:r>
              <a:rPr lang="tr-TR" sz="3950" dirty="0">
                <a:solidFill>
                  <a:srgbClr val="0070C0"/>
                </a:solidFill>
                <a:latin typeface="+mn-lt"/>
                <a:cs typeface="Times New Roman" panose="02020603050405020304" pitchFamily="18" charset="0"/>
              </a:rPr>
              <a:t>Pnömatik Sistem Testleri</a:t>
            </a:r>
          </a:p>
        </p:txBody>
      </p:sp>
      <p:cxnSp>
        <p:nvCxnSpPr>
          <p:cNvPr id="5" name="Straight Connector 4"/>
          <p:cNvCxnSpPr/>
          <p:nvPr/>
        </p:nvCxnSpPr>
        <p:spPr>
          <a:xfrm flipV="1">
            <a:off x="0" y="1352684"/>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78851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9724145" y="6979608"/>
            <a:ext cx="201986" cy="161290"/>
          </a:xfrm>
        </p:spPr>
        <p:txBody>
          <a:bodyPr/>
          <a:lstStyle/>
          <a:p>
            <a:fld id="{87BEDC82-49FF-42E3-B7EA-26FF728940D5}" type="slidenum">
              <a:rPr lang="tr-TR" smtClean="0"/>
              <a:t>24</a:t>
            </a:fld>
            <a:endParaRPr lang="tr-TR"/>
          </a:p>
        </p:txBody>
      </p:sp>
      <p:sp>
        <p:nvSpPr>
          <p:cNvPr id="4" name="Date Placeholder 3"/>
          <p:cNvSpPr>
            <a:spLocks noGrp="1"/>
          </p:cNvSpPr>
          <p:nvPr>
            <p:ph type="dt" sz="half" idx="10"/>
          </p:nvPr>
        </p:nvSpPr>
        <p:spPr>
          <a:xfrm>
            <a:off x="802650" y="6979608"/>
            <a:ext cx="1321036" cy="161616"/>
          </a:xfrm>
        </p:spPr>
        <p:txBody>
          <a:bodyPr/>
          <a:lstStyle/>
          <a:p>
            <a:fld id="{4DD6BE08-C642-4988-B459-2E3F72E66821}" type="datetime2">
              <a:rPr lang="tr-TR" smtClean="0"/>
              <a:t>3 Temmuz 2026 Cuma</a:t>
            </a:fld>
            <a:endParaRPr lang="tr-TR" dirty="0"/>
          </a:p>
        </p:txBody>
      </p:sp>
      <p:pic>
        <p:nvPicPr>
          <p:cNvPr id="12"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276225"/>
            <a:ext cx="1063165" cy="1063165"/>
          </a:xfrm>
          <a:prstGeom prst="rect">
            <a:avLst/>
          </a:prstGeom>
        </p:spPr>
      </p:pic>
      <p:sp>
        <p:nvSpPr>
          <p:cNvPr id="34" name="Footer Placeholder 8"/>
          <p:cNvSpPr>
            <a:spLocks noGrp="1"/>
          </p:cNvSpPr>
          <p:nvPr>
            <p:ph type="ftr" sz="quarter" idx="11"/>
          </p:nvPr>
        </p:nvSpPr>
        <p:spPr>
          <a:xfrm>
            <a:off x="3542189" y="6890180"/>
            <a:ext cx="3609023" cy="320245"/>
          </a:xfrm>
        </p:spPr>
        <p:txBody>
          <a:bodyPr/>
          <a:lstStyle/>
          <a:p>
            <a:pPr algn="ctr"/>
            <a:r>
              <a:rPr lang="tr-TR" dirty="0"/>
              <a:t>2026 TEKNOFEST DİKEY İNİŞLİ ROKET YARIŞMASI</a:t>
            </a:r>
          </a:p>
          <a:p>
            <a:pPr algn="ctr"/>
            <a:r>
              <a:rPr lang="tr-TR" dirty="0"/>
              <a:t>ATIŞA HAZIRLIK RAPORU (AHR)</a:t>
            </a:r>
          </a:p>
        </p:txBody>
      </p:sp>
      <p:sp>
        <p:nvSpPr>
          <p:cNvPr id="35" name="TextBox 34"/>
          <p:cNvSpPr txBox="1"/>
          <p:nvPr/>
        </p:nvSpPr>
        <p:spPr>
          <a:xfrm>
            <a:off x="233594" y="2028586"/>
            <a:ext cx="10083461" cy="3485570"/>
          </a:xfrm>
          <a:prstGeom prst="rect">
            <a:avLst/>
          </a:prstGeom>
          <a:noFill/>
        </p:spPr>
        <p:txBody>
          <a:bodyPr wrap="square" rtlCol="0">
            <a:spAutoFit/>
          </a:bodyPr>
          <a:lstStyle/>
          <a:p>
            <a:pPr marL="50126" algn="just">
              <a:lnSpc>
                <a:spcPct val="107000"/>
              </a:lnSpc>
            </a:pPr>
            <a:r>
              <a:rPr lang="tr-TR" sz="1550" b="1" dirty="0">
                <a:latin typeface="+mn-lt"/>
                <a:ea typeface="Calibri" panose="020F0502020204030204" pitchFamily="34" charset="0"/>
                <a:cs typeface="Times New Roman" panose="02020603050405020304" pitchFamily="18" charset="0"/>
              </a:rPr>
              <a:t>İkincil Sistemler İşlevsellik Testi: </a:t>
            </a:r>
            <a:r>
              <a:rPr lang="tr-TR" sz="1550" dirty="0">
                <a:latin typeface="+mn-lt"/>
                <a:ea typeface="Calibri" panose="020F0502020204030204" pitchFamily="34" charset="0"/>
                <a:cs typeface="Times New Roman" panose="02020603050405020304" pitchFamily="18" charset="0"/>
              </a:rPr>
              <a:t>Ana itki sistemi dışında (kullanılıyor ise, reaksiyon kontrol sistemleri vb.) ikincil sistemlerin işlevselliği atış öncesi test edilmelidir. Bunun için tasarım hareket etmeyecek şekilde engeller ile sabitlendikten sonra tankın dolumu yapılmalı ve ilgili sistemler çalıştırılmalıdır. Birden fazla ikincil sistem bulunduran takımların aynı testi tüm sistemler için tekrarlamaları gerekmektedir</a:t>
            </a:r>
          </a:p>
          <a:p>
            <a:pPr marL="50126" algn="just">
              <a:lnSpc>
                <a:spcPct val="107000"/>
              </a:lnSpc>
            </a:pPr>
            <a:endParaRPr lang="tr-TR" sz="1550" dirty="0">
              <a:latin typeface="+mn-lt"/>
            </a:endParaRPr>
          </a:p>
          <a:p>
            <a:pPr marL="651641" lvl="1" indent="-250631" algn="just">
              <a:lnSpc>
                <a:spcPct val="150000"/>
              </a:lnSpc>
              <a:buFont typeface="Courier New" panose="02070309020205020404" pitchFamily="49" charset="0"/>
              <a:buChar char="o"/>
            </a:pPr>
            <a:r>
              <a:rPr lang="tr-TR" sz="1550" dirty="0">
                <a:latin typeface="+mn-lt"/>
              </a:rPr>
              <a:t>Test prosedürü açıklanmalıdır.</a:t>
            </a:r>
          </a:p>
          <a:p>
            <a:pPr marL="651641" lvl="1" indent="-250631" algn="just">
              <a:lnSpc>
                <a:spcPct val="150000"/>
              </a:lnSpc>
              <a:buFont typeface="Courier New" panose="02070309020205020404" pitchFamily="49" charset="0"/>
              <a:buChar char="o"/>
            </a:pPr>
            <a:r>
              <a:rPr lang="tr-TR" sz="1550" dirty="0">
                <a:latin typeface="+mn-lt"/>
              </a:rPr>
              <a:t>Testte yer alan kişiler ve görev dağılımı tablo halinde belirtilmelidir.</a:t>
            </a:r>
          </a:p>
          <a:p>
            <a:pPr marL="651641" lvl="1" indent="-250631" algn="just">
              <a:lnSpc>
                <a:spcPct val="150000"/>
              </a:lnSpc>
              <a:buFont typeface="Courier New" panose="02070309020205020404" pitchFamily="49" charset="0"/>
              <a:buChar char="o"/>
            </a:pPr>
            <a:r>
              <a:rPr lang="tr-TR" sz="1550" dirty="0">
                <a:latin typeface="+mn-lt"/>
              </a:rPr>
              <a:t>Başarı kriteri ilgili sistemlerinin tasarıma uygun biçimde çalışmasıdır. Test sonucunda başarı kriterinin sağlanıp sağlanmadığı ölçüm sonuçları (ölçüm almak mümkün değil ise video kayıdı ile) belirtilmelidir.</a:t>
            </a:r>
          </a:p>
          <a:p>
            <a:pPr marL="651641" lvl="1" indent="-250631" algn="just">
              <a:lnSpc>
                <a:spcPct val="150000"/>
              </a:lnSpc>
              <a:spcAft>
                <a:spcPts val="702"/>
              </a:spcAft>
              <a:buFont typeface="Courier New" panose="02070309020205020404" pitchFamily="49" charset="0"/>
              <a:buChar char="o"/>
            </a:pPr>
            <a:r>
              <a:rPr lang="tr-TR" sz="1550" dirty="0">
                <a:latin typeface="+mn-lt"/>
              </a:rPr>
              <a:t>Test</a:t>
            </a:r>
            <a:r>
              <a:rPr lang="tr-TR" sz="1550" b="1" dirty="0">
                <a:latin typeface="+mn-lt"/>
              </a:rPr>
              <a:t> 5 defa </a:t>
            </a:r>
            <a:r>
              <a:rPr lang="tr-TR" sz="1550" dirty="0">
                <a:latin typeface="+mn-lt"/>
              </a:rPr>
              <a:t>tekrar edilmelidir.</a:t>
            </a:r>
          </a:p>
          <a:p>
            <a:pPr marL="250631" indent="-250631">
              <a:buFont typeface="Arial" panose="020B0604020202020204" pitchFamily="34" charset="0"/>
              <a:buChar char="•"/>
            </a:pPr>
            <a:endParaRPr lang="tr-TR" sz="1550" dirty="0">
              <a:latin typeface="+mn-lt"/>
            </a:endParaRPr>
          </a:p>
        </p:txBody>
      </p:sp>
      <p:sp>
        <p:nvSpPr>
          <p:cNvPr id="7" name="Rectangle 13">
            <a:extLst>
              <a:ext uri="{FF2B5EF4-FFF2-40B4-BE49-F238E27FC236}">
                <a16:creationId xmlns:a16="http://schemas.microsoft.com/office/drawing/2014/main" id="{03F92011-8806-29B6-4762-E34CF89CC4C5}"/>
              </a:ext>
            </a:extLst>
          </p:cNvPr>
          <p:cNvSpPr/>
          <p:nvPr/>
        </p:nvSpPr>
        <p:spPr>
          <a:xfrm>
            <a:off x="216592" y="6529868"/>
            <a:ext cx="10476809" cy="281295"/>
          </a:xfrm>
          <a:prstGeom prst="rect">
            <a:avLst/>
          </a:prstGeom>
        </p:spPr>
        <p:txBody>
          <a:bodyPr wrap="square">
            <a:spAutoFit/>
          </a:bodyPr>
          <a:lstStyle/>
          <a:p>
            <a:pPr marL="171450" indent="-171450">
              <a:buFont typeface="Arial" panose="020B0604020202020204" pitchFamily="34" charset="0"/>
              <a:buChar char="•"/>
            </a:pPr>
            <a:r>
              <a:rPr lang="tr-TR" sz="1200" i="1" dirty="0">
                <a:latin typeface="+mn-lt"/>
              </a:rPr>
              <a:t>Bu bölümde şartnamede yer alan </a:t>
            </a:r>
            <a:r>
              <a:rPr lang="tr-TR" sz="1200" b="1" i="1" dirty="0">
                <a:latin typeface="+mn-lt"/>
              </a:rPr>
              <a:t>3.2.2, 4.3.1, 4.3.5, 4.3.6 ve 4.3.7 </a:t>
            </a:r>
            <a:r>
              <a:rPr lang="tr-TR" sz="1200" i="1" dirty="0">
                <a:latin typeface="+mn-lt"/>
              </a:rPr>
              <a:t>numaralı gereksinimin karşılanıp karşılanmadığı kontrol edilecektir.</a:t>
            </a:r>
          </a:p>
        </p:txBody>
      </p:sp>
      <p:sp>
        <p:nvSpPr>
          <p:cNvPr id="9" name="TextBox 8">
            <a:extLst>
              <a:ext uri="{FF2B5EF4-FFF2-40B4-BE49-F238E27FC236}">
                <a16:creationId xmlns:a16="http://schemas.microsoft.com/office/drawing/2014/main" id="{9655EB73-0107-7FA4-5678-84818E0456BC}"/>
              </a:ext>
            </a:extLst>
          </p:cNvPr>
          <p:cNvSpPr txBox="1"/>
          <p:nvPr/>
        </p:nvSpPr>
        <p:spPr>
          <a:xfrm>
            <a:off x="6357" y="544652"/>
            <a:ext cx="1027922" cy="569387"/>
          </a:xfrm>
          <a:prstGeom prst="rect">
            <a:avLst/>
          </a:prstGeom>
          <a:noFill/>
          <a:ln>
            <a:solidFill>
              <a:schemeClr val="tx1"/>
            </a:solidFill>
          </a:ln>
        </p:spPr>
        <p:txBody>
          <a:bodyPr wrap="square" rtlCol="0">
            <a:spAutoFit/>
          </a:bodyPr>
          <a:lstStyle/>
          <a:p>
            <a:pPr algn="ctr"/>
            <a:r>
              <a:rPr lang="tr-TR" sz="1550" dirty="0">
                <a:latin typeface="+mn-lt"/>
              </a:rPr>
              <a:t>Takım Logosu</a:t>
            </a:r>
          </a:p>
        </p:txBody>
      </p:sp>
    </p:spTree>
    <p:extLst>
      <p:ext uri="{BB962C8B-B14F-4D97-AF65-F5344CB8AC3E}">
        <p14:creationId xmlns:p14="http://schemas.microsoft.com/office/powerpoint/2010/main" val="39093718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35012" y="494808"/>
            <a:ext cx="8020050" cy="658651"/>
          </a:xfrm>
        </p:spPr>
        <p:txBody>
          <a:bodyPr>
            <a:noAutofit/>
          </a:bodyPr>
          <a:lstStyle/>
          <a:p>
            <a:r>
              <a:rPr lang="tr-TR" sz="3950" dirty="0">
                <a:solidFill>
                  <a:srgbClr val="0070C0"/>
                </a:solidFill>
                <a:latin typeface="+mn-lt"/>
                <a:cs typeface="Times New Roman" panose="02020603050405020304" pitchFamily="18" charset="0"/>
              </a:rPr>
              <a:t>Pnömatik Sistem Testleri</a:t>
            </a:r>
          </a:p>
        </p:txBody>
      </p:sp>
      <p:cxnSp>
        <p:nvCxnSpPr>
          <p:cNvPr id="5" name="Straight Connector 4"/>
          <p:cNvCxnSpPr/>
          <p:nvPr/>
        </p:nvCxnSpPr>
        <p:spPr>
          <a:xfrm flipV="1">
            <a:off x="0" y="1352684"/>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78851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9724145" y="6979608"/>
            <a:ext cx="201986" cy="161290"/>
          </a:xfrm>
        </p:spPr>
        <p:txBody>
          <a:bodyPr/>
          <a:lstStyle/>
          <a:p>
            <a:fld id="{87BEDC82-49FF-42E3-B7EA-26FF728940D5}" type="slidenum">
              <a:rPr lang="tr-TR" smtClean="0"/>
              <a:t>25</a:t>
            </a:fld>
            <a:endParaRPr lang="tr-TR"/>
          </a:p>
        </p:txBody>
      </p:sp>
      <p:sp>
        <p:nvSpPr>
          <p:cNvPr id="4" name="Date Placeholder 3"/>
          <p:cNvSpPr>
            <a:spLocks noGrp="1"/>
          </p:cNvSpPr>
          <p:nvPr>
            <p:ph type="dt" sz="half" idx="10"/>
          </p:nvPr>
        </p:nvSpPr>
        <p:spPr>
          <a:xfrm>
            <a:off x="802650" y="6979608"/>
            <a:ext cx="1321036" cy="161616"/>
          </a:xfrm>
        </p:spPr>
        <p:txBody>
          <a:bodyPr/>
          <a:lstStyle/>
          <a:p>
            <a:fld id="{4C1F7025-6599-463C-97DE-C372548197E4}" type="datetime2">
              <a:rPr lang="tr-TR" smtClean="0"/>
              <a:t>3 Temmuz 2026 Cuma</a:t>
            </a:fld>
            <a:endParaRPr lang="tr-TR" dirty="0"/>
          </a:p>
        </p:txBody>
      </p:sp>
      <p:pic>
        <p:nvPicPr>
          <p:cNvPr id="12"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276225"/>
            <a:ext cx="1063165" cy="1063165"/>
          </a:xfrm>
          <a:prstGeom prst="rect">
            <a:avLst/>
          </a:prstGeom>
        </p:spPr>
      </p:pic>
      <p:sp>
        <p:nvSpPr>
          <p:cNvPr id="34" name="Footer Placeholder 8"/>
          <p:cNvSpPr>
            <a:spLocks noGrp="1"/>
          </p:cNvSpPr>
          <p:nvPr>
            <p:ph type="ftr" sz="quarter" idx="11"/>
          </p:nvPr>
        </p:nvSpPr>
        <p:spPr>
          <a:xfrm>
            <a:off x="3542189" y="6890180"/>
            <a:ext cx="3609023" cy="320245"/>
          </a:xfrm>
        </p:spPr>
        <p:txBody>
          <a:bodyPr/>
          <a:lstStyle/>
          <a:p>
            <a:pPr algn="ctr"/>
            <a:r>
              <a:rPr lang="tr-TR" dirty="0"/>
              <a:t>2026 TEKNOFEST DİKEY İNİŞLİ ROKET YARIŞMASI</a:t>
            </a:r>
          </a:p>
          <a:p>
            <a:pPr algn="ctr"/>
            <a:r>
              <a:rPr lang="tr-TR" dirty="0"/>
              <a:t>ATIŞA HAZIRLIK RAPORU (AHR)</a:t>
            </a:r>
          </a:p>
        </p:txBody>
      </p:sp>
      <p:sp>
        <p:nvSpPr>
          <p:cNvPr id="35" name="TextBox 34"/>
          <p:cNvSpPr txBox="1"/>
          <p:nvPr/>
        </p:nvSpPr>
        <p:spPr>
          <a:xfrm>
            <a:off x="365964" y="2028587"/>
            <a:ext cx="9904373" cy="2975173"/>
          </a:xfrm>
          <a:prstGeom prst="rect">
            <a:avLst/>
          </a:prstGeom>
          <a:noFill/>
        </p:spPr>
        <p:txBody>
          <a:bodyPr wrap="square" rtlCol="0">
            <a:spAutoFit/>
          </a:bodyPr>
          <a:lstStyle/>
          <a:p>
            <a:pPr marL="50126" algn="just">
              <a:lnSpc>
                <a:spcPct val="107000"/>
              </a:lnSpc>
            </a:pPr>
            <a:r>
              <a:rPr lang="tr-TR" sz="1550" b="1" dirty="0">
                <a:latin typeface="+mn-lt"/>
                <a:ea typeface="Calibri" panose="020F0502020204030204" pitchFamily="34" charset="0"/>
                <a:cs typeface="Times New Roman" panose="02020603050405020304" pitchFamily="18" charset="0"/>
              </a:rPr>
              <a:t>Tasarım Fonksiyonellik Testi: </a:t>
            </a:r>
            <a:r>
              <a:rPr lang="tr-TR" sz="1550" dirty="0">
                <a:latin typeface="+mn-lt"/>
                <a:ea typeface="Calibri" panose="020F0502020204030204" pitchFamily="34" charset="0"/>
                <a:cs typeface="Times New Roman" panose="02020603050405020304" pitchFamily="18" charset="0"/>
              </a:rPr>
              <a:t>Ana itki sisteminin işlevselliğinin test edildiği yerde yapılan uçuş testidir. Prototip araç mapadan halat ile asılarak ana itki sistemi çalıştırılacaktır. </a:t>
            </a:r>
          </a:p>
          <a:p>
            <a:pPr marL="50126" algn="just">
              <a:lnSpc>
                <a:spcPct val="107000"/>
              </a:lnSpc>
            </a:pPr>
            <a:endParaRPr lang="tr-TR" sz="1550" dirty="0">
              <a:latin typeface="+mn-lt"/>
            </a:endParaRPr>
          </a:p>
          <a:p>
            <a:pPr marL="651641" lvl="1" indent="-250631" algn="just">
              <a:lnSpc>
                <a:spcPct val="150000"/>
              </a:lnSpc>
              <a:buFont typeface="Courier New" panose="02070309020205020404" pitchFamily="49" charset="0"/>
              <a:buChar char="o"/>
            </a:pPr>
            <a:r>
              <a:rPr lang="tr-TR" sz="1550" dirty="0">
                <a:latin typeface="+mn-lt"/>
              </a:rPr>
              <a:t>Test prosedürü açıklanmalıdır.</a:t>
            </a:r>
          </a:p>
          <a:p>
            <a:pPr marL="651641" lvl="1" indent="-250631" algn="just">
              <a:lnSpc>
                <a:spcPct val="150000"/>
              </a:lnSpc>
              <a:buFont typeface="Courier New" panose="02070309020205020404" pitchFamily="49" charset="0"/>
              <a:buChar char="o"/>
            </a:pPr>
            <a:r>
              <a:rPr lang="tr-TR" sz="1550" dirty="0">
                <a:latin typeface="+mn-lt"/>
              </a:rPr>
              <a:t>Testte yer alan kişiler ve görev dağılımı tablo halinde belirtilmelidir.</a:t>
            </a:r>
          </a:p>
          <a:p>
            <a:pPr marL="651641" lvl="1" indent="-250631" algn="just">
              <a:lnSpc>
                <a:spcPct val="150000"/>
              </a:lnSpc>
              <a:buFont typeface="Courier New" panose="02070309020205020404" pitchFamily="49" charset="0"/>
              <a:buChar char="o"/>
            </a:pPr>
            <a:r>
              <a:rPr lang="tr-TR" sz="1550" dirty="0">
                <a:latin typeface="+mn-lt"/>
              </a:rPr>
              <a:t>Başarı kriterleri aracın havada asılı kaldığının ve araç bütünlüğünün bozulmadığının gözlemlenmesidir. Test sonucunda başarı kriterlerinin sağlanıp sağlanmadığı video kaydı ile ispatlanmalıdır.</a:t>
            </a:r>
          </a:p>
          <a:p>
            <a:pPr marL="651641" lvl="1" indent="-250631" algn="just">
              <a:lnSpc>
                <a:spcPct val="150000"/>
              </a:lnSpc>
              <a:spcAft>
                <a:spcPts val="702"/>
              </a:spcAft>
              <a:buFont typeface="Courier New" panose="02070309020205020404" pitchFamily="49" charset="0"/>
              <a:buChar char="o"/>
            </a:pPr>
            <a:r>
              <a:rPr lang="tr-TR" sz="1550" dirty="0">
                <a:latin typeface="+mn-lt"/>
              </a:rPr>
              <a:t>Test </a:t>
            </a:r>
            <a:r>
              <a:rPr lang="tr-TR" sz="1550" b="1" dirty="0">
                <a:latin typeface="+mn-lt"/>
              </a:rPr>
              <a:t>5 defa </a:t>
            </a:r>
            <a:r>
              <a:rPr lang="tr-TR" sz="1550" dirty="0">
                <a:latin typeface="+mn-lt"/>
              </a:rPr>
              <a:t>tekrar edilmelidir.</a:t>
            </a:r>
          </a:p>
          <a:p>
            <a:pPr marL="250631" indent="-250631">
              <a:buFont typeface="Arial" panose="020B0604020202020204" pitchFamily="34" charset="0"/>
              <a:buChar char="•"/>
            </a:pPr>
            <a:endParaRPr lang="tr-TR" sz="1550" dirty="0">
              <a:latin typeface="+mn-lt"/>
            </a:endParaRPr>
          </a:p>
        </p:txBody>
      </p:sp>
      <p:sp>
        <p:nvSpPr>
          <p:cNvPr id="11" name="Rectangle 10"/>
          <p:cNvSpPr/>
          <p:nvPr/>
        </p:nvSpPr>
        <p:spPr>
          <a:xfrm>
            <a:off x="2850716" y="4529697"/>
            <a:ext cx="5346700" cy="244169"/>
          </a:xfrm>
          <a:prstGeom prst="rect">
            <a:avLst/>
          </a:prstGeom>
        </p:spPr>
        <p:txBody>
          <a:bodyPr>
            <a:spAutoFit/>
          </a:bodyPr>
          <a:lstStyle/>
          <a:p>
            <a:pPr marL="300758" indent="-300758" algn="just">
              <a:lnSpc>
                <a:spcPct val="107000"/>
              </a:lnSpc>
              <a:buFont typeface="Calibri" panose="020F0502020204030204" pitchFamily="34" charset="0"/>
              <a:buChar char="-"/>
            </a:pPr>
            <a:endParaRPr lang="tr-TR" sz="965" dirty="0">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3">
            <a:extLst>
              <a:ext uri="{FF2B5EF4-FFF2-40B4-BE49-F238E27FC236}">
                <a16:creationId xmlns:a16="http://schemas.microsoft.com/office/drawing/2014/main" id="{D4FDDB40-F1A6-4CD7-A5BE-51A9D26C0564}"/>
              </a:ext>
            </a:extLst>
          </p:cNvPr>
          <p:cNvSpPr/>
          <p:nvPr/>
        </p:nvSpPr>
        <p:spPr>
          <a:xfrm>
            <a:off x="6357" y="6541164"/>
            <a:ext cx="10687043" cy="281295"/>
          </a:xfrm>
          <a:prstGeom prst="rect">
            <a:avLst/>
          </a:prstGeom>
        </p:spPr>
        <p:txBody>
          <a:bodyPr wrap="square">
            <a:spAutoFit/>
          </a:bodyPr>
          <a:lstStyle/>
          <a:p>
            <a:pPr marL="285750" indent="-285750">
              <a:buFont typeface="Arial" panose="020B0604020202020204" pitchFamily="34" charset="0"/>
              <a:buChar char="•"/>
            </a:pPr>
            <a:r>
              <a:rPr lang="tr-TR" sz="1200" i="1" dirty="0">
                <a:latin typeface="+mn-lt"/>
              </a:rPr>
              <a:t>Bu bölümde şartnamede yer alan </a:t>
            </a:r>
            <a:r>
              <a:rPr lang="tr-TR" sz="1200" b="1" i="1" dirty="0">
                <a:latin typeface="+mn-lt"/>
              </a:rPr>
              <a:t>3.2.2, 4.3.1, 4.3.5, 4.3.6 ve 4.3.7 </a:t>
            </a:r>
            <a:r>
              <a:rPr lang="tr-TR" sz="1200" i="1" dirty="0">
                <a:latin typeface="+mn-lt"/>
              </a:rPr>
              <a:t>numaralı gereksinimlerin karşılanıp karşılanmadığı kontrol edilecektir.</a:t>
            </a:r>
          </a:p>
        </p:txBody>
      </p:sp>
      <p:sp>
        <p:nvSpPr>
          <p:cNvPr id="7" name="TextBox 6">
            <a:extLst>
              <a:ext uri="{FF2B5EF4-FFF2-40B4-BE49-F238E27FC236}">
                <a16:creationId xmlns:a16="http://schemas.microsoft.com/office/drawing/2014/main" id="{62B91885-E22A-FF07-5519-00557150D531}"/>
              </a:ext>
            </a:extLst>
          </p:cNvPr>
          <p:cNvSpPr txBox="1"/>
          <p:nvPr/>
        </p:nvSpPr>
        <p:spPr>
          <a:xfrm>
            <a:off x="6357" y="544652"/>
            <a:ext cx="1027922" cy="569387"/>
          </a:xfrm>
          <a:prstGeom prst="rect">
            <a:avLst/>
          </a:prstGeom>
          <a:noFill/>
          <a:ln>
            <a:solidFill>
              <a:schemeClr val="tx1"/>
            </a:solidFill>
          </a:ln>
        </p:spPr>
        <p:txBody>
          <a:bodyPr wrap="square" rtlCol="0">
            <a:spAutoFit/>
          </a:bodyPr>
          <a:lstStyle/>
          <a:p>
            <a:pPr algn="ctr"/>
            <a:r>
              <a:rPr lang="tr-TR" sz="1550" dirty="0">
                <a:latin typeface="+mn-lt"/>
              </a:rPr>
              <a:t>Takım Logosu</a:t>
            </a:r>
          </a:p>
        </p:txBody>
      </p:sp>
    </p:spTree>
    <p:extLst>
      <p:ext uri="{BB962C8B-B14F-4D97-AF65-F5344CB8AC3E}">
        <p14:creationId xmlns:p14="http://schemas.microsoft.com/office/powerpoint/2010/main" val="5801906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35012" y="494808"/>
            <a:ext cx="8020050" cy="658651"/>
          </a:xfrm>
        </p:spPr>
        <p:txBody>
          <a:bodyPr>
            <a:noAutofit/>
          </a:bodyPr>
          <a:lstStyle/>
          <a:p>
            <a:r>
              <a:rPr lang="tr-TR" sz="3950" dirty="0">
                <a:solidFill>
                  <a:srgbClr val="0070C0"/>
                </a:solidFill>
                <a:latin typeface="+mn-lt"/>
                <a:cs typeface="Times New Roman" panose="02020603050405020304" pitchFamily="18" charset="0"/>
              </a:rPr>
              <a:t>Mekanik Sistem Testleri</a:t>
            </a:r>
          </a:p>
        </p:txBody>
      </p:sp>
      <p:cxnSp>
        <p:nvCxnSpPr>
          <p:cNvPr id="5" name="Straight Connector 4"/>
          <p:cNvCxnSpPr/>
          <p:nvPr/>
        </p:nvCxnSpPr>
        <p:spPr>
          <a:xfrm flipV="1">
            <a:off x="0" y="1352684"/>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78851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9724145" y="6979608"/>
            <a:ext cx="201986" cy="161290"/>
          </a:xfrm>
        </p:spPr>
        <p:txBody>
          <a:bodyPr/>
          <a:lstStyle/>
          <a:p>
            <a:fld id="{87BEDC82-49FF-42E3-B7EA-26FF728940D5}" type="slidenum">
              <a:rPr lang="tr-TR" smtClean="0"/>
              <a:t>26</a:t>
            </a:fld>
            <a:endParaRPr lang="tr-TR"/>
          </a:p>
        </p:txBody>
      </p:sp>
      <p:sp>
        <p:nvSpPr>
          <p:cNvPr id="4" name="Date Placeholder 3"/>
          <p:cNvSpPr>
            <a:spLocks noGrp="1"/>
          </p:cNvSpPr>
          <p:nvPr>
            <p:ph type="dt" sz="half" idx="10"/>
          </p:nvPr>
        </p:nvSpPr>
        <p:spPr>
          <a:xfrm>
            <a:off x="802650" y="6979608"/>
            <a:ext cx="1321036" cy="161616"/>
          </a:xfrm>
        </p:spPr>
        <p:txBody>
          <a:bodyPr/>
          <a:lstStyle/>
          <a:p>
            <a:fld id="{10CA9FB4-AB6D-4631-80CA-75FECF098447}" type="datetime2">
              <a:rPr lang="tr-TR" smtClean="0"/>
              <a:t>3 Temmuz 2026 Cuma</a:t>
            </a:fld>
            <a:endParaRPr lang="tr-TR" dirty="0"/>
          </a:p>
        </p:txBody>
      </p:sp>
      <p:pic>
        <p:nvPicPr>
          <p:cNvPr id="12"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276225"/>
            <a:ext cx="1063165" cy="1063165"/>
          </a:xfrm>
          <a:prstGeom prst="rect">
            <a:avLst/>
          </a:prstGeom>
        </p:spPr>
      </p:pic>
      <p:sp>
        <p:nvSpPr>
          <p:cNvPr id="34" name="Footer Placeholder 8"/>
          <p:cNvSpPr>
            <a:spLocks noGrp="1"/>
          </p:cNvSpPr>
          <p:nvPr>
            <p:ph type="ftr" sz="quarter" idx="11"/>
          </p:nvPr>
        </p:nvSpPr>
        <p:spPr>
          <a:xfrm>
            <a:off x="3542189" y="6890180"/>
            <a:ext cx="3609023" cy="320245"/>
          </a:xfrm>
        </p:spPr>
        <p:txBody>
          <a:bodyPr/>
          <a:lstStyle/>
          <a:p>
            <a:pPr algn="ctr"/>
            <a:r>
              <a:rPr lang="tr-TR" dirty="0"/>
              <a:t>2026 TEKNOFEST DİKEY İNİŞLİ ROKET YARIŞMASI</a:t>
            </a:r>
          </a:p>
          <a:p>
            <a:pPr algn="ctr"/>
            <a:r>
              <a:rPr lang="tr-TR" dirty="0"/>
              <a:t>ATIŞA HAZIRLIK RAPORU (AHR)</a:t>
            </a:r>
          </a:p>
        </p:txBody>
      </p:sp>
      <p:sp>
        <p:nvSpPr>
          <p:cNvPr id="35" name="TextBox 34"/>
          <p:cNvSpPr txBox="1"/>
          <p:nvPr/>
        </p:nvSpPr>
        <p:spPr>
          <a:xfrm>
            <a:off x="295885" y="1981866"/>
            <a:ext cx="10028956" cy="3848682"/>
          </a:xfrm>
          <a:prstGeom prst="rect">
            <a:avLst/>
          </a:prstGeom>
          <a:noFill/>
        </p:spPr>
        <p:txBody>
          <a:bodyPr wrap="square" rtlCol="0">
            <a:spAutoFit/>
          </a:bodyPr>
          <a:lstStyle/>
          <a:p>
            <a:pPr marL="50126" lvl="1" algn="just">
              <a:lnSpc>
                <a:spcPct val="107000"/>
              </a:lnSpc>
            </a:pPr>
            <a:r>
              <a:rPr lang="tr-TR" sz="1550" b="1" dirty="0">
                <a:latin typeface="+mn-lt"/>
                <a:ea typeface="Calibri" panose="020F0502020204030204" pitchFamily="34" charset="0"/>
                <a:cs typeface="Times New Roman" panose="02020603050405020304" pitchFamily="18" charset="0"/>
              </a:rPr>
              <a:t>Yapısal Bütünlük Testi: </a:t>
            </a:r>
            <a:r>
              <a:rPr lang="tr-TR" sz="1550" dirty="0">
                <a:latin typeface="+mn-lt"/>
                <a:ea typeface="Calibri" panose="020F0502020204030204" pitchFamily="34" charset="0"/>
                <a:cs typeface="Times New Roman" panose="02020603050405020304" pitchFamily="18" charset="0"/>
              </a:rPr>
              <a:t>Hava araçlarının olası risk durumlarında iniş sürecinde yapısal bütünlüğünün bozulmaması gerekmektedir. Bu gereksinimi doğrulamak amacıyla yapısal bütünlülük testinin yapılması istenmektedir. </a:t>
            </a:r>
          </a:p>
          <a:p>
            <a:pPr marL="50126" lvl="1" algn="just">
              <a:lnSpc>
                <a:spcPct val="107000"/>
              </a:lnSpc>
            </a:pPr>
            <a:r>
              <a:rPr lang="tr-TR" sz="1550" dirty="0">
                <a:latin typeface="+mn-lt"/>
                <a:ea typeface="Calibri" panose="020F0502020204030204" pitchFamily="34" charset="0"/>
                <a:cs typeface="Times New Roman" panose="02020603050405020304" pitchFamily="18" charset="0"/>
              </a:rPr>
              <a:t>Nihai araç, </a:t>
            </a:r>
            <a:r>
              <a:rPr lang="tr-TR" sz="1550" u="sng" dirty="0">
                <a:latin typeface="+mn-lt"/>
                <a:ea typeface="Calibri" panose="020F0502020204030204" pitchFamily="34" charset="0"/>
                <a:cs typeface="Times New Roman" panose="02020603050405020304" pitchFamily="18" charset="0"/>
              </a:rPr>
              <a:t>en az 0.4 metre </a:t>
            </a:r>
            <a:r>
              <a:rPr lang="tr-TR" sz="1550" dirty="0">
                <a:latin typeface="+mn-lt"/>
                <a:ea typeface="Calibri" panose="020F0502020204030204" pitchFamily="34" charset="0"/>
                <a:cs typeface="Times New Roman" panose="02020603050405020304" pitchFamily="18" charset="0"/>
              </a:rPr>
              <a:t>yükseklikten serbest bırakılmalıdır. Halat, rokete kütle merkezi ekseninde bağlanabilir. </a:t>
            </a:r>
            <a:r>
              <a:rPr lang="tr-TR" sz="1550" dirty="0">
                <a:latin typeface="+mn-lt"/>
              </a:rPr>
              <a:t>Testler aynı tasarım konseptine sahip ve aynı mekanik özelliklere sahip (aynı ağırlıktaki) muadil şase ile yapılabilir. Bu muadil şasenin üzerinde tank ve </a:t>
            </a:r>
            <a:r>
              <a:rPr lang="tr-TR" sz="1550" dirty="0" err="1">
                <a:latin typeface="+mn-lt"/>
              </a:rPr>
              <a:t>aviyonik</a:t>
            </a:r>
            <a:r>
              <a:rPr lang="tr-TR" sz="1550" dirty="0">
                <a:latin typeface="+mn-lt"/>
              </a:rPr>
              <a:t> sistemlerin bulundurması </a:t>
            </a:r>
            <a:r>
              <a:rPr lang="tr-TR" sz="1550" u="sng" dirty="0">
                <a:latin typeface="+mn-lt"/>
              </a:rPr>
              <a:t>gerekmemektedir.</a:t>
            </a:r>
          </a:p>
          <a:p>
            <a:pPr marL="651641" lvl="1" indent="-250631" algn="just">
              <a:lnSpc>
                <a:spcPct val="150000"/>
              </a:lnSpc>
              <a:buFont typeface="Courier New" panose="02070309020205020404" pitchFamily="49" charset="0"/>
              <a:buChar char="o"/>
            </a:pPr>
            <a:r>
              <a:rPr lang="tr-TR" sz="1550" dirty="0">
                <a:latin typeface="+mn-lt"/>
              </a:rPr>
              <a:t>Test prosedürü açıklanmalıdır.</a:t>
            </a:r>
          </a:p>
          <a:p>
            <a:pPr marL="651641" lvl="1" indent="-250631" algn="just">
              <a:lnSpc>
                <a:spcPct val="150000"/>
              </a:lnSpc>
              <a:buFont typeface="Courier New" panose="02070309020205020404" pitchFamily="49" charset="0"/>
              <a:buChar char="o"/>
            </a:pPr>
            <a:r>
              <a:rPr lang="tr-TR" sz="1550" dirty="0">
                <a:latin typeface="+mn-lt"/>
              </a:rPr>
              <a:t>Testte yer alan kişiler ve görev dağılımı tablo halinde belirtilmelidir.</a:t>
            </a:r>
          </a:p>
          <a:p>
            <a:pPr marL="651641" lvl="1" indent="-250631" algn="just">
              <a:lnSpc>
                <a:spcPct val="150000"/>
              </a:lnSpc>
              <a:buFont typeface="Courier New" panose="02070309020205020404" pitchFamily="49" charset="0"/>
              <a:buChar char="o"/>
            </a:pPr>
            <a:r>
              <a:rPr lang="tr-TR" sz="1550" dirty="0">
                <a:latin typeface="+mn-lt"/>
              </a:rPr>
              <a:t>Araç test öncesinde tartılarak görseli paylaşılmalıdır.</a:t>
            </a:r>
          </a:p>
          <a:p>
            <a:pPr marL="651641" lvl="1" indent="-250631" algn="just">
              <a:lnSpc>
                <a:spcPct val="150000"/>
              </a:lnSpc>
              <a:buFont typeface="Courier New" panose="02070309020205020404" pitchFamily="49" charset="0"/>
              <a:buChar char="o"/>
            </a:pPr>
            <a:r>
              <a:rPr lang="tr-TR" sz="1550" dirty="0">
                <a:latin typeface="+mn-lt"/>
              </a:rPr>
              <a:t>Başarı kriteri araç bütünlüğünün korunması, şekil bozukluklarının oluşmaması ve bağlantıların ayrılmamasıdır. Test sonucunda başarı kriterinin sağlanıp sağlanmadığı kamera ile (video) kayıt altına alınmalıdır.</a:t>
            </a:r>
          </a:p>
          <a:p>
            <a:pPr marL="651641" lvl="1" indent="-250631" algn="just">
              <a:lnSpc>
                <a:spcPct val="150000"/>
              </a:lnSpc>
              <a:spcAft>
                <a:spcPts val="702"/>
              </a:spcAft>
              <a:buFont typeface="Courier New" panose="02070309020205020404" pitchFamily="49" charset="0"/>
              <a:buChar char="o"/>
            </a:pPr>
            <a:r>
              <a:rPr lang="tr-TR" sz="1550" dirty="0">
                <a:latin typeface="+mn-lt"/>
              </a:rPr>
              <a:t>Test en az </a:t>
            </a:r>
            <a:r>
              <a:rPr lang="tr-TR" sz="1550" b="1" dirty="0">
                <a:latin typeface="+mn-lt"/>
              </a:rPr>
              <a:t>2 defa </a:t>
            </a:r>
            <a:r>
              <a:rPr lang="tr-TR" sz="1550" dirty="0">
                <a:latin typeface="+mn-lt"/>
              </a:rPr>
              <a:t>tekrar edilmelidir.</a:t>
            </a:r>
          </a:p>
          <a:p>
            <a:pPr algn="just">
              <a:lnSpc>
                <a:spcPct val="107000"/>
              </a:lnSpc>
              <a:spcAft>
                <a:spcPts val="702"/>
              </a:spcAft>
            </a:pPr>
            <a:r>
              <a:rPr lang="tr-TR" sz="1550" dirty="0">
                <a:latin typeface="+mn-lt"/>
              </a:rPr>
              <a:t>Bu kısım, 5 yansıyı geçmemelidir.</a:t>
            </a:r>
          </a:p>
        </p:txBody>
      </p:sp>
      <p:sp>
        <p:nvSpPr>
          <p:cNvPr id="11" name="Rectangle 10"/>
          <p:cNvSpPr/>
          <p:nvPr/>
        </p:nvSpPr>
        <p:spPr>
          <a:xfrm>
            <a:off x="2850716" y="4529697"/>
            <a:ext cx="5346700" cy="244169"/>
          </a:xfrm>
          <a:prstGeom prst="rect">
            <a:avLst/>
          </a:prstGeom>
        </p:spPr>
        <p:txBody>
          <a:bodyPr>
            <a:spAutoFit/>
          </a:bodyPr>
          <a:lstStyle/>
          <a:p>
            <a:pPr marL="300758" indent="-300758" algn="just">
              <a:lnSpc>
                <a:spcPct val="107000"/>
              </a:lnSpc>
              <a:buFont typeface="Calibri" panose="020F0502020204030204" pitchFamily="34" charset="0"/>
              <a:buChar char="-"/>
            </a:pPr>
            <a:endParaRPr lang="tr-TR" sz="965" dirty="0">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3">
            <a:extLst>
              <a:ext uri="{FF2B5EF4-FFF2-40B4-BE49-F238E27FC236}">
                <a16:creationId xmlns:a16="http://schemas.microsoft.com/office/drawing/2014/main" id="{9BB65306-241F-40E2-B0C7-9BFCAADADFC2}"/>
              </a:ext>
            </a:extLst>
          </p:cNvPr>
          <p:cNvSpPr/>
          <p:nvPr/>
        </p:nvSpPr>
        <p:spPr>
          <a:xfrm>
            <a:off x="180545" y="6518572"/>
            <a:ext cx="10206588" cy="281295"/>
          </a:xfrm>
          <a:prstGeom prst="rect">
            <a:avLst/>
          </a:prstGeom>
        </p:spPr>
        <p:txBody>
          <a:bodyPr wrap="square">
            <a:spAutoFit/>
          </a:bodyPr>
          <a:lstStyle/>
          <a:p>
            <a:pPr marL="285750" indent="-285750">
              <a:buFont typeface="Arial" panose="020B0604020202020204" pitchFamily="34" charset="0"/>
              <a:buChar char="•"/>
            </a:pPr>
            <a:r>
              <a:rPr lang="tr-TR" sz="1200" i="1" dirty="0">
                <a:latin typeface="+mn-lt"/>
              </a:rPr>
              <a:t>Bu bölümde şartnamede yer alan </a:t>
            </a:r>
            <a:r>
              <a:rPr lang="tr-TR" sz="1200" b="1" i="1" dirty="0">
                <a:latin typeface="+mn-lt"/>
              </a:rPr>
              <a:t>3.2.2, 4.3.1, 4.3.5, 4.3.6 ve 4.3.7 </a:t>
            </a:r>
            <a:r>
              <a:rPr lang="tr-TR" sz="1200" i="1" dirty="0">
                <a:latin typeface="+mn-lt"/>
              </a:rPr>
              <a:t>numaralı gereksinimlerin karşılanıp karşılanmadığı kontrol edilecektir.</a:t>
            </a:r>
          </a:p>
        </p:txBody>
      </p:sp>
      <p:sp>
        <p:nvSpPr>
          <p:cNvPr id="7" name="TextBox 6">
            <a:extLst>
              <a:ext uri="{FF2B5EF4-FFF2-40B4-BE49-F238E27FC236}">
                <a16:creationId xmlns:a16="http://schemas.microsoft.com/office/drawing/2014/main" id="{65218F63-A947-8779-1423-83FFBB53C02C}"/>
              </a:ext>
            </a:extLst>
          </p:cNvPr>
          <p:cNvSpPr txBox="1"/>
          <p:nvPr/>
        </p:nvSpPr>
        <p:spPr>
          <a:xfrm>
            <a:off x="6357" y="544652"/>
            <a:ext cx="1027922" cy="569387"/>
          </a:xfrm>
          <a:prstGeom prst="rect">
            <a:avLst/>
          </a:prstGeom>
          <a:noFill/>
          <a:ln>
            <a:solidFill>
              <a:schemeClr val="tx1"/>
            </a:solidFill>
          </a:ln>
        </p:spPr>
        <p:txBody>
          <a:bodyPr wrap="square" rtlCol="0">
            <a:spAutoFit/>
          </a:bodyPr>
          <a:lstStyle/>
          <a:p>
            <a:pPr algn="ctr"/>
            <a:r>
              <a:rPr lang="tr-TR" sz="1550" dirty="0">
                <a:latin typeface="+mn-lt"/>
              </a:rPr>
              <a:t>Takım Logosu</a:t>
            </a:r>
          </a:p>
        </p:txBody>
      </p:sp>
    </p:spTree>
    <p:extLst>
      <p:ext uri="{BB962C8B-B14F-4D97-AF65-F5344CB8AC3E}">
        <p14:creationId xmlns:p14="http://schemas.microsoft.com/office/powerpoint/2010/main" val="21748485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874B9BFF-BC63-4207-A1B6-37C14ECAEFF8}"/>
              </a:ext>
            </a:extLst>
          </p:cNvPr>
          <p:cNvSpPr>
            <a:spLocks noGrp="1"/>
          </p:cNvSpPr>
          <p:nvPr>
            <p:ph type="title"/>
          </p:nvPr>
        </p:nvSpPr>
        <p:spPr>
          <a:xfrm>
            <a:off x="735171" y="415035"/>
            <a:ext cx="8788638" cy="890100"/>
          </a:xfrm>
        </p:spPr>
        <p:txBody>
          <a:bodyPr>
            <a:normAutofit/>
          </a:bodyPr>
          <a:lstStyle/>
          <a:p>
            <a:pPr algn="ctr"/>
            <a:r>
              <a:rPr lang="tr-TR" dirty="0">
                <a:solidFill>
                  <a:srgbClr val="0070C0"/>
                </a:solidFill>
                <a:latin typeface="+mn-lt"/>
                <a:cs typeface="Times New Roman" panose="02020603050405020304" pitchFamily="18" charset="0"/>
              </a:rPr>
              <a:t>Güdüm Navigasyon Kontrol Aviyonik</a:t>
            </a:r>
          </a:p>
        </p:txBody>
      </p:sp>
      <p:sp>
        <p:nvSpPr>
          <p:cNvPr id="3" name="İçerik Yer Tutucusu 2">
            <a:extLst>
              <a:ext uri="{FF2B5EF4-FFF2-40B4-BE49-F238E27FC236}">
                <a16:creationId xmlns:a16="http://schemas.microsoft.com/office/drawing/2014/main" id="{81BCAD3C-3E23-42C7-9BC6-601925F23A8A}"/>
              </a:ext>
            </a:extLst>
          </p:cNvPr>
          <p:cNvSpPr>
            <a:spLocks noGrp="1"/>
          </p:cNvSpPr>
          <p:nvPr>
            <p:ph idx="1"/>
          </p:nvPr>
        </p:nvSpPr>
        <p:spPr>
          <a:xfrm>
            <a:off x="357837" y="2013061"/>
            <a:ext cx="10094264" cy="4273148"/>
          </a:xfrm>
        </p:spPr>
        <p:txBody>
          <a:bodyPr>
            <a:normAutofit lnSpcReduction="10000"/>
          </a:bodyPr>
          <a:lstStyle/>
          <a:p>
            <a:pPr marL="285750" indent="-285750" algn="just">
              <a:buFont typeface="Arial" panose="020B0604020202020204" pitchFamily="34" charset="0"/>
              <a:buChar char="•"/>
            </a:pPr>
            <a:r>
              <a:rPr lang="tr-TR" sz="1550" dirty="0"/>
              <a:t>Nihai otopilot sisteminin ayrıklaştırılması ile ilgili detayların (Kontrol sistemi (otopilot) yöntemi, örnekleme zamanı, ayrıklaştırma yöntemi vb.) verilmesi gerekmektedir (En fazla 1 yansı).</a:t>
            </a:r>
          </a:p>
          <a:p>
            <a:pPr marL="285750" indent="-285750" algn="just">
              <a:buFont typeface="Arial" panose="020B0604020202020204" pitchFamily="34" charset="0"/>
              <a:buChar char="•"/>
            </a:pPr>
            <a:r>
              <a:rPr lang="tr-TR" sz="1550" dirty="0"/>
              <a:t>Sürekli zaman ile ayrık zamandaki oto pilot tasarımlarının test sinyali altında (0.1 -30 Hz </a:t>
            </a:r>
            <a:r>
              <a:rPr lang="tr-TR" sz="1550" dirty="0" err="1"/>
              <a:t>Chirp</a:t>
            </a:r>
            <a:r>
              <a:rPr lang="tr-TR" sz="1550" dirty="0"/>
              <a:t> Sinyali)  cevaplarının kıyaslanması ve grafikler halinde verilmesi gerekmektedir  (En fazla 1 yansı).</a:t>
            </a:r>
          </a:p>
          <a:p>
            <a:pPr marL="285750" indent="-285750" algn="just">
              <a:buFont typeface="Arial" panose="020B0604020202020204" pitchFamily="34" charset="0"/>
              <a:buChar char="•"/>
            </a:pPr>
            <a:r>
              <a:rPr lang="tr-TR" sz="1550" dirty="0"/>
              <a:t>Ayrık zamandaki otopilot yapısının donanım üzerindeki cevabı ile simülasyon içerisindeki cevabının kıyaslanması gerekmektedir (En fazla 1 yansı).</a:t>
            </a:r>
          </a:p>
          <a:p>
            <a:pPr marL="285750" indent="-285750" algn="just">
              <a:buFont typeface="Arial" panose="020B0604020202020204" pitchFamily="34" charset="0"/>
              <a:buChar char="•"/>
            </a:pPr>
            <a:r>
              <a:rPr lang="tr-TR" sz="1550" dirty="0"/>
              <a:t>Aviyonik donanımın numaralandırılmış ve adlandırılmış bir biçimde sistemi gösterecek detayda tek bir fotoğrafın verilmesi (En fazla 1 yansı)</a:t>
            </a:r>
          </a:p>
          <a:p>
            <a:pPr marL="285750" indent="-285750" algn="just">
              <a:buFont typeface="Arial" panose="020B0604020202020204" pitchFamily="34" charset="0"/>
              <a:buChar char="•"/>
            </a:pPr>
            <a:r>
              <a:rPr lang="tr-TR" sz="1550" dirty="0"/>
              <a:t>Bu bölümde deneme atışlarında gerçekleştirilecek olan yerden kalkış ve yumuşak iniş görevleri ile ilgili HIL test sonuçlarının paylaşılması gerekmektedir. Hardware in </a:t>
            </a:r>
            <a:r>
              <a:rPr lang="tr-TR" sz="1550" dirty="0" err="1"/>
              <a:t>the</a:t>
            </a:r>
            <a:r>
              <a:rPr lang="tr-TR" sz="1550" dirty="0"/>
              <a:t> </a:t>
            </a:r>
            <a:r>
              <a:rPr lang="tr-TR" sz="1550" dirty="0" err="1"/>
              <a:t>Loop</a:t>
            </a:r>
            <a:r>
              <a:rPr lang="tr-TR" sz="1550" dirty="0"/>
              <a:t> (HIL) sonuçlarının ayrıntılı olarak verilmesinde; takımların, referans yörünge-gerçekleşen yörünge, hız-zaman, ivme – zaman, irtifa– zaman, </a:t>
            </a:r>
            <a:r>
              <a:rPr lang="tr-TR" sz="1550" dirty="0" err="1"/>
              <a:t>Euler</a:t>
            </a:r>
            <a:r>
              <a:rPr lang="tr-TR" sz="1550" dirty="0"/>
              <a:t> açıları – zaman, kontrol girişleri (itki kuvvetleri), PQR-zaman grafiği vb. grafikleri paylaşmaları ve bunları kullanarak tartışma yapmaları gerekmektedir. (En fazla 8 yansı)</a:t>
            </a:r>
          </a:p>
          <a:p>
            <a:pPr marL="742950" lvl="1" indent="-285750" algn="just">
              <a:buFont typeface="Arial" panose="020B0604020202020204" pitchFamily="34" charset="0"/>
              <a:buChar char="•"/>
            </a:pPr>
            <a:r>
              <a:rPr lang="tr-TR" sz="1550" dirty="0" err="1"/>
              <a:t>HIL’de</a:t>
            </a:r>
            <a:r>
              <a:rPr lang="tr-TR" sz="1550" dirty="0"/>
              <a:t> üretilen kontrol girişleri (itki kuvvetleri zaman grafikleri) esnasında eyleyicilerin davranışlarını gösteren çalışma videosunun (tek bir mp4 formatında)  verilmesi gerekmektedir.</a:t>
            </a:r>
          </a:p>
          <a:p>
            <a:pPr marL="742950" lvl="1" indent="-285750" algn="just">
              <a:buFont typeface="Arial" panose="020B0604020202020204" pitchFamily="34" charset="0"/>
              <a:buChar char="•"/>
            </a:pPr>
            <a:r>
              <a:rPr lang="tr-TR" sz="1550" dirty="0"/>
              <a:t>HIL da kullanılan simülasyon modelinizin AHR ile yüklenmesi gerekmektedir.</a:t>
            </a:r>
          </a:p>
          <a:p>
            <a:pPr marL="742950" lvl="1" indent="-285750" algn="just">
              <a:buFont typeface="Arial" panose="020B0604020202020204" pitchFamily="34" charset="0"/>
              <a:buChar char="•"/>
            </a:pPr>
            <a:r>
              <a:rPr lang="tr-TR" sz="1550" dirty="0"/>
              <a:t>Uçuş verilerinin şartnamede verilen biçimde dosyaya kaydının yapılabildiğinin gösterimi yapılmalıdır ve örnek bir çıktı dosyası istenen formatta eklerde sunulmalıdır. </a:t>
            </a:r>
          </a:p>
          <a:p>
            <a:pPr marL="285750" indent="-285750" algn="just">
              <a:buFont typeface="Arial" panose="020B0604020202020204" pitchFamily="34" charset="0"/>
              <a:buChar char="•"/>
            </a:pPr>
            <a:endParaRPr lang="tr-TR" sz="1550" dirty="0">
              <a:solidFill>
                <a:srgbClr val="FF0000"/>
              </a:solidFill>
            </a:endParaRPr>
          </a:p>
          <a:p>
            <a:pPr marL="285750" indent="-285750" algn="just">
              <a:buFont typeface="Arial" panose="020B0604020202020204" pitchFamily="34" charset="0"/>
              <a:buChar char="•"/>
            </a:pPr>
            <a:r>
              <a:rPr lang="tr-TR" sz="1550" dirty="0">
                <a:solidFill>
                  <a:srgbClr val="FF0000"/>
                </a:solidFill>
              </a:rPr>
              <a:t>ÖNEMLİ NOT: HIL testlerinde tasarlanmış olan ve atışta kullanılacak nihai yazılım ve donanımın kullanılması şarttır. </a:t>
            </a:r>
            <a:endParaRPr lang="tr-TR" sz="1550" dirty="0"/>
          </a:p>
        </p:txBody>
      </p:sp>
      <p:sp>
        <p:nvSpPr>
          <p:cNvPr id="4" name="Veri Yer Tutucusu 3">
            <a:extLst>
              <a:ext uri="{FF2B5EF4-FFF2-40B4-BE49-F238E27FC236}">
                <a16:creationId xmlns:a16="http://schemas.microsoft.com/office/drawing/2014/main" id="{2C974372-A367-451E-8037-33C0285965F0}"/>
              </a:ext>
            </a:extLst>
          </p:cNvPr>
          <p:cNvSpPr>
            <a:spLocks noGrp="1"/>
          </p:cNvSpPr>
          <p:nvPr>
            <p:ph type="dt" sz="half" idx="10"/>
          </p:nvPr>
        </p:nvSpPr>
        <p:spPr>
          <a:xfrm>
            <a:off x="838200" y="6845300"/>
            <a:ext cx="2743200" cy="365125"/>
          </a:xfrm>
          <a:prstGeom prst="rect">
            <a:avLst/>
          </a:prstGeom>
        </p:spPr>
        <p:txBody>
          <a:bodyPr vert="horz" lIns="91440" tIns="45720" rIns="91440" bIns="45720" rtlCol="0" anchor="ctr"/>
          <a:lstStyle>
            <a:defPPr>
              <a:defRPr lang="tr-TR"/>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654F923-46EB-445B-8870-1B293D3D8F30}" type="datetime2">
              <a:rPr lang="tr-TR" smtClean="0"/>
              <a:pPr/>
              <a:t>3 Temmuz 2026 Cuma</a:t>
            </a:fld>
            <a:endParaRPr lang="tr-TR" dirty="0"/>
          </a:p>
        </p:txBody>
      </p:sp>
      <p:sp>
        <p:nvSpPr>
          <p:cNvPr id="6" name="Slayt Numarası Yer Tutucusu 5">
            <a:extLst>
              <a:ext uri="{FF2B5EF4-FFF2-40B4-BE49-F238E27FC236}">
                <a16:creationId xmlns:a16="http://schemas.microsoft.com/office/drawing/2014/main" id="{2A160AC1-9FC8-4D73-BE96-35FFB2953BD5}"/>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tr-T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BEDC82-49FF-42E3-B7EA-26FF728940D5}" type="slidenum">
              <a:rPr lang="tr-TR" smtClean="0"/>
              <a:pPr/>
              <a:t>27</a:t>
            </a:fld>
            <a:endParaRPr lang="tr-TR"/>
          </a:p>
        </p:txBody>
      </p:sp>
      <p:cxnSp>
        <p:nvCxnSpPr>
          <p:cNvPr id="7" name="Straight Connector 6"/>
          <p:cNvCxnSpPr/>
          <p:nvPr/>
        </p:nvCxnSpPr>
        <p:spPr>
          <a:xfrm flipV="1">
            <a:off x="0" y="1352684"/>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0" y="6736242"/>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0" name="Picture 6">
            <a:extLst>
              <a:ext uri="{FF2B5EF4-FFF2-40B4-BE49-F238E27FC236}">
                <a16:creationId xmlns:a16="http://schemas.microsoft.com/office/drawing/2014/main" id="{472C9E44-C959-4EA9-B84B-2B593D1307DB}"/>
              </a:ext>
            </a:extLst>
          </p:cNvPr>
          <p:cNvPicPr>
            <a:picLocks noChangeAspect="1"/>
          </p:cNvPicPr>
          <p:nvPr/>
        </p:nvPicPr>
        <p:blipFill>
          <a:blip r:embed="rId2"/>
          <a:stretch>
            <a:fillRect/>
          </a:stretch>
        </p:blipFill>
        <p:spPr>
          <a:xfrm>
            <a:off x="9630235" y="276225"/>
            <a:ext cx="1063165" cy="1063165"/>
          </a:xfrm>
          <a:prstGeom prst="rect">
            <a:avLst/>
          </a:prstGeom>
        </p:spPr>
      </p:pic>
      <p:sp>
        <p:nvSpPr>
          <p:cNvPr id="13" name="Footer Placeholder 8"/>
          <p:cNvSpPr>
            <a:spLocks noGrp="1"/>
          </p:cNvSpPr>
          <p:nvPr>
            <p:ph type="ftr" sz="quarter" idx="11"/>
          </p:nvPr>
        </p:nvSpPr>
        <p:spPr>
          <a:xfrm>
            <a:off x="4038600" y="6845300"/>
            <a:ext cx="4114800" cy="365125"/>
          </a:xfrm>
          <a:prstGeom prst="rect">
            <a:avLst/>
          </a:prstGeom>
        </p:spPr>
        <p:txBody>
          <a:bodyPr vert="horz" lIns="91440" tIns="45720" rIns="91440" bIns="45720" rtlCol="0" anchor="ctr"/>
          <a:lstStyle>
            <a:defPPr>
              <a:defRPr lang="tr-T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tr-TR" dirty="0"/>
              <a:t>2026 TEKNOFEST DİKEY İNİŞLİ ROKET YARIŞMASI  ATIŞA HAZIRLIK RAPORU (AHR)</a:t>
            </a:r>
          </a:p>
        </p:txBody>
      </p:sp>
      <p:sp>
        <p:nvSpPr>
          <p:cNvPr id="11" name="Dikdörtgen 10">
            <a:extLst>
              <a:ext uri="{FF2B5EF4-FFF2-40B4-BE49-F238E27FC236}">
                <a16:creationId xmlns:a16="http://schemas.microsoft.com/office/drawing/2014/main" id="{9BFA3B20-B47D-4D94-B30C-85F50ACAE1DB}"/>
              </a:ext>
            </a:extLst>
          </p:cNvPr>
          <p:cNvSpPr/>
          <p:nvPr/>
        </p:nvSpPr>
        <p:spPr>
          <a:xfrm>
            <a:off x="180548" y="6458374"/>
            <a:ext cx="10693400" cy="281295"/>
          </a:xfrm>
          <a:prstGeom prst="rect">
            <a:avLst/>
          </a:prstGeom>
        </p:spPr>
        <p:txBody>
          <a:bodyPr wrap="square">
            <a:spAutoFit/>
          </a:bodyPr>
          <a:lstStyle/>
          <a:p>
            <a:pPr marL="171450" indent="-171450">
              <a:buFont typeface="Arial" panose="020B0604020202020204" pitchFamily="34" charset="0"/>
              <a:buChar char="•"/>
            </a:pPr>
            <a:r>
              <a:rPr lang="tr-TR" sz="1200" i="1" dirty="0">
                <a:latin typeface="+mn-lt"/>
              </a:rPr>
              <a:t>Bu bölümde şartnamede yer alan </a:t>
            </a:r>
            <a:r>
              <a:rPr lang="tr-TR" sz="1200" b="1" i="1" dirty="0">
                <a:latin typeface="+mn-lt"/>
              </a:rPr>
              <a:t>3.2.2, 4.3.1, 4.3.4, 4.3.5, 4.3.6 ve 4.3.7 </a:t>
            </a:r>
            <a:r>
              <a:rPr lang="tr-TR" sz="1200" i="1" dirty="0">
                <a:latin typeface="+mn-lt"/>
              </a:rPr>
              <a:t>numaralı gereksinimlerinin karşılanıp karşılanmadığı kontrol edilecektir. </a:t>
            </a:r>
          </a:p>
        </p:txBody>
      </p:sp>
      <p:sp>
        <p:nvSpPr>
          <p:cNvPr id="5" name="TextBox 4">
            <a:extLst>
              <a:ext uri="{FF2B5EF4-FFF2-40B4-BE49-F238E27FC236}">
                <a16:creationId xmlns:a16="http://schemas.microsoft.com/office/drawing/2014/main" id="{48EF09DE-C43C-3238-257B-74517458B202}"/>
              </a:ext>
            </a:extLst>
          </p:cNvPr>
          <p:cNvSpPr txBox="1"/>
          <p:nvPr/>
        </p:nvSpPr>
        <p:spPr>
          <a:xfrm>
            <a:off x="6357" y="544652"/>
            <a:ext cx="1027922" cy="569387"/>
          </a:xfrm>
          <a:prstGeom prst="rect">
            <a:avLst/>
          </a:prstGeom>
          <a:noFill/>
          <a:ln>
            <a:solidFill>
              <a:schemeClr val="tx1"/>
            </a:solidFill>
          </a:ln>
        </p:spPr>
        <p:txBody>
          <a:bodyPr wrap="square" rtlCol="0">
            <a:spAutoFit/>
          </a:bodyPr>
          <a:lstStyle/>
          <a:p>
            <a:pPr algn="ctr"/>
            <a:r>
              <a:rPr lang="tr-TR" sz="1550" dirty="0">
                <a:latin typeface="+mn-lt"/>
              </a:rPr>
              <a:t>Takım Logosu</a:t>
            </a:r>
          </a:p>
        </p:txBody>
      </p:sp>
    </p:spTree>
    <p:extLst>
      <p:ext uri="{BB962C8B-B14F-4D97-AF65-F5344CB8AC3E}">
        <p14:creationId xmlns:p14="http://schemas.microsoft.com/office/powerpoint/2010/main" val="29988358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kdörtgen 6"/>
          <p:cNvSpPr/>
          <p:nvPr/>
        </p:nvSpPr>
        <p:spPr>
          <a:xfrm>
            <a:off x="197945" y="1929220"/>
            <a:ext cx="10235908" cy="330860"/>
          </a:xfrm>
          <a:prstGeom prst="rect">
            <a:avLst/>
          </a:prstGeom>
        </p:spPr>
        <p:txBody>
          <a:bodyPr wrap="square">
            <a:spAutoFit/>
          </a:bodyPr>
          <a:lstStyle/>
          <a:p>
            <a:r>
              <a:rPr lang="tr-TR" sz="1550" dirty="0">
                <a:latin typeface="+mn-lt"/>
              </a:rPr>
              <a:t>Roketin tüm bileşenleri ürün ağacı düzeninde sunuda verilmelidir.</a:t>
            </a:r>
          </a:p>
        </p:txBody>
      </p:sp>
      <p:sp>
        <p:nvSpPr>
          <p:cNvPr id="2" name="Title 1"/>
          <p:cNvSpPr>
            <a:spLocks noGrp="1"/>
          </p:cNvSpPr>
          <p:nvPr>
            <p:ph type="ctrTitle"/>
          </p:nvPr>
        </p:nvSpPr>
        <p:spPr>
          <a:xfrm>
            <a:off x="1235012" y="494808"/>
            <a:ext cx="8020050" cy="658651"/>
          </a:xfrm>
        </p:spPr>
        <p:txBody>
          <a:bodyPr>
            <a:noAutofit/>
          </a:bodyPr>
          <a:lstStyle/>
          <a:p>
            <a:r>
              <a:rPr lang="tr-TR" sz="3950" dirty="0">
                <a:solidFill>
                  <a:srgbClr val="0070C0"/>
                </a:solidFill>
                <a:latin typeface="+mn-lt"/>
                <a:cs typeface="Times New Roman" panose="02020603050405020304" pitchFamily="18" charset="0"/>
              </a:rPr>
              <a:t>Kütle Bütçesi </a:t>
            </a:r>
          </a:p>
        </p:txBody>
      </p:sp>
      <p:cxnSp>
        <p:nvCxnSpPr>
          <p:cNvPr id="5" name="Straight Connector 4"/>
          <p:cNvCxnSpPr/>
          <p:nvPr/>
        </p:nvCxnSpPr>
        <p:spPr>
          <a:xfrm flipV="1">
            <a:off x="0" y="1352684"/>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78851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9724145" y="6979608"/>
            <a:ext cx="201986" cy="161290"/>
          </a:xfrm>
        </p:spPr>
        <p:txBody>
          <a:bodyPr/>
          <a:lstStyle/>
          <a:p>
            <a:fld id="{87BEDC82-49FF-42E3-B7EA-26FF728940D5}" type="slidenum">
              <a:rPr lang="tr-TR" smtClean="0"/>
              <a:t>28</a:t>
            </a:fld>
            <a:endParaRPr lang="tr-TR"/>
          </a:p>
        </p:txBody>
      </p:sp>
      <p:sp>
        <p:nvSpPr>
          <p:cNvPr id="4" name="Date Placeholder 3"/>
          <p:cNvSpPr>
            <a:spLocks noGrp="1"/>
          </p:cNvSpPr>
          <p:nvPr>
            <p:ph type="dt" sz="half" idx="10"/>
          </p:nvPr>
        </p:nvSpPr>
        <p:spPr>
          <a:xfrm>
            <a:off x="802650" y="6979608"/>
            <a:ext cx="1321036" cy="161616"/>
          </a:xfrm>
        </p:spPr>
        <p:txBody>
          <a:bodyPr/>
          <a:lstStyle/>
          <a:p>
            <a:fld id="{C7754236-2899-4218-9EF6-873F90A34B0A}" type="datetime2">
              <a:rPr lang="tr-TR" smtClean="0"/>
              <a:t>3 Temmuz 2026 Cuma</a:t>
            </a:fld>
            <a:endParaRPr lang="tr-TR"/>
          </a:p>
        </p:txBody>
      </p:sp>
      <p:sp>
        <p:nvSpPr>
          <p:cNvPr id="14" name="TextBox 13"/>
          <p:cNvSpPr txBox="1"/>
          <p:nvPr/>
        </p:nvSpPr>
        <p:spPr>
          <a:xfrm>
            <a:off x="4598862" y="2506581"/>
            <a:ext cx="1784744" cy="281295"/>
          </a:xfrm>
          <a:prstGeom prst="rect">
            <a:avLst/>
          </a:prstGeom>
          <a:noFill/>
        </p:spPr>
        <p:txBody>
          <a:bodyPr wrap="square" rtlCol="0">
            <a:spAutoFit/>
          </a:bodyPr>
          <a:lstStyle/>
          <a:p>
            <a:pPr algn="just"/>
            <a:r>
              <a:rPr lang="tr-TR" sz="1228" dirty="0"/>
              <a:t>Örnek Kütle Bütçesi </a:t>
            </a:r>
          </a:p>
        </p:txBody>
      </p:sp>
      <p:pic>
        <p:nvPicPr>
          <p:cNvPr id="15"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276225"/>
            <a:ext cx="1063165" cy="1063165"/>
          </a:xfrm>
          <a:prstGeom prst="rect">
            <a:avLst/>
          </a:prstGeom>
        </p:spPr>
      </p:pic>
      <p:pic>
        <p:nvPicPr>
          <p:cNvPr id="18" name="Picture 17"/>
          <p:cNvPicPr>
            <a:picLocks noChangeAspect="1"/>
          </p:cNvPicPr>
          <p:nvPr/>
        </p:nvPicPr>
        <p:blipFill rotWithShape="1">
          <a:blip r:embed="rId4"/>
          <a:srcRect l="154" r="1"/>
          <a:stretch/>
        </p:blipFill>
        <p:spPr>
          <a:xfrm>
            <a:off x="2221576" y="2749531"/>
            <a:ext cx="6269807" cy="2764667"/>
          </a:xfrm>
          <a:prstGeom prst="rect">
            <a:avLst/>
          </a:prstGeom>
        </p:spPr>
      </p:pic>
      <p:sp>
        <p:nvSpPr>
          <p:cNvPr id="16" name="Footer Placeholder 8"/>
          <p:cNvSpPr>
            <a:spLocks noGrp="1"/>
          </p:cNvSpPr>
          <p:nvPr>
            <p:ph type="ftr" sz="quarter" idx="11"/>
          </p:nvPr>
        </p:nvSpPr>
        <p:spPr>
          <a:xfrm>
            <a:off x="3542189" y="6890180"/>
            <a:ext cx="3609023" cy="320245"/>
          </a:xfrm>
        </p:spPr>
        <p:txBody>
          <a:bodyPr/>
          <a:lstStyle/>
          <a:p>
            <a:pPr algn="ctr"/>
            <a:r>
              <a:rPr lang="tr-TR" dirty="0"/>
              <a:t>2026 TEKNOFEST DİKEY İNİŞLİ ROKET YARIŞMASI </a:t>
            </a:r>
          </a:p>
          <a:p>
            <a:pPr algn="ctr"/>
            <a:r>
              <a:rPr lang="tr-TR" dirty="0"/>
              <a:t>ATIŞA HAZIRLIK RAPORU (AHR)</a:t>
            </a:r>
          </a:p>
        </p:txBody>
      </p:sp>
      <p:sp>
        <p:nvSpPr>
          <p:cNvPr id="19" name="Dikdörtgen 18">
            <a:extLst>
              <a:ext uri="{FF2B5EF4-FFF2-40B4-BE49-F238E27FC236}">
                <a16:creationId xmlns:a16="http://schemas.microsoft.com/office/drawing/2014/main" id="{C38B6903-78B4-4044-9A7F-0B47DB817F02}"/>
              </a:ext>
            </a:extLst>
          </p:cNvPr>
          <p:cNvSpPr/>
          <p:nvPr/>
        </p:nvSpPr>
        <p:spPr>
          <a:xfrm>
            <a:off x="263934" y="6518572"/>
            <a:ext cx="9897884" cy="281295"/>
          </a:xfrm>
          <a:prstGeom prst="rect">
            <a:avLst/>
          </a:prstGeom>
        </p:spPr>
        <p:txBody>
          <a:bodyPr wrap="square">
            <a:spAutoFit/>
          </a:bodyPr>
          <a:lstStyle/>
          <a:p>
            <a:pPr marL="285750" indent="-285750">
              <a:buFont typeface="Arial" panose="020B0604020202020204" pitchFamily="34" charset="0"/>
              <a:buChar char="•"/>
            </a:pPr>
            <a:r>
              <a:rPr lang="tr-TR" sz="1200" i="1" dirty="0">
                <a:latin typeface="+mn-lt"/>
              </a:rPr>
              <a:t>Bu bölümde şartnamede yer alan </a:t>
            </a:r>
            <a:r>
              <a:rPr lang="tr-TR" sz="1200" b="1" i="1" dirty="0">
                <a:latin typeface="+mn-lt"/>
              </a:rPr>
              <a:t>4.3.1 </a:t>
            </a:r>
            <a:r>
              <a:rPr lang="tr-TR" sz="1200" i="1" dirty="0">
                <a:latin typeface="+mn-lt"/>
              </a:rPr>
              <a:t> numaralı gereksinimlerinin karşılanıp karşılanmadığı kontrol edilecektir. </a:t>
            </a:r>
          </a:p>
        </p:txBody>
      </p:sp>
      <p:sp>
        <p:nvSpPr>
          <p:cNvPr id="7" name="TextBox 6">
            <a:extLst>
              <a:ext uri="{FF2B5EF4-FFF2-40B4-BE49-F238E27FC236}">
                <a16:creationId xmlns:a16="http://schemas.microsoft.com/office/drawing/2014/main" id="{D3009CEE-C510-DBFC-18C7-DF216E1E678F}"/>
              </a:ext>
            </a:extLst>
          </p:cNvPr>
          <p:cNvSpPr txBox="1"/>
          <p:nvPr/>
        </p:nvSpPr>
        <p:spPr>
          <a:xfrm>
            <a:off x="6357" y="544652"/>
            <a:ext cx="1027922" cy="569387"/>
          </a:xfrm>
          <a:prstGeom prst="rect">
            <a:avLst/>
          </a:prstGeom>
          <a:noFill/>
          <a:ln>
            <a:solidFill>
              <a:schemeClr val="tx1"/>
            </a:solidFill>
          </a:ln>
        </p:spPr>
        <p:txBody>
          <a:bodyPr wrap="square" rtlCol="0">
            <a:spAutoFit/>
          </a:bodyPr>
          <a:lstStyle/>
          <a:p>
            <a:pPr algn="ctr"/>
            <a:r>
              <a:rPr lang="tr-TR" sz="1550" dirty="0">
                <a:latin typeface="+mn-lt"/>
              </a:rPr>
              <a:t>Takım Logosu</a:t>
            </a:r>
          </a:p>
        </p:txBody>
      </p:sp>
    </p:spTree>
    <p:extLst>
      <p:ext uri="{BB962C8B-B14F-4D97-AF65-F5344CB8AC3E}">
        <p14:creationId xmlns:p14="http://schemas.microsoft.com/office/powerpoint/2010/main" val="3634475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34279" y="470272"/>
            <a:ext cx="8697513" cy="722023"/>
          </a:xfrm>
        </p:spPr>
        <p:txBody>
          <a:bodyPr>
            <a:noAutofit/>
          </a:bodyPr>
          <a:lstStyle/>
          <a:p>
            <a:r>
              <a:rPr lang="tr-TR" sz="3950" dirty="0">
                <a:solidFill>
                  <a:srgbClr val="0070C0"/>
                </a:solidFill>
                <a:latin typeface="+mn-lt"/>
                <a:cs typeface="Times New Roman" panose="02020603050405020304" pitchFamily="18" charset="0"/>
              </a:rPr>
              <a:t>AHR Puan Şablonu</a:t>
            </a:r>
          </a:p>
        </p:txBody>
      </p:sp>
      <p:cxnSp>
        <p:nvCxnSpPr>
          <p:cNvPr id="5" name="Straight Connector 4"/>
          <p:cNvCxnSpPr/>
          <p:nvPr/>
        </p:nvCxnSpPr>
        <p:spPr>
          <a:xfrm flipV="1">
            <a:off x="0" y="1352684"/>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0" y="6788517"/>
            <a:ext cx="10693400" cy="225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9724145" y="6979608"/>
            <a:ext cx="201986" cy="161290"/>
          </a:xfrm>
        </p:spPr>
        <p:txBody>
          <a:bodyPr/>
          <a:lstStyle/>
          <a:p>
            <a:fld id="{87BEDC82-49FF-42E3-B7EA-26FF728940D5}" type="slidenum">
              <a:rPr lang="tr-TR" smtClean="0"/>
              <a:t>29</a:t>
            </a:fld>
            <a:endParaRPr lang="tr-TR"/>
          </a:p>
        </p:txBody>
      </p:sp>
      <p:sp>
        <p:nvSpPr>
          <p:cNvPr id="4" name="Date Placeholder 3"/>
          <p:cNvSpPr>
            <a:spLocks noGrp="1"/>
          </p:cNvSpPr>
          <p:nvPr>
            <p:ph type="dt" sz="half" idx="10"/>
          </p:nvPr>
        </p:nvSpPr>
        <p:spPr>
          <a:xfrm>
            <a:off x="802650" y="6979608"/>
            <a:ext cx="1321036" cy="161616"/>
          </a:xfrm>
        </p:spPr>
        <p:txBody>
          <a:bodyPr/>
          <a:lstStyle/>
          <a:p>
            <a:fld id="{B07525E2-4CFA-4506-BB54-178755A25E1B}" type="datetime2">
              <a:rPr lang="tr-TR" smtClean="0"/>
              <a:t>3 Temmuz 2026 Cuma</a:t>
            </a:fld>
            <a:endParaRPr lang="tr-TR"/>
          </a:p>
        </p:txBody>
      </p:sp>
      <p:pic>
        <p:nvPicPr>
          <p:cNvPr id="11" name="Picture 6">
            <a:extLst>
              <a:ext uri="{FF2B5EF4-FFF2-40B4-BE49-F238E27FC236}">
                <a16:creationId xmlns:a16="http://schemas.microsoft.com/office/drawing/2014/main" id="{472C9E44-C959-4EA9-B84B-2B593D1307DB}"/>
              </a:ext>
            </a:extLst>
          </p:cNvPr>
          <p:cNvPicPr>
            <a:picLocks noChangeAspect="1"/>
          </p:cNvPicPr>
          <p:nvPr/>
        </p:nvPicPr>
        <p:blipFill>
          <a:blip r:embed="rId3"/>
          <a:stretch>
            <a:fillRect/>
          </a:stretch>
        </p:blipFill>
        <p:spPr>
          <a:xfrm>
            <a:off x="9630235" y="276225"/>
            <a:ext cx="1063165" cy="1063165"/>
          </a:xfrm>
          <a:prstGeom prst="rect">
            <a:avLst/>
          </a:prstGeom>
        </p:spPr>
      </p:pic>
      <p:sp>
        <p:nvSpPr>
          <p:cNvPr id="12" name="Footer Placeholder 8">
            <a:extLst>
              <a:ext uri="{FF2B5EF4-FFF2-40B4-BE49-F238E27FC236}">
                <a16:creationId xmlns:a16="http://schemas.microsoft.com/office/drawing/2014/main" id="{83F8B36C-FC7A-495D-89FD-0E81E8B76282}"/>
              </a:ext>
            </a:extLst>
          </p:cNvPr>
          <p:cNvSpPr>
            <a:spLocks noGrp="1"/>
          </p:cNvSpPr>
          <p:nvPr>
            <p:ph type="ftr" sz="quarter" idx="11"/>
          </p:nvPr>
        </p:nvSpPr>
        <p:spPr>
          <a:xfrm>
            <a:off x="3542189" y="6890180"/>
            <a:ext cx="3609023" cy="320245"/>
          </a:xfrm>
        </p:spPr>
        <p:txBody>
          <a:bodyPr/>
          <a:lstStyle/>
          <a:p>
            <a:pPr algn="ctr"/>
            <a:r>
              <a:rPr lang="tr-TR" dirty="0"/>
              <a:t>2026 TEKNOFEST DİKEY İNİŞLİ ROKET YARIŞMASI</a:t>
            </a:r>
          </a:p>
          <a:p>
            <a:pPr algn="ctr"/>
            <a:r>
              <a:rPr lang="tr-TR" dirty="0"/>
              <a:t>ATIŞA HAZIRLIK RAPORU (AHR)</a:t>
            </a:r>
          </a:p>
        </p:txBody>
      </p:sp>
      <p:graphicFrame>
        <p:nvGraphicFramePr>
          <p:cNvPr id="7" name="Tablo 6">
            <a:extLst>
              <a:ext uri="{FF2B5EF4-FFF2-40B4-BE49-F238E27FC236}">
                <a16:creationId xmlns:a16="http://schemas.microsoft.com/office/drawing/2014/main" id="{1B05F7F8-FC36-3FB6-059F-4746EF2DEFF5}"/>
              </a:ext>
            </a:extLst>
          </p:cNvPr>
          <p:cNvGraphicFramePr>
            <a:graphicFrameLocks noGrp="1"/>
          </p:cNvGraphicFramePr>
          <p:nvPr/>
        </p:nvGraphicFramePr>
        <p:xfrm>
          <a:off x="2125285" y="2114104"/>
          <a:ext cx="6564400" cy="3643298"/>
        </p:xfrm>
        <a:graphic>
          <a:graphicData uri="http://schemas.openxmlformats.org/drawingml/2006/table">
            <a:tbl>
              <a:tblPr>
                <a:tableStyleId>{5C22544A-7EE6-4342-B048-85BDC9FD1C3A}</a:tableStyleId>
              </a:tblPr>
              <a:tblGrid>
                <a:gridCol w="5370873">
                  <a:extLst>
                    <a:ext uri="{9D8B030D-6E8A-4147-A177-3AD203B41FA5}">
                      <a16:colId xmlns:a16="http://schemas.microsoft.com/office/drawing/2014/main" val="2155251706"/>
                    </a:ext>
                  </a:extLst>
                </a:gridCol>
                <a:gridCol w="1193527">
                  <a:extLst>
                    <a:ext uri="{9D8B030D-6E8A-4147-A177-3AD203B41FA5}">
                      <a16:colId xmlns:a16="http://schemas.microsoft.com/office/drawing/2014/main" val="1547230449"/>
                    </a:ext>
                  </a:extLst>
                </a:gridCol>
              </a:tblGrid>
              <a:tr h="264902">
                <a:tc>
                  <a:txBody>
                    <a:bodyPr/>
                    <a:lstStyle/>
                    <a:p>
                      <a:pPr algn="ctr" fontAlgn="ctr"/>
                      <a:r>
                        <a:rPr lang="tr-TR" sz="1600" b="1" u="none" strike="noStrike" dirty="0">
                          <a:effectLst/>
                        </a:rPr>
                        <a:t>Açıklama</a:t>
                      </a:r>
                      <a:endParaRPr lang="tr-TR" sz="1600" b="1" i="1" u="none" strike="noStrike" dirty="0">
                        <a:solidFill>
                          <a:srgbClr val="000000"/>
                        </a:solidFill>
                        <a:effectLst/>
                        <a:latin typeface="Calibri" panose="020F0502020204030204" pitchFamily="34" charset="0"/>
                      </a:endParaRPr>
                    </a:p>
                  </a:txBody>
                  <a:tcPr marL="8354" marR="8354" marT="8354" marB="0" anchor="ctr">
                    <a:solidFill>
                      <a:schemeClr val="accent1"/>
                    </a:solidFill>
                  </a:tcPr>
                </a:tc>
                <a:tc>
                  <a:txBody>
                    <a:bodyPr/>
                    <a:lstStyle/>
                    <a:p>
                      <a:pPr algn="ctr" fontAlgn="ctr"/>
                      <a:r>
                        <a:rPr lang="tr-TR" sz="1600" b="1" u="none" strike="noStrike" dirty="0">
                          <a:effectLst/>
                        </a:rPr>
                        <a:t>Puan</a:t>
                      </a:r>
                      <a:endParaRPr lang="tr-TR" sz="1600" b="1" i="1" u="none" strike="noStrike" dirty="0">
                        <a:solidFill>
                          <a:srgbClr val="000000"/>
                        </a:solidFill>
                        <a:effectLst/>
                        <a:latin typeface="Calibri" panose="020F0502020204030204" pitchFamily="34" charset="0"/>
                      </a:endParaRPr>
                    </a:p>
                  </a:txBody>
                  <a:tcPr marL="8354" marR="8354" marT="8354" marB="0" anchor="ctr">
                    <a:solidFill>
                      <a:schemeClr val="accent1"/>
                    </a:solidFill>
                  </a:tcPr>
                </a:tc>
                <a:extLst>
                  <a:ext uri="{0D108BD9-81ED-4DB2-BD59-A6C34878D82A}">
                    <a16:rowId xmlns:a16="http://schemas.microsoft.com/office/drawing/2014/main" val="681478258"/>
                  </a:ext>
                </a:extLst>
              </a:tr>
              <a:tr h="934357">
                <a:tc>
                  <a:txBody>
                    <a:bodyPr/>
                    <a:lstStyle/>
                    <a:p>
                      <a:pPr algn="l" rtl="0" fontAlgn="ctr"/>
                      <a:r>
                        <a:rPr lang="tr-TR" sz="1600" u="none" strike="noStrike" dirty="0">
                          <a:effectLst/>
                        </a:rPr>
                        <a:t>Operasyon Konsepti: Atış öncesi süreç tablosu, Operasyon süreç tablosu, İniş sonrası süreç tablosu, Yedek parça envanteri tablosu, Görev dağılımı tablosu</a:t>
                      </a:r>
                      <a:endParaRPr lang="tr-TR" sz="1600" b="1" i="1" u="none" strike="noStrike" dirty="0">
                        <a:solidFill>
                          <a:srgbClr val="FFFFFF"/>
                        </a:solidFill>
                        <a:effectLst/>
                        <a:latin typeface="Calibri" panose="020F0502020204030204" pitchFamily="34" charset="0"/>
                      </a:endParaRPr>
                    </a:p>
                  </a:txBody>
                  <a:tcPr marL="8354" marR="8354" marT="8354" marB="0" anchor="ctr"/>
                </a:tc>
                <a:tc>
                  <a:txBody>
                    <a:bodyPr/>
                    <a:lstStyle/>
                    <a:p>
                      <a:pPr algn="ctr" fontAlgn="ctr"/>
                      <a:r>
                        <a:rPr lang="tr-TR" sz="1600" u="none" strike="noStrike" dirty="0">
                          <a:effectLst/>
                        </a:rPr>
                        <a:t>15</a:t>
                      </a:r>
                      <a:endParaRPr lang="tr-TR" sz="1600" b="1" i="1" u="none" strike="noStrike" dirty="0">
                        <a:solidFill>
                          <a:srgbClr val="FFFFFF"/>
                        </a:solidFill>
                        <a:effectLst/>
                        <a:latin typeface="Calibri" panose="020F0502020204030204" pitchFamily="34" charset="0"/>
                      </a:endParaRPr>
                    </a:p>
                  </a:txBody>
                  <a:tcPr marL="8354" marR="8354" marT="8354" marB="0" anchor="ctr"/>
                </a:tc>
                <a:extLst>
                  <a:ext uri="{0D108BD9-81ED-4DB2-BD59-A6C34878D82A}">
                    <a16:rowId xmlns:a16="http://schemas.microsoft.com/office/drawing/2014/main" val="3790549790"/>
                  </a:ext>
                </a:extLst>
              </a:tr>
              <a:tr h="264902">
                <a:tc>
                  <a:txBody>
                    <a:bodyPr/>
                    <a:lstStyle/>
                    <a:p>
                      <a:pPr algn="l" rtl="0" fontAlgn="ctr"/>
                      <a:r>
                        <a:rPr lang="tr-TR" sz="1600" u="none" strike="noStrike">
                          <a:effectLst/>
                        </a:rPr>
                        <a:t>Pnömatik Devre Şeması</a:t>
                      </a:r>
                      <a:endParaRPr lang="tr-TR" sz="1600" b="1" i="1" u="none" strike="noStrike">
                        <a:solidFill>
                          <a:srgbClr val="FFFFFF"/>
                        </a:solidFill>
                        <a:effectLst/>
                        <a:latin typeface="Calibri" panose="020F0502020204030204" pitchFamily="34" charset="0"/>
                      </a:endParaRPr>
                    </a:p>
                  </a:txBody>
                  <a:tcPr marL="8354" marR="8354" marT="8354" marB="0" anchor="ctr"/>
                </a:tc>
                <a:tc>
                  <a:txBody>
                    <a:bodyPr/>
                    <a:lstStyle/>
                    <a:p>
                      <a:pPr algn="ctr" fontAlgn="ctr"/>
                      <a:r>
                        <a:rPr lang="tr-TR" sz="1600" u="none" strike="noStrike" dirty="0">
                          <a:effectLst/>
                        </a:rPr>
                        <a:t>2</a:t>
                      </a:r>
                      <a:endParaRPr lang="tr-TR" sz="1600" b="1" i="1" u="none" strike="noStrike" dirty="0">
                        <a:solidFill>
                          <a:srgbClr val="FFFFFF"/>
                        </a:solidFill>
                        <a:effectLst/>
                        <a:latin typeface="Calibri" panose="020F0502020204030204" pitchFamily="34" charset="0"/>
                      </a:endParaRPr>
                    </a:p>
                  </a:txBody>
                  <a:tcPr marL="8354" marR="8354" marT="8354" marB="0" anchor="ctr"/>
                </a:tc>
                <a:extLst>
                  <a:ext uri="{0D108BD9-81ED-4DB2-BD59-A6C34878D82A}">
                    <a16:rowId xmlns:a16="http://schemas.microsoft.com/office/drawing/2014/main" val="2703416872"/>
                  </a:ext>
                </a:extLst>
              </a:tr>
              <a:tr h="264902">
                <a:tc>
                  <a:txBody>
                    <a:bodyPr/>
                    <a:lstStyle/>
                    <a:p>
                      <a:pPr algn="l" rtl="0" fontAlgn="ctr"/>
                      <a:r>
                        <a:rPr lang="tr-TR" sz="1600" u="none" strike="noStrike" dirty="0">
                          <a:effectLst/>
                        </a:rPr>
                        <a:t>Pnömatik sistem ürün ağacı tablosu</a:t>
                      </a:r>
                      <a:endParaRPr lang="tr-TR" sz="1600" b="1" i="1" u="none" strike="noStrike" dirty="0">
                        <a:solidFill>
                          <a:srgbClr val="FFFFFF"/>
                        </a:solidFill>
                        <a:effectLst/>
                        <a:latin typeface="Calibri" panose="020F0502020204030204" pitchFamily="34" charset="0"/>
                      </a:endParaRPr>
                    </a:p>
                  </a:txBody>
                  <a:tcPr marL="8354" marR="8354" marT="8354" marB="0" anchor="ctr"/>
                </a:tc>
                <a:tc>
                  <a:txBody>
                    <a:bodyPr/>
                    <a:lstStyle/>
                    <a:p>
                      <a:pPr algn="ctr" fontAlgn="ctr"/>
                      <a:r>
                        <a:rPr lang="tr-TR" sz="1600" u="none" strike="noStrike" dirty="0">
                          <a:effectLst/>
                        </a:rPr>
                        <a:t>3</a:t>
                      </a:r>
                      <a:endParaRPr lang="tr-TR" sz="1600" b="1" i="1" u="none" strike="noStrike" dirty="0">
                        <a:solidFill>
                          <a:srgbClr val="FFFFFF"/>
                        </a:solidFill>
                        <a:effectLst/>
                        <a:latin typeface="Calibri" panose="020F0502020204030204" pitchFamily="34" charset="0"/>
                      </a:endParaRPr>
                    </a:p>
                  </a:txBody>
                  <a:tcPr marL="8354" marR="8354" marT="8354" marB="0" anchor="ctr"/>
                </a:tc>
                <a:extLst>
                  <a:ext uri="{0D108BD9-81ED-4DB2-BD59-A6C34878D82A}">
                    <a16:rowId xmlns:a16="http://schemas.microsoft.com/office/drawing/2014/main" val="542579293"/>
                  </a:ext>
                </a:extLst>
              </a:tr>
              <a:tr h="264902">
                <a:tc>
                  <a:txBody>
                    <a:bodyPr/>
                    <a:lstStyle/>
                    <a:p>
                      <a:pPr algn="l" rtl="0" fontAlgn="ctr"/>
                      <a:r>
                        <a:rPr lang="tr-TR" sz="1600" u="none" strike="noStrike">
                          <a:effectLst/>
                        </a:rPr>
                        <a:t>Sızdırmazlık testi</a:t>
                      </a:r>
                      <a:endParaRPr lang="tr-TR" sz="1600" b="1" i="1" u="none" strike="noStrike">
                        <a:solidFill>
                          <a:srgbClr val="FFFFFF"/>
                        </a:solidFill>
                        <a:effectLst/>
                        <a:latin typeface="Calibri" panose="020F0502020204030204" pitchFamily="34" charset="0"/>
                      </a:endParaRPr>
                    </a:p>
                  </a:txBody>
                  <a:tcPr marL="8354" marR="8354" marT="8354" marB="0" anchor="ctr"/>
                </a:tc>
                <a:tc>
                  <a:txBody>
                    <a:bodyPr/>
                    <a:lstStyle/>
                    <a:p>
                      <a:pPr algn="ctr" fontAlgn="ctr"/>
                      <a:r>
                        <a:rPr lang="tr-TR" sz="1600" u="none" strike="noStrike" dirty="0">
                          <a:effectLst/>
                        </a:rPr>
                        <a:t>7</a:t>
                      </a:r>
                      <a:endParaRPr lang="tr-TR" sz="1600" b="1" i="1" u="none" strike="noStrike" dirty="0">
                        <a:solidFill>
                          <a:srgbClr val="FFFFFF"/>
                        </a:solidFill>
                        <a:effectLst/>
                        <a:latin typeface="Calibri" panose="020F0502020204030204" pitchFamily="34" charset="0"/>
                      </a:endParaRPr>
                    </a:p>
                  </a:txBody>
                  <a:tcPr marL="8354" marR="8354" marT="8354" marB="0" anchor="ctr"/>
                </a:tc>
                <a:extLst>
                  <a:ext uri="{0D108BD9-81ED-4DB2-BD59-A6C34878D82A}">
                    <a16:rowId xmlns:a16="http://schemas.microsoft.com/office/drawing/2014/main" val="3556421492"/>
                  </a:ext>
                </a:extLst>
              </a:tr>
              <a:tr h="264902">
                <a:tc>
                  <a:txBody>
                    <a:bodyPr/>
                    <a:lstStyle/>
                    <a:p>
                      <a:pPr algn="l" rtl="0" fontAlgn="ctr"/>
                      <a:r>
                        <a:rPr lang="tr-TR" sz="1600" u="none" strike="noStrike" dirty="0">
                          <a:effectLst/>
                        </a:rPr>
                        <a:t>Ana itki işlevsellik testi</a:t>
                      </a:r>
                      <a:endParaRPr lang="tr-TR" sz="1600" b="1" i="1" u="none" strike="noStrike" dirty="0">
                        <a:solidFill>
                          <a:srgbClr val="FFFFFF"/>
                        </a:solidFill>
                        <a:effectLst/>
                        <a:latin typeface="Calibri" panose="020F0502020204030204" pitchFamily="34" charset="0"/>
                      </a:endParaRPr>
                    </a:p>
                  </a:txBody>
                  <a:tcPr marL="8354" marR="8354" marT="8354" marB="0" anchor="ctr"/>
                </a:tc>
                <a:tc>
                  <a:txBody>
                    <a:bodyPr/>
                    <a:lstStyle/>
                    <a:p>
                      <a:pPr algn="ctr" fontAlgn="ctr"/>
                      <a:r>
                        <a:rPr lang="tr-TR" sz="1600" u="none" strike="noStrike" dirty="0">
                          <a:effectLst/>
                        </a:rPr>
                        <a:t>7</a:t>
                      </a:r>
                      <a:endParaRPr lang="tr-TR" sz="1600" b="1" i="1" u="none" strike="noStrike" dirty="0">
                        <a:solidFill>
                          <a:srgbClr val="FFFFFF"/>
                        </a:solidFill>
                        <a:effectLst/>
                        <a:latin typeface="Calibri" panose="020F0502020204030204" pitchFamily="34" charset="0"/>
                      </a:endParaRPr>
                    </a:p>
                  </a:txBody>
                  <a:tcPr marL="8354" marR="8354" marT="8354" marB="0" anchor="ctr"/>
                </a:tc>
                <a:extLst>
                  <a:ext uri="{0D108BD9-81ED-4DB2-BD59-A6C34878D82A}">
                    <a16:rowId xmlns:a16="http://schemas.microsoft.com/office/drawing/2014/main" val="832827145"/>
                  </a:ext>
                </a:extLst>
              </a:tr>
              <a:tr h="264902">
                <a:tc>
                  <a:txBody>
                    <a:bodyPr/>
                    <a:lstStyle/>
                    <a:p>
                      <a:pPr algn="l" rtl="0" fontAlgn="ctr"/>
                      <a:r>
                        <a:rPr lang="tr-TR" sz="1600" u="none" strike="noStrike">
                          <a:effectLst/>
                        </a:rPr>
                        <a:t>İkincil sistem işlevsellik testleri</a:t>
                      </a:r>
                      <a:endParaRPr lang="tr-TR" sz="1600" b="1" i="1" u="none" strike="noStrike">
                        <a:solidFill>
                          <a:srgbClr val="FFFFFF"/>
                        </a:solidFill>
                        <a:effectLst/>
                        <a:latin typeface="Calibri" panose="020F0502020204030204" pitchFamily="34" charset="0"/>
                      </a:endParaRPr>
                    </a:p>
                  </a:txBody>
                  <a:tcPr marL="8354" marR="8354" marT="8354" marB="0" anchor="ctr"/>
                </a:tc>
                <a:tc>
                  <a:txBody>
                    <a:bodyPr/>
                    <a:lstStyle/>
                    <a:p>
                      <a:pPr algn="ctr" fontAlgn="ctr"/>
                      <a:r>
                        <a:rPr lang="tr-TR" sz="1600" u="none" strike="noStrike" dirty="0">
                          <a:effectLst/>
                        </a:rPr>
                        <a:t>7</a:t>
                      </a:r>
                      <a:endParaRPr lang="tr-TR" sz="1600" b="1" i="1" u="none" strike="noStrike" dirty="0">
                        <a:solidFill>
                          <a:srgbClr val="FFFFFF"/>
                        </a:solidFill>
                        <a:effectLst/>
                        <a:latin typeface="Calibri" panose="020F0502020204030204" pitchFamily="34" charset="0"/>
                      </a:endParaRPr>
                    </a:p>
                  </a:txBody>
                  <a:tcPr marL="8354" marR="8354" marT="8354" marB="0" anchor="ctr"/>
                </a:tc>
                <a:extLst>
                  <a:ext uri="{0D108BD9-81ED-4DB2-BD59-A6C34878D82A}">
                    <a16:rowId xmlns:a16="http://schemas.microsoft.com/office/drawing/2014/main" val="1010216529"/>
                  </a:ext>
                </a:extLst>
              </a:tr>
              <a:tr h="264902">
                <a:tc>
                  <a:txBody>
                    <a:bodyPr/>
                    <a:lstStyle/>
                    <a:p>
                      <a:pPr algn="l" rtl="0" fontAlgn="ctr"/>
                      <a:r>
                        <a:rPr lang="tr-TR" sz="1600" u="none" strike="noStrike" dirty="0">
                          <a:effectLst/>
                        </a:rPr>
                        <a:t>Tasarım fonksiyonellik testi</a:t>
                      </a:r>
                      <a:endParaRPr lang="tr-TR" sz="1600" b="1" i="1" u="none" strike="noStrike" dirty="0">
                        <a:solidFill>
                          <a:srgbClr val="FFFFFF"/>
                        </a:solidFill>
                        <a:effectLst/>
                        <a:latin typeface="Calibri" panose="020F0502020204030204" pitchFamily="34" charset="0"/>
                      </a:endParaRPr>
                    </a:p>
                  </a:txBody>
                  <a:tcPr marL="8354" marR="8354" marT="8354" marB="0" anchor="ctr"/>
                </a:tc>
                <a:tc>
                  <a:txBody>
                    <a:bodyPr/>
                    <a:lstStyle/>
                    <a:p>
                      <a:pPr algn="ctr" fontAlgn="ctr"/>
                      <a:r>
                        <a:rPr lang="tr-TR" sz="1600" u="none" strike="noStrike" dirty="0">
                          <a:effectLst/>
                        </a:rPr>
                        <a:t>9</a:t>
                      </a:r>
                      <a:endParaRPr lang="tr-TR" sz="1600" b="1" i="1" u="none" strike="noStrike" dirty="0">
                        <a:solidFill>
                          <a:srgbClr val="FFFFFF"/>
                        </a:solidFill>
                        <a:effectLst/>
                        <a:latin typeface="Calibri" panose="020F0502020204030204" pitchFamily="34" charset="0"/>
                      </a:endParaRPr>
                    </a:p>
                  </a:txBody>
                  <a:tcPr marL="8354" marR="8354" marT="8354" marB="0" anchor="ctr"/>
                </a:tc>
                <a:extLst>
                  <a:ext uri="{0D108BD9-81ED-4DB2-BD59-A6C34878D82A}">
                    <a16:rowId xmlns:a16="http://schemas.microsoft.com/office/drawing/2014/main" val="573452437"/>
                  </a:ext>
                </a:extLst>
              </a:tr>
              <a:tr h="264902">
                <a:tc>
                  <a:txBody>
                    <a:bodyPr/>
                    <a:lstStyle/>
                    <a:p>
                      <a:pPr algn="l" rtl="0" fontAlgn="ctr"/>
                      <a:r>
                        <a:rPr lang="tr-TR" sz="1600" u="none" strike="noStrike" dirty="0">
                          <a:effectLst/>
                        </a:rPr>
                        <a:t>Yapısal Bütünlük testi</a:t>
                      </a:r>
                      <a:endParaRPr lang="tr-TR" sz="1600" b="1" i="1" u="none" strike="noStrike" dirty="0">
                        <a:solidFill>
                          <a:srgbClr val="FFFFFF"/>
                        </a:solidFill>
                        <a:effectLst/>
                        <a:latin typeface="Calibri" panose="020F0502020204030204" pitchFamily="34" charset="0"/>
                      </a:endParaRPr>
                    </a:p>
                  </a:txBody>
                  <a:tcPr marL="8354" marR="8354" marT="8354" marB="0" anchor="ctr"/>
                </a:tc>
                <a:tc>
                  <a:txBody>
                    <a:bodyPr/>
                    <a:lstStyle/>
                    <a:p>
                      <a:pPr algn="ctr" fontAlgn="ctr"/>
                      <a:r>
                        <a:rPr lang="tr-TR" sz="1600" u="none" strike="noStrike" dirty="0">
                          <a:effectLst/>
                        </a:rPr>
                        <a:t>25</a:t>
                      </a:r>
                      <a:endParaRPr lang="tr-TR" sz="1600" b="1" i="1" u="none" strike="noStrike" dirty="0">
                        <a:solidFill>
                          <a:srgbClr val="FFFFFF"/>
                        </a:solidFill>
                        <a:effectLst/>
                        <a:latin typeface="Calibri" panose="020F0502020204030204" pitchFamily="34" charset="0"/>
                      </a:endParaRPr>
                    </a:p>
                  </a:txBody>
                  <a:tcPr marL="8354" marR="8354" marT="8354" marB="0" anchor="ctr"/>
                </a:tc>
                <a:extLst>
                  <a:ext uri="{0D108BD9-81ED-4DB2-BD59-A6C34878D82A}">
                    <a16:rowId xmlns:a16="http://schemas.microsoft.com/office/drawing/2014/main" val="1707298392"/>
                  </a:ext>
                </a:extLst>
              </a:tr>
              <a:tr h="324823">
                <a:tc>
                  <a:txBody>
                    <a:bodyPr/>
                    <a:lstStyle/>
                    <a:p>
                      <a:pPr algn="l" rtl="0" fontAlgn="ctr"/>
                      <a:r>
                        <a:rPr lang="tr-TR" sz="1600" u="none" strike="noStrike" dirty="0">
                          <a:effectLst/>
                        </a:rPr>
                        <a:t>Güdüm Navigasyon Kontrol Aviyonik</a:t>
                      </a:r>
                      <a:endParaRPr lang="tr-TR" sz="1600" b="1" i="1" u="none" strike="noStrike" dirty="0">
                        <a:solidFill>
                          <a:srgbClr val="FFFFFF"/>
                        </a:solidFill>
                        <a:effectLst/>
                        <a:latin typeface="Calibri" panose="020F0502020204030204" pitchFamily="34" charset="0"/>
                      </a:endParaRPr>
                    </a:p>
                  </a:txBody>
                  <a:tcPr marL="8354" marR="8354" marT="8354" marB="0" anchor="ctr"/>
                </a:tc>
                <a:tc>
                  <a:txBody>
                    <a:bodyPr/>
                    <a:lstStyle/>
                    <a:p>
                      <a:pPr algn="ctr" fontAlgn="ctr"/>
                      <a:r>
                        <a:rPr lang="tr-TR" sz="1600" u="none" strike="noStrike" dirty="0">
                          <a:effectLst/>
                        </a:rPr>
                        <a:t>25</a:t>
                      </a:r>
                      <a:endParaRPr lang="tr-TR" sz="1600" b="1" i="1" u="none" strike="noStrike" dirty="0">
                        <a:solidFill>
                          <a:srgbClr val="FFFFFF"/>
                        </a:solidFill>
                        <a:effectLst/>
                        <a:latin typeface="Calibri" panose="020F0502020204030204" pitchFamily="34" charset="0"/>
                      </a:endParaRPr>
                    </a:p>
                  </a:txBody>
                  <a:tcPr marL="8354" marR="8354" marT="8354" marB="0" anchor="ctr"/>
                </a:tc>
                <a:extLst>
                  <a:ext uri="{0D108BD9-81ED-4DB2-BD59-A6C34878D82A}">
                    <a16:rowId xmlns:a16="http://schemas.microsoft.com/office/drawing/2014/main" val="908939621"/>
                  </a:ext>
                </a:extLst>
              </a:tr>
              <a:tr h="264902">
                <a:tc>
                  <a:txBody>
                    <a:bodyPr/>
                    <a:lstStyle/>
                    <a:p>
                      <a:pPr algn="l" fontAlgn="ctr"/>
                      <a:r>
                        <a:rPr lang="tr-TR" sz="1600" b="1" u="none" strike="noStrike" dirty="0">
                          <a:effectLst/>
                        </a:rPr>
                        <a:t>Toplam Puan</a:t>
                      </a:r>
                      <a:endParaRPr lang="tr-TR" sz="1600" b="1" i="0" u="none" strike="noStrike" dirty="0">
                        <a:solidFill>
                          <a:srgbClr val="000000"/>
                        </a:solidFill>
                        <a:effectLst/>
                        <a:latin typeface="Calibri" panose="020F0502020204030204" pitchFamily="34" charset="0"/>
                      </a:endParaRPr>
                    </a:p>
                  </a:txBody>
                  <a:tcPr marL="8354" marR="8354" marT="8354" marB="0" anchor="ctr"/>
                </a:tc>
                <a:tc>
                  <a:txBody>
                    <a:bodyPr/>
                    <a:lstStyle/>
                    <a:p>
                      <a:pPr algn="ctr" fontAlgn="ctr"/>
                      <a:r>
                        <a:rPr lang="tr-TR" sz="1600" b="1" u="none" strike="noStrike" dirty="0">
                          <a:effectLst/>
                        </a:rPr>
                        <a:t>100</a:t>
                      </a:r>
                      <a:endParaRPr lang="tr-TR" sz="1600" b="1" i="0" u="none" strike="noStrike" dirty="0">
                        <a:solidFill>
                          <a:srgbClr val="000000"/>
                        </a:solidFill>
                        <a:effectLst/>
                        <a:latin typeface="Calibri" panose="020F0502020204030204" pitchFamily="34" charset="0"/>
                      </a:endParaRPr>
                    </a:p>
                  </a:txBody>
                  <a:tcPr marL="8354" marR="8354" marT="8354" marB="0" anchor="ctr"/>
                </a:tc>
                <a:extLst>
                  <a:ext uri="{0D108BD9-81ED-4DB2-BD59-A6C34878D82A}">
                    <a16:rowId xmlns:a16="http://schemas.microsoft.com/office/drawing/2014/main" val="2803770550"/>
                  </a:ext>
                </a:extLst>
              </a:tr>
            </a:tbl>
          </a:graphicData>
        </a:graphic>
      </p:graphicFrame>
      <p:sp>
        <p:nvSpPr>
          <p:cNvPr id="9" name="TextBox 8">
            <a:extLst>
              <a:ext uri="{FF2B5EF4-FFF2-40B4-BE49-F238E27FC236}">
                <a16:creationId xmlns:a16="http://schemas.microsoft.com/office/drawing/2014/main" id="{F1EC46CB-D802-3883-2499-77E7F53D6B4E}"/>
              </a:ext>
            </a:extLst>
          </p:cNvPr>
          <p:cNvSpPr txBox="1"/>
          <p:nvPr/>
        </p:nvSpPr>
        <p:spPr>
          <a:xfrm>
            <a:off x="6357" y="544652"/>
            <a:ext cx="1027922" cy="569387"/>
          </a:xfrm>
          <a:prstGeom prst="rect">
            <a:avLst/>
          </a:prstGeom>
          <a:noFill/>
          <a:ln>
            <a:solidFill>
              <a:schemeClr val="tx1"/>
            </a:solidFill>
          </a:ln>
        </p:spPr>
        <p:txBody>
          <a:bodyPr wrap="square" rtlCol="0">
            <a:spAutoFit/>
          </a:bodyPr>
          <a:lstStyle/>
          <a:p>
            <a:pPr algn="ctr"/>
            <a:r>
              <a:rPr lang="tr-TR" sz="1550" dirty="0">
                <a:latin typeface="+mn-lt"/>
              </a:rPr>
              <a:t>Takım Logosu</a:t>
            </a:r>
          </a:p>
        </p:txBody>
      </p:sp>
    </p:spTree>
    <p:extLst>
      <p:ext uri="{BB962C8B-B14F-4D97-AF65-F5344CB8AC3E}">
        <p14:creationId xmlns:p14="http://schemas.microsoft.com/office/powerpoint/2010/main" val="19026277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1124</TotalTime>
  <Words>3947</Words>
  <Application>Microsoft Office PowerPoint</Application>
  <PresentationFormat>Özel</PresentationFormat>
  <Paragraphs>607</Paragraphs>
  <Slides>29</Slides>
  <Notes>28</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29</vt:i4>
      </vt:variant>
    </vt:vector>
  </HeadingPairs>
  <TitlesOfParts>
    <vt:vector size="36" baseType="lpstr">
      <vt:lpstr>Arial</vt:lpstr>
      <vt:lpstr>Calibri</vt:lpstr>
      <vt:lpstr>Courier New</vt:lpstr>
      <vt:lpstr>Symbol</vt:lpstr>
      <vt:lpstr>Times New Roman</vt:lpstr>
      <vt:lpstr>Wingdings</vt:lpstr>
      <vt:lpstr>Office Theme</vt:lpstr>
      <vt:lpstr>UYARI </vt:lpstr>
      <vt:lpstr>UYARI </vt:lpstr>
      <vt:lpstr>TEKNOFEST 2026 Dikey İnişli Roket Yarışması  Atışa Hazırlık Raporu (AHR) Sunuşu Takım Adı </vt:lpstr>
      <vt:lpstr>Takım Yapısı</vt:lpstr>
      <vt:lpstr>Genel Bilgi </vt:lpstr>
      <vt:lpstr>PowerPoint Sunusu</vt:lpstr>
      <vt:lpstr>PowerPoint Sunusu</vt:lpstr>
      <vt:lpstr>PowerPoint Sunusu</vt:lpstr>
      <vt:lpstr>Operasyon Konsepti (CONOPS) </vt:lpstr>
      <vt:lpstr>PowerPoint Sunusu</vt:lpstr>
      <vt:lpstr>PowerPoint Sunusu</vt:lpstr>
      <vt:lpstr>PowerPoint Sunusu</vt:lpstr>
      <vt:lpstr>PowerPoint Sunusu</vt:lpstr>
      <vt:lpstr>PowerPoint Sunusu</vt:lpstr>
      <vt:lpstr>PowerPoint Sunusu</vt:lpstr>
      <vt:lpstr> Roket Alt Sistem Detayları   </vt:lpstr>
      <vt:lpstr>Pnömatik Sistem Tasarımı</vt:lpstr>
      <vt:lpstr>Pnömatik Sistem Tasarımı - Detay</vt:lpstr>
      <vt:lpstr>Pnömatik Sistem Tasarımı - Detay</vt:lpstr>
      <vt:lpstr>Pnömatik Sistem Testleri</vt:lpstr>
      <vt:lpstr>Pnömatik Sistem Testleri</vt:lpstr>
      <vt:lpstr>Pnömatik Sistem Testleri</vt:lpstr>
      <vt:lpstr>Pnömatik Sistem Testleri</vt:lpstr>
      <vt:lpstr>Pnömatik Sistem Testleri</vt:lpstr>
      <vt:lpstr>Pnömatik Sistem Testleri</vt:lpstr>
      <vt:lpstr>Mekanik Sistem Testleri</vt:lpstr>
      <vt:lpstr>Güdüm Navigasyon Kontrol Aviyonik</vt:lpstr>
      <vt:lpstr>Kütle Bütçesi </vt:lpstr>
      <vt:lpstr>AHR Puan Şablonu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Dikey_0ni_li_Roket-Ön_Tasar1m_Raporu_Format1-2024_V#01</dc:title>
  <dc:creator>Bilsay Sümer</dc:creator>
  <cp:lastModifiedBy>Fırat Mehmet Günkan</cp:lastModifiedBy>
  <cp:revision>53</cp:revision>
  <dcterms:created xsi:type="dcterms:W3CDTF">2023-12-28T12:21:18Z</dcterms:created>
  <dcterms:modified xsi:type="dcterms:W3CDTF">2026-07-03T09:10:45Z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2023-12-25T00:00:00Z</vt:filetime>
  </property>
  <property fmtid="{D5CDD505-2E9C-101B-9397-08002B2CF9AE}" pid="3" name="LastSaved">
    <vt:filetime>2023-12-28T00:00:00Z</vt:filetime>
  </property>
  <property fmtid="{D5CDD505-2E9C-101B-9397-08002B2CF9AE}" pid="4" name="Producer">
    <vt:lpwstr>Microsoft: Print To PDF</vt:lpwstr>
  </property>
</Properties>
</file>