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731520"/>
            <a:ext cx="3200400" cy="32004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0" y="-274320"/>
            <a:ext cx="2194560" cy="21945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T-SİSTEM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TEKNOFEST Yapay Zeka Destekli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Platformu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731520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7004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 — YZ Destekli Değerlendirme Sistemi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212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Takım: Mehmet  |  Birhan  |  Emre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Vakfı Bursiyer Yapay Zekâ Creathonu  ·  Ağustos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127248"/>
            <a:ext cx="1490472" cy="256032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27248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TAMAMLANDI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3127248"/>
            <a:ext cx="1490472" cy="256032"/>
          </a:xfrm>
          <a:prstGeom prst="roundRect">
            <a:avLst>
              <a:gd name="adj" fmla="val 35714"/>
            </a:avLst>
          </a:prstGeom>
          <a:solidFill>
            <a:srgbClr val="065F46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3127248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GEREKSİNİM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03320" y="3127248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92400E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31272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TANIMI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TEKNOFEST'te Değerlendirme Neden Zordur?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143000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Yüksek Hacim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100.000+ başvuru — sınırlı sayıda uzman hakem.Büyük kategorilerde hakem başına 200+ rapor.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Manuel Süreç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426464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dil kontrolü, şablon uyumu, başlık varlığı — bunların tümü hakem zamanı harcıyor. Tekrarlayan iş, değerlendirme kalitesini düşürüyor.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10972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Tutarsızlık Riski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1426464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hakemler aynı kriterleri farklı yorumluyor. Kriter bazlı standartlaşma mekanizması yok.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0B1F45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3502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9768" y="3995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TEKNOFEST başvurusu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342900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0B1F45"/>
          </a:solidFill>
          <a:ln/>
        </p:spPr>
      </p:sp>
      <p:sp>
        <p:nvSpPr>
          <p:cNvPr id="20" name="Text 18"/>
          <p:cNvSpPr/>
          <p:nvPr/>
        </p:nvSpPr>
        <p:spPr>
          <a:xfrm>
            <a:off x="2715768" y="3502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715768" y="3995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zamanı tekrarlayan kontrolde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342900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0B1F45"/>
          </a:solidFill>
          <a:ln/>
        </p:spPr>
      </p:sp>
      <p:sp>
        <p:nvSpPr>
          <p:cNvPr id="23" name="Text 21"/>
          <p:cNvSpPr/>
          <p:nvPr/>
        </p:nvSpPr>
        <p:spPr>
          <a:xfrm>
            <a:off x="5001768" y="3502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001768" y="3995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kontrol adımı manuel yapılıyor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342900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0B1F45"/>
          </a:solidFill>
          <a:ln/>
        </p:spPr>
      </p:sp>
      <p:sp>
        <p:nvSpPr>
          <p:cNvPr id="26" name="Text 24"/>
          <p:cNvSpPr/>
          <p:nvPr/>
        </p:nvSpPr>
        <p:spPr>
          <a:xfrm>
            <a:off x="7287768" y="3502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87768" y="3995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Koordinasyon gereken paydaş türü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645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Uzman hakem zamanının büyük kısmı değerlendirmeden önce, tekrarlayan ön kontrollere harcanıyor.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ÇÖZÜMÜMÜZ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T-Sistem Nedir?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4. Göz" — Yapay zeka değerlendirme sürecini tamamlar, yerine geçmez. Nihai karar her zaman uzman hakemde kalır.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5577840" cy="1645920"/>
          </a:xfrm>
          <a:prstGeom prst="roundRect">
            <a:avLst>
              <a:gd name="adj" fmla="val 6667"/>
            </a:avLst>
          </a:prstGeom>
          <a:solidFill>
            <a:srgbClr val="0F2D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Otomatik Ön Analiz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yüklendiğinde dil, şablon, başlık ve kategori uyumu saniyeler içinde kontrol edilir.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577840" cy="1645920"/>
          </a:xfrm>
          <a:prstGeom prst="roundRect">
            <a:avLst>
              <a:gd name="adj" fmla="val 6667"/>
            </a:avLst>
          </a:prstGeom>
          <a:solidFill>
            <a:srgbClr val="0F2D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Kriter Bazlı Puanlama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121408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her kriter için puan + gerekçe + güçlü/zayıf yön üretir. Hakem AI önerisini görür, onaylar veya düzenler.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520440"/>
            <a:ext cx="5577840" cy="1645920"/>
          </a:xfrm>
          <a:prstGeom prst="roundRect">
            <a:avLst>
              <a:gd name="adj" fmla="val 6667"/>
            </a:avLst>
          </a:prstGeom>
          <a:solidFill>
            <a:srgbClr val="0F2D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Benzerlik Tespiti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50208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ile başvurular arası çapraz benzerlik analizi. Yüksek skor → otomatik intihal uyarısı.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520440"/>
            <a:ext cx="5577840" cy="1645920"/>
          </a:xfrm>
          <a:prstGeom prst="roundRect">
            <a:avLst>
              <a:gd name="adj" fmla="val 6667"/>
            </a:avLst>
          </a:prstGeom>
          <a:solidFill>
            <a:srgbClr val="0F2D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Şeffaf Geri Bildirim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950208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tamamlandığında yarışmacıya kriter bazlı, okunabilir geri bildirim raporu iletilir.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ROLLERI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Ne Yapar?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143000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2816352" cy="3703320"/>
          </a:xfrm>
          <a:prstGeom prst="roundRect">
            <a:avLst>
              <a:gd name="adj" fmla="val 38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2816352" cy="566928"/>
          </a:xfrm>
          <a:prstGeom prst="roundRect">
            <a:avLst>
              <a:gd name="adj" fmla="val 19355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481328"/>
            <a:ext cx="2816352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8872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Yarışma Yöneticisi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Yarışma kategorisi ve aşama tanımlar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Rubrik ve değerlendirme kriterlerini belirler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Canlı operasyon panosunu izler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Hakem-rapor eşleştirmesini yönetir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9272" y="1143000"/>
            <a:ext cx="2816352" cy="3703320"/>
          </a:xfrm>
          <a:prstGeom prst="roundRect">
            <a:avLst>
              <a:gd name="adj" fmla="val 38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9272" y="1143000"/>
            <a:ext cx="2816352" cy="566928"/>
          </a:xfrm>
          <a:prstGeom prst="roundRect">
            <a:avLst>
              <a:gd name="adj" fmla="val 19355"/>
            </a:avLst>
          </a:prstGeom>
          <a:solidFill>
            <a:srgbClr val="0596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319272" y="1481328"/>
            <a:ext cx="2816352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410712" y="118872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Hakem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56432" y="184708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Atanan raporları görür ve inceler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56432" y="2505456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ön değerlendirme önerisini inceler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56432" y="316382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Kriter puanlarını onaylar veya düzenler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56432" y="382219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Nihai değerlendirmeyi tamamlar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18504" y="1143000"/>
            <a:ext cx="2816352" cy="3703320"/>
          </a:xfrm>
          <a:prstGeom prst="roundRect">
            <a:avLst>
              <a:gd name="adj" fmla="val 38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18504" y="1143000"/>
            <a:ext cx="2816352" cy="566928"/>
          </a:xfrm>
          <a:prstGeom prst="roundRect">
            <a:avLst>
              <a:gd name="adj" fmla="val 19355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18504" y="1481328"/>
            <a:ext cx="2816352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9944" y="118872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Yarışmacı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55664" y="184708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Takım kurar veya davete katılır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55664" y="2505456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Rapor yükler (PDF)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55664" y="316382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ön kontrol sonucunu anlık görür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55664" y="382219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Geri bildirim raporunu alır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17736" y="1143000"/>
            <a:ext cx="2816352" cy="3703320"/>
          </a:xfrm>
          <a:prstGeom prst="roundRect">
            <a:avLst>
              <a:gd name="adj" fmla="val 38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17736" y="1143000"/>
            <a:ext cx="2816352" cy="566928"/>
          </a:xfrm>
          <a:prstGeom prst="roundRect">
            <a:avLst>
              <a:gd name="adj" fmla="val 19355"/>
            </a:avLst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7736" y="1481328"/>
            <a:ext cx="2816352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9409176" y="118872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Admin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54896" y="184708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Kullanıcı oluşturma ve rol yönetimi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454896" y="2505456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Sistem ayarları ve yetkilendirme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454896" y="316382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Tüm yarışma verilerine erişim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ANALIZ PIPELINE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Aşamalı Rapor Analiz Süreci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yüklendiği andan hakem paneline ulaşana kadar — otomatik, paralel, ölçeklenebilir.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75688" y="1856232"/>
            <a:ext cx="228600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" y="1417320"/>
            <a:ext cx="1755648" cy="566928"/>
          </a:xfrm>
          <a:prstGeom prst="roundRect">
            <a:avLst>
              <a:gd name="adj" fmla="val 16129"/>
            </a:avLst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4447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" y="149961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Tespiti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2057400"/>
            <a:ext cx="1755648" cy="2423160"/>
          </a:xfrm>
          <a:prstGeom prst="roundRect">
            <a:avLst>
              <a:gd name="adj" fmla="val 5208"/>
            </a:avLst>
          </a:prstGeom>
          <a:solidFill>
            <a:srgbClr val="0F1F3D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48840"/>
            <a:ext cx="15727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dilden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tespiti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59936" y="1856232"/>
            <a:ext cx="228600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2276856" y="1417320"/>
            <a:ext cx="1755648" cy="566928"/>
          </a:xfrm>
          <a:prstGeom prst="roundRect">
            <a:avLst>
              <a:gd name="adj" fmla="val 16129"/>
            </a:avLst>
          </a:prstGeom>
          <a:solidFill>
            <a:srgbClr val="047857"/>
          </a:solidFill>
          <a:ln/>
        </p:spPr>
      </p:sp>
      <p:sp>
        <p:nvSpPr>
          <p:cNvPr id="15" name="Text 13"/>
          <p:cNvSpPr/>
          <p:nvPr/>
        </p:nvSpPr>
        <p:spPr>
          <a:xfrm>
            <a:off x="2276856" y="14447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60904" y="149961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Uyumu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76856" y="2057400"/>
            <a:ext cx="1755648" cy="2423160"/>
          </a:xfrm>
          <a:prstGeom prst="roundRect">
            <a:avLst>
              <a:gd name="adj" fmla="val 5208"/>
            </a:avLst>
          </a:prstGeom>
          <a:solidFill>
            <a:srgbClr val="0F1F3D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68296" y="2148840"/>
            <a:ext cx="15727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LLM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 bölüm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varlığı kontrolü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44184" y="1856232"/>
            <a:ext cx="228600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4261104" y="1417320"/>
            <a:ext cx="1755648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261104" y="14447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45152" y="149961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Analizi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61104" y="2057400"/>
            <a:ext cx="1755648" cy="2423160"/>
          </a:xfrm>
          <a:prstGeom prst="roundRect">
            <a:avLst>
              <a:gd name="adj" fmla="val 5208"/>
            </a:avLst>
          </a:prstGeom>
          <a:solidFill>
            <a:srgbClr val="0F1F3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2544" y="2148840"/>
            <a:ext cx="15727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Parsing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başlık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tespiti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28432" y="1856232"/>
            <a:ext cx="228600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Shape 24"/>
          <p:cNvSpPr/>
          <p:nvPr/>
        </p:nvSpPr>
        <p:spPr>
          <a:xfrm>
            <a:off x="6245352" y="1417320"/>
            <a:ext cx="1755648" cy="566928"/>
          </a:xfrm>
          <a:prstGeom prst="roundRect">
            <a:avLst>
              <a:gd name="adj" fmla="val 16129"/>
            </a:avLst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14447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149961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Benzerlik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5352" y="2057400"/>
            <a:ext cx="1755648" cy="2423160"/>
          </a:xfrm>
          <a:prstGeom prst="roundRect">
            <a:avLst>
              <a:gd name="adj" fmla="val 5208"/>
            </a:avLst>
          </a:prstGeom>
          <a:solidFill>
            <a:srgbClr val="0F1F3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148840"/>
            <a:ext cx="15727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İntihal riski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matrisi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12680" y="1856232"/>
            <a:ext cx="228600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1417320"/>
            <a:ext cx="1755648" cy="566928"/>
          </a:xfrm>
          <a:prstGeom prst="roundRect">
            <a:avLst>
              <a:gd name="adj" fmla="val 16129"/>
            </a:avLst>
          </a:prstGeom>
          <a:solidFill>
            <a:srgbClr val="BE185D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14447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613648" y="149961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 Puanlama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0" y="2057400"/>
            <a:ext cx="1755648" cy="2423160"/>
          </a:xfrm>
          <a:prstGeom prst="roundRect">
            <a:avLst>
              <a:gd name="adj" fmla="val 5208"/>
            </a:avLst>
          </a:prstGeom>
          <a:solidFill>
            <a:srgbClr val="0F1F3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2148840"/>
            <a:ext cx="15727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Rubrik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 + gerekçe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öneri üretimi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213848" y="1417320"/>
            <a:ext cx="1755648" cy="566928"/>
          </a:xfrm>
          <a:prstGeom prst="roundRect">
            <a:avLst>
              <a:gd name="adj" fmla="val 16129"/>
            </a:avLst>
          </a:prstGeom>
          <a:solidFill>
            <a:srgbClr val="065F46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14447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597896" y="149961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213848" y="2057400"/>
            <a:ext cx="1755648" cy="2423160"/>
          </a:xfrm>
          <a:prstGeom prst="roundRect">
            <a:avLst>
              <a:gd name="adj" fmla="val 5208"/>
            </a:avLst>
          </a:prstGeom>
          <a:solidFill>
            <a:srgbClr val="0F1F3D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05288" y="2148840"/>
            <a:ext cx="15727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Yarışmacıya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özelleştirilmiş rapor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0040" y="47548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adımlar asenkron işlenir — büyük yarışma hacimlerinde bile yanıt süresi stabil kalır.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1–3: ÖN KONTROL KATMANI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Dil, Şablon ve Başlık Kontrolü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143000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3749040" cy="356616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Dil Tespiti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2098548" cy="256032"/>
          </a:xfrm>
          <a:prstGeom prst="roundRect">
            <a:avLst>
              <a:gd name="adj" fmla="val 35714"/>
            </a:avLst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9344"/>
            <a:ext cx="20985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+ fasttext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Rapor dili otomatik tespit edilir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Beklenen kategori dilinden farklıysa uyarı üretilir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8269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Çoklu dil varlığı da işaretlenir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07408"/>
            <a:ext cx="1577340" cy="256032"/>
          </a:xfrm>
          <a:prstGeom prst="roundRect">
            <a:avLst>
              <a:gd name="adj" fmla="val 35714"/>
            </a:avLst>
          </a:prstGeom>
          <a:solidFill>
            <a:srgbClr val="065F4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407408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Oranı: &lt;%2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143000"/>
            <a:ext cx="3749040" cy="356616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Şablon Uyumu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34840" y="1609344"/>
            <a:ext cx="1924812" cy="256032"/>
          </a:xfrm>
          <a:prstGeom prst="roundRect">
            <a:avLst>
              <a:gd name="adj" fmla="val 35714"/>
            </a:avLst>
          </a:prstGeom>
          <a:solidFill>
            <a:srgbClr val="1E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609344"/>
            <a:ext cx="19248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LLM Parsing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1965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Kategori şartname şablonuna uygunluk skoru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6243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Zorunlu bölümlerin varlığı kontrol edilir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28269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Eksik bölümler listelenerek hakeme sunulur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4407408"/>
            <a:ext cx="1664208" cy="256032"/>
          </a:xfrm>
          <a:prstGeom prst="roundRect">
            <a:avLst>
              <a:gd name="adj" fmla="val 35714"/>
            </a:avLst>
          </a:prstGeom>
          <a:solidFill>
            <a:srgbClr val="065F46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440740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Kapsam: 6 şablon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75320" y="1143000"/>
            <a:ext cx="3749040" cy="356616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Başlık &amp; İçerik Analizi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0" y="1609344"/>
            <a:ext cx="1924812" cy="256032"/>
          </a:xfrm>
          <a:prstGeom prst="roundRect">
            <a:avLst>
              <a:gd name="adj" fmla="val 35714"/>
            </a:avLst>
          </a:prstGeom>
          <a:solidFill>
            <a:srgbClr val="1E3A8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609344"/>
            <a:ext cx="19248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+ Yapısal NLP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1965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Zorunlu başlıkların raporda yer aldığı doğrulanır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26243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Sayfa sayısı ve format uyumu kontrol edilir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328269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Kritik eksiklikler kırmızı ile vurgulanır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12480" y="4407408"/>
            <a:ext cx="969264" cy="256032"/>
          </a:xfrm>
          <a:prstGeom prst="roundRect">
            <a:avLst>
              <a:gd name="adj" fmla="val 35714"/>
            </a:avLst>
          </a:prstGeom>
          <a:solidFill>
            <a:srgbClr val="065F46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40740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809744"/>
            <a:ext cx="1143000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901184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 3 kontrol, bir yarışmacının gönderim öncesi hatalarını bulmasını sağlar — hakem görmeden önce sorun tespit edilir.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4: BENZERLIK &amp; İNTIHAL ANALIZI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 Benzerlik Matrisi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896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" y="12801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188720"/>
            <a:ext cx="923544" cy="9235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5331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1188720"/>
            <a:ext cx="923544" cy="9235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135331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34640" y="1188720"/>
            <a:ext cx="923544" cy="9235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35331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94760" y="1188720"/>
            <a:ext cx="923544" cy="9235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135331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923544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35331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896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" y="224028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2148840"/>
            <a:ext cx="923544" cy="9235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31343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74520" y="2148840"/>
            <a:ext cx="923544" cy="9235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1874520" y="231343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34640" y="2148840"/>
            <a:ext cx="923544" cy="9235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231343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94760" y="2148840"/>
            <a:ext cx="923544" cy="9235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231343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148840"/>
            <a:ext cx="923544" cy="9235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31343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80360" y="896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9728" y="320040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3108960"/>
            <a:ext cx="923544" cy="9235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27355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74520" y="3108960"/>
            <a:ext cx="923544" cy="9235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1874520" y="327355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34640" y="3108960"/>
            <a:ext cx="923544" cy="9235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2834640" y="327355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94760" y="3108960"/>
            <a:ext cx="923544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3794760" y="327355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108960"/>
            <a:ext cx="923544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27355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40480" y="896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9728" y="416052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R-004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14400" y="4069080"/>
            <a:ext cx="923544" cy="9235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423367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74520" y="4069080"/>
            <a:ext cx="923544" cy="9235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1874520" y="423367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834640" y="4069080"/>
            <a:ext cx="923544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0" y="423367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794760" y="4069080"/>
            <a:ext cx="923544" cy="9235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3794760" y="423367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4069080"/>
            <a:ext cx="923544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423367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00600" y="896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R-005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9728" y="51206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4400" y="5029200"/>
            <a:ext cx="923544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7" name="Text 55"/>
          <p:cNvSpPr/>
          <p:nvPr/>
        </p:nvSpPr>
        <p:spPr>
          <a:xfrm>
            <a:off x="914400" y="519379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874520" y="5029200"/>
            <a:ext cx="923544" cy="9235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9" name="Text 57"/>
          <p:cNvSpPr/>
          <p:nvPr/>
        </p:nvSpPr>
        <p:spPr>
          <a:xfrm>
            <a:off x="1874520" y="519379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834640" y="5029200"/>
            <a:ext cx="923544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1" name="Text 59"/>
          <p:cNvSpPr/>
          <p:nvPr/>
        </p:nvSpPr>
        <p:spPr>
          <a:xfrm>
            <a:off x="2834640" y="519379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794760" y="5029200"/>
            <a:ext cx="923544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1"/>
          <p:cNvSpPr/>
          <p:nvPr/>
        </p:nvSpPr>
        <p:spPr>
          <a:xfrm>
            <a:off x="3794760" y="519379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54880" y="5029200"/>
            <a:ext cx="923544" cy="9235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5" name="Text 63"/>
          <p:cNvSpPr/>
          <p:nvPr/>
        </p:nvSpPr>
        <p:spPr>
          <a:xfrm>
            <a:off x="4754880" y="5193792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583680" y="1371600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7" name="Text 65"/>
          <p:cNvSpPr/>
          <p:nvPr/>
        </p:nvSpPr>
        <p:spPr>
          <a:xfrm>
            <a:off x="6839712" y="1371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Risk (&gt;%70)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583680" y="182880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6839712" y="1828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(%40-69)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583680" y="2286000"/>
            <a:ext cx="20116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1" name="Text 69"/>
          <p:cNvSpPr/>
          <p:nvPr/>
        </p:nvSpPr>
        <p:spPr>
          <a:xfrm>
            <a:off x="6839712" y="2286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(%15-39)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583680" y="2743200"/>
            <a:ext cx="201168" cy="2011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3" name="Text 71"/>
          <p:cNvSpPr/>
          <p:nvPr/>
        </p:nvSpPr>
        <p:spPr>
          <a:xfrm>
            <a:off x="6839712" y="2743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(&lt;15%)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583680" y="3520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450A0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0" y="36118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Yüksek Benzerlik Uyarısı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766560" y="391363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R-001 &amp; R-003: %78 benzerlik tespit edildi.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incelemesi için otomatik işaretlendi.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20040" y="617220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Teknik: Sentence-BERT embedding + FAISS vektör arama + Cosine Similarity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5: LLM KRITER DEĞERLENDIRMESI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Tabanlı Yapay Zekâ Puanlama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143000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Çalışır?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47218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kriter başlığı, ağırlık ve maks puanı tanımlar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21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1305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kriter için optimize edilmiş LLM prompt şablonu oluşturulur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7977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779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2788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metni chunklara bölünür, ilgili bölümler seçilir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4472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Claude API JSON modda puan + gerekçe üretir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096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410565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AI önerisini görür: onaylar, düzenler veya geçersiz kılar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097280"/>
            <a:ext cx="5650992" cy="4160520"/>
          </a:xfrm>
          <a:prstGeom prst="roundRect">
            <a:avLst>
              <a:gd name="adj" fmla="val 2637"/>
            </a:avLst>
          </a:prstGeom>
          <a:solidFill>
            <a:srgbClr val="0B1F4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1887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AI Çıktısı — Kriter Değerlendirmesi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15727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Özgünlük ve Yenilikçilik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18320" y="15727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80760" y="1901952"/>
            <a:ext cx="3769614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20756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Yeterlilik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18320" y="20756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80760" y="2404872"/>
            <a:ext cx="3902659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25786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Fizibilite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18320" y="257860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80760" y="2907792"/>
            <a:ext cx="354787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30815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Etki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418320" y="30815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80760" y="3410712"/>
            <a:ext cx="3104388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35844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Kalitesi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418320" y="35844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80760" y="3913632"/>
            <a:ext cx="354787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Shape 38"/>
          <p:cNvSpPr/>
          <p:nvPr/>
        </p:nvSpPr>
        <p:spPr>
          <a:xfrm>
            <a:off x="6080760" y="4160520"/>
            <a:ext cx="443484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4224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81/100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80760" y="454456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"Proje yenilikçi ancak fizibilite bölümü maliyet analizinden yoksun. Hakem değerlendirmesi önerilir."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DENEYIMI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Paneli ve Canlı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0B1F45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521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Rapor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078992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0B1F45"/>
          </a:solidFill>
          <a:ln/>
        </p:spPr>
      </p:sp>
      <p:sp>
        <p:nvSpPr>
          <p:cNvPr id="10" name="Text 8"/>
          <p:cNvSpPr/>
          <p:nvPr/>
        </p:nvSpPr>
        <p:spPr>
          <a:xfrm>
            <a:off x="3282696" y="11521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82696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5896" y="1078992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0B1F45"/>
          </a:solidFill>
          <a:ln/>
        </p:spPr>
      </p:sp>
      <p:sp>
        <p:nvSpPr>
          <p:cNvPr id="13" name="Text 11"/>
          <p:cNvSpPr/>
          <p:nvPr/>
        </p:nvSpPr>
        <p:spPr>
          <a:xfrm>
            <a:off x="6135624" y="11521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35624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Ort. AI Puan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78824" y="1078992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0B1F45"/>
          </a:solidFill>
          <a:ln/>
        </p:spPr>
      </p:sp>
      <p:sp>
        <p:nvSpPr>
          <p:cNvPr id="16" name="Text 14"/>
          <p:cNvSpPr/>
          <p:nvPr/>
        </p:nvSpPr>
        <p:spPr>
          <a:xfrm>
            <a:off x="8988552" y="11521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88552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Benzerlik Uyarısı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İş Akışı: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276148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Atanan raporlar görevim gibi listelenir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329184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ön değerlendirme özeti hazır gelir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82219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Kriter puanlarını tek tıkla onayla / düzenle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" y="4352544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Benzerlik matrisini tek ekranda görüntüle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488289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Değerlendirme tamamlandığında otomatik bildirim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541324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AI ↔ Hakem uyum analizi ve sapma grafiği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2331720"/>
            <a:ext cx="5623560" cy="3520440"/>
          </a:xfrm>
          <a:prstGeom prst="roundRect">
            <a:avLst>
              <a:gd name="adj" fmla="val 3117"/>
            </a:avLst>
          </a:prstGeom>
          <a:solidFill>
            <a:srgbClr val="0F1F3D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4505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Durum Dağılımı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880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78240" y="2944368"/>
            <a:ext cx="1116037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11384280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Bekliyor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78240" y="3447288"/>
            <a:ext cx="689317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1384280" y="3383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8862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Analiz Tamam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78240" y="3950208"/>
            <a:ext cx="459545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113842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4389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78240" y="4453128"/>
            <a:ext cx="229772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11384280" y="4389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892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Hatalı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778240" y="4956048"/>
            <a:ext cx="65649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11384280" y="4892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YARIŞMACI DENEYIMI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Yarışmacı Portalı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143000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1430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7248" y="1353312"/>
            <a:ext cx="228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73736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Takım Kur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304288"/>
            <a:ext cx="25968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Takım adı, seviye ve danışman e-postasıyla takım oluşturulur. Davet kodu ile üyeler katılır.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6512" y="11430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096512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353312"/>
            <a:ext cx="228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319272" y="173736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Rapor Yükle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19272" y="2176272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304288"/>
            <a:ext cx="25968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formatında rapor yüklenir. AI ön kontrol otomatik başlar — dil, şablon, başlıklar kontrol edilir.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95744" y="11430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744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25712" y="1353312"/>
            <a:ext cx="228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318504" y="173736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Anlık Sonuç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18504" y="2176272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2304288"/>
            <a:ext cx="25968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kontrol tamamlandığında panoda yeşil/sarı/kırmızı durum gösterilir. Eksiklikler listelenir.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94976" y="11430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976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17736" y="173736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Geri Bildirim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317736" y="2176272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27464" y="2304288"/>
            <a:ext cx="25968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değerlendirmesi tamamlandığında kriter bazlı, gerekçeli geri bildirim raporu e-posta ile iletilir.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315968"/>
            <a:ext cx="11430000" cy="777240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4074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Takım Rolleri: Kaptan (takım yönetimi, üye daveti) · Danışman (özel rozet, salt-oku erişim) · Üye (rapor görüntüleme)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MIMARI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ve Teknoloji Yığını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1430000" cy="896112"/>
          </a:xfrm>
          <a:prstGeom prst="roundRect">
            <a:avLst>
              <a:gd name="adj" fmla="val 10204"/>
            </a:avLst>
          </a:prstGeom>
          <a:solidFill>
            <a:srgbClr val="0F1F3D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128016" cy="896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704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Python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207008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sayfalı web uygulaması, rol bazlı navigasyon, i18n (TR/EN)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11430000" cy="896112"/>
          </a:xfrm>
          <a:prstGeom prst="roundRect">
            <a:avLst>
              <a:gd name="adj" fmla="val 10204"/>
            </a:avLst>
          </a:prstGeom>
          <a:solidFill>
            <a:srgbClr val="0F1F3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84832"/>
            <a:ext cx="128016" cy="8961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579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4505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LangChain · spaCy · FAISS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kriter değerlendirmesi, embedding benzerlik, NLP analizi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11430000" cy="896112"/>
          </a:xfrm>
          <a:prstGeom prst="roundRect">
            <a:avLst>
              <a:gd name="adj" fmla="val 10204"/>
            </a:avLst>
          </a:prstGeom>
          <a:solidFill>
            <a:srgbClr val="0F1F3D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72384"/>
            <a:ext cx="128016" cy="89611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45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Servisler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4381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auth_service · SMTP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182112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benzeri oturum, e-posta bildirimleri, rapor işleme kuyruğu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59936"/>
            <a:ext cx="11430000" cy="896112"/>
          </a:xfrm>
          <a:prstGeom prst="roundRect">
            <a:avLst>
              <a:gd name="adj" fmla="val 10204"/>
            </a:avLst>
          </a:prstGeom>
          <a:solidFill>
            <a:srgbClr val="0F1F3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59936"/>
            <a:ext cx="128016" cy="8961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33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Katmanı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256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D1 (SQL) · R2 (dosya)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169664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dağıtık SQLite veritabanı, PDF depolama, sıfır DevOps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5047488"/>
            <a:ext cx="11430000" cy="896112"/>
          </a:xfrm>
          <a:prstGeom prst="roundRect">
            <a:avLst>
              <a:gd name="adj" fmla="val 10204"/>
            </a:avLst>
          </a:prstGeom>
          <a:solidFill>
            <a:srgbClr val="0F1F3D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5047488"/>
            <a:ext cx="128016" cy="89611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OAuth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5413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 · E-posta + Parola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5157216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üzerinde OAuth akışı, KVKK uyumlu kayıt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DURUMU &amp; ETKI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Gereksinimler Tamamlandı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143000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5623560" cy="1024128"/>
          </a:xfrm>
          <a:prstGeom prst="roundRect">
            <a:avLst>
              <a:gd name="adj" fmla="val 892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9844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261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Dil ve Şablon Uygunluk Kontrolü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1719072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71907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5623560" cy="1024128"/>
          </a:xfrm>
          <a:prstGeom prst="roundRect">
            <a:avLst>
              <a:gd name="adj" fmla="val 892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129844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1298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1261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Başlık ve İçerik Analizi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1719072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71907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313432"/>
            <a:ext cx="5623560" cy="1024128"/>
          </a:xfrm>
          <a:prstGeom prst="roundRect">
            <a:avLst>
              <a:gd name="adj" fmla="val 892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46888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4323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Kategori Uygunluğu ve Benzerlik Matrisi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2889504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88950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313432"/>
            <a:ext cx="5623560" cy="1024128"/>
          </a:xfrm>
          <a:prstGeom prst="roundRect">
            <a:avLst>
              <a:gd name="adj" fmla="val 892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3368" y="246888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4323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Kriter Değerlendirmesi (Rubrik Bazlı)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12280" y="2889504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288950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483864"/>
            <a:ext cx="5623560" cy="1024128"/>
          </a:xfrm>
          <a:prstGeom prst="roundRect">
            <a:avLst>
              <a:gd name="adj" fmla="val 892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63931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3639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36027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Geri Bildirim Raporu Üretimi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4400" y="4059936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05993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483864"/>
            <a:ext cx="5623560" cy="1024128"/>
          </a:xfrm>
          <a:prstGeom prst="roundRect">
            <a:avLst>
              <a:gd name="adj" fmla="val 892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3368" y="363931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6373368" y="3639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36027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Hakem Dashboard ve Yönetim Paneli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812280" y="4059936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405993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4754880"/>
            <a:ext cx="11430000" cy="804672"/>
          </a:xfrm>
          <a:prstGeom prst="roundRect">
            <a:avLst>
              <a:gd name="adj" fmla="val 11364"/>
            </a:avLst>
          </a:prstGeom>
          <a:solidFill>
            <a:srgbClr val="0B1F45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800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0080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Gereksinimi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84448" y="4800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584448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Derinliği Skoru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28816" y="4800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528816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Kullanıcı Kapsamı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473184" y="4800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9473184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Hazır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5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Takımımız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9436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T-SİSTEM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TEKNOFEST YZ Destekli Değerlendirme Platformu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54864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0F2D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Geliştirici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UI ve entegrasyon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22402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0F2D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3317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Birhan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056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Mühendisi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 ve embedding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83880" y="22402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0F2D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3317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Veri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analitik ve UX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Vakfı Bursiyer Yapay Zekâ Creathonu  ·  Problem 4  ·  Ağustos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7091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709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%100 TAMAMLANDI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97480" y="4709160"/>
            <a:ext cx="1664208" cy="256032"/>
          </a:xfrm>
          <a:prstGeom prst="roundRect">
            <a:avLst>
              <a:gd name="adj" fmla="val 35714"/>
            </a:avLst>
          </a:prstGeom>
          <a:solidFill>
            <a:srgbClr val="065F46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470916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 HAZIR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4709160"/>
            <a:ext cx="1924812" cy="256032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709160"/>
            <a:ext cx="19248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SUNUM: AĞUSTOS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2026-08-25T18:04:08Z</dcterms:created>
  <dcterms:modified xsi:type="dcterms:W3CDTF">2026-08-25T18:04:08Z</dcterms:modified>
</cp:coreProperties>
</file>