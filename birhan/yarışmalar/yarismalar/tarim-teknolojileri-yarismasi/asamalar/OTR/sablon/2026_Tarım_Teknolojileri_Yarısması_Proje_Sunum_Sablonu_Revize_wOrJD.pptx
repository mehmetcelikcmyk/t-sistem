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70" r:id="rId2"/>
    <p:sldId id="273" r:id="rId3"/>
    <p:sldId id="276" r:id="rId4"/>
    <p:sldId id="277" r:id="rId5"/>
    <p:sldId id="278" r:id="rId6"/>
    <p:sldId id="279" r:id="rId7"/>
    <p:sldId id="262" r:id="rId8"/>
    <p:sldId id="288" r:id="rId9"/>
    <p:sldId id="280" r:id="rId10"/>
    <p:sldId id="287" r:id="rId11"/>
    <p:sldId id="284" r:id="rId12"/>
    <p:sldId id="285" r:id="rId13"/>
    <p:sldId id="267" r:id="rId14"/>
  </p:sldIdLst>
  <p:sldSz cx="18288000" cy="10287000"/>
  <p:notesSz cx="6858000" cy="9144000"/>
  <p:embeddedFontLst>
    <p:embeddedFont>
      <p:font typeface="Active Heart" panose="020B0604020202020204" charset="-128"/>
      <p:regular r:id="rId16"/>
    </p:embeddedFont>
    <p:embeddedFont>
      <p:font typeface="Aileron" panose="020B0604020202020204" charset="-94"/>
      <p:regular r:id="rId17"/>
    </p:embeddedFont>
    <p:embeddedFont>
      <p:font typeface="Aileron Bold" panose="020B0604020202020204" charset="-94"/>
      <p:regular r:id="rId18"/>
      <p:bold r:id="rId19"/>
    </p:embeddedFont>
    <p:embeddedFont>
      <p:font typeface="Aileron Bold Italics" panose="020B0604020202020204" charset="-94"/>
      <p:regular r:id="rId20"/>
      <p:bold r:id="rId21"/>
      <p:italic r:id="rId22"/>
      <p:boldItalic r:id="rId23"/>
    </p:embeddedFont>
    <p:embeddedFont>
      <p:font typeface="Aileron Ultra-Bold" panose="020B0604020202020204" charset="-94"/>
      <p:regular r:id="rId24"/>
      <p:bold r:id="rId25"/>
    </p:embeddedFont>
    <p:embeddedFont>
      <p:font typeface="Arial Black" panose="020B0A04020102020204" pitchFamily="34" charset="0"/>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0495207-2648-AC9A-99DA-C80A0E75CDD1}" name="Elifnur ŞAHİN" initials="ENŞ" userId="Elifnur ŞAH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A0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552" autoAdjust="0"/>
  </p:normalViewPr>
  <p:slideViewPr>
    <p:cSldViewPr>
      <p:cViewPr varScale="1">
        <p:scale>
          <a:sx n="70" d="100"/>
          <a:sy n="70" d="100"/>
        </p:scale>
        <p:origin x="73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E22E5-1583-4998-9D3E-1C704A07CEF8}" type="datetimeFigureOut">
              <a:rPr lang="tr-TR" smtClean="0"/>
              <a:t>10.06.2026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CC965D-C147-4619-915A-6E6CB58E6415}" type="slidenum">
              <a:rPr lang="tr-TR" smtClean="0"/>
              <a:t>‹#›</a:t>
            </a:fld>
            <a:endParaRPr lang="tr-TR"/>
          </a:p>
        </p:txBody>
      </p:sp>
    </p:spTree>
    <p:extLst>
      <p:ext uri="{BB962C8B-B14F-4D97-AF65-F5344CB8AC3E}">
        <p14:creationId xmlns:p14="http://schemas.microsoft.com/office/powerpoint/2010/main" val="1031666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2</a:t>
            </a:fld>
            <a:endParaRPr lang="tr-TR"/>
          </a:p>
        </p:txBody>
      </p:sp>
    </p:spTree>
    <p:extLst>
      <p:ext uri="{BB962C8B-B14F-4D97-AF65-F5344CB8AC3E}">
        <p14:creationId xmlns:p14="http://schemas.microsoft.com/office/powerpoint/2010/main" val="3125310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3</a:t>
            </a:fld>
            <a:endParaRPr lang="tr-TR"/>
          </a:p>
        </p:txBody>
      </p:sp>
    </p:spTree>
    <p:extLst>
      <p:ext uri="{BB962C8B-B14F-4D97-AF65-F5344CB8AC3E}">
        <p14:creationId xmlns:p14="http://schemas.microsoft.com/office/powerpoint/2010/main" val="374132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6</a:t>
            </a:fld>
            <a:endParaRPr lang="tr-TR"/>
          </a:p>
        </p:txBody>
      </p:sp>
    </p:spTree>
    <p:extLst>
      <p:ext uri="{BB962C8B-B14F-4D97-AF65-F5344CB8AC3E}">
        <p14:creationId xmlns:p14="http://schemas.microsoft.com/office/powerpoint/2010/main" val="3911524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9</a:t>
            </a:fld>
            <a:endParaRPr lang="tr-TR"/>
          </a:p>
        </p:txBody>
      </p:sp>
    </p:spTree>
    <p:extLst>
      <p:ext uri="{BB962C8B-B14F-4D97-AF65-F5344CB8AC3E}">
        <p14:creationId xmlns:p14="http://schemas.microsoft.com/office/powerpoint/2010/main" val="2280441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10</a:t>
            </a:fld>
            <a:endParaRPr lang="tr-TR"/>
          </a:p>
        </p:txBody>
      </p:sp>
    </p:spTree>
    <p:extLst>
      <p:ext uri="{BB962C8B-B14F-4D97-AF65-F5344CB8AC3E}">
        <p14:creationId xmlns:p14="http://schemas.microsoft.com/office/powerpoint/2010/main" val="1967894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13</a:t>
            </a:fld>
            <a:endParaRPr lang="tr-TR"/>
          </a:p>
        </p:txBody>
      </p:sp>
    </p:spTree>
    <p:extLst>
      <p:ext uri="{BB962C8B-B14F-4D97-AF65-F5344CB8AC3E}">
        <p14:creationId xmlns:p14="http://schemas.microsoft.com/office/powerpoint/2010/main" val="2204376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4EA242C-E71C-674D-9D50-0773AC2C14A1}" type="datetime1">
              <a:rPr lang="tr-TR" smtClean="0"/>
              <a:t>10.06.2026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EA6977-19DC-0041-826C-6EFA3D4D0D04}" type="datetime1">
              <a:rPr lang="tr-TR" smtClean="0"/>
              <a:t>10.06.2026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210F57-2F22-F349-9593-848B074953AE}" type="datetime1">
              <a:rPr lang="tr-TR" smtClean="0"/>
              <a:t>10.06.2026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974EB8C-A17B-DB43-924F-D2680DB98EBC}" type="datetime1">
              <a:rPr lang="tr-TR" smtClean="0"/>
              <a:t>10.06.2026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A94A05-C0C8-EC44-B96A-404C45AA149D}" type="datetime1">
              <a:rPr lang="tr-TR" smtClean="0"/>
              <a:t>10.06.2026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18E1DA0-7FB5-024A-B31A-FAE7E1B033FF}" type="datetime1">
              <a:rPr lang="tr-TR" smtClean="0"/>
              <a:t>10.06.2026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719573-F49F-1D4E-BB1B-10BF79D1F4C2}" type="datetime1">
              <a:rPr lang="tr-TR" smtClean="0"/>
              <a:t>10.06.2026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66BCEB-F171-0349-8C5B-9A02B29C3E59}" type="datetime1">
              <a:rPr lang="tr-TR" smtClean="0"/>
              <a:t>10.06.2026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54072B-CF8D-1947-8767-4142311E0054}" type="datetime1">
              <a:rPr lang="tr-TR" smtClean="0"/>
              <a:t>10.06.2026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CED821-8563-F34E-8B37-2AE2BCEB6A2F}" type="datetime1">
              <a:rPr lang="tr-TR" smtClean="0"/>
              <a:t>10.06.2026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3AE1FC-B444-CE43-B5AA-3DAFB0AD3E68}" type="datetime1">
              <a:rPr lang="tr-TR" smtClean="0"/>
              <a:t>10.06.2026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BE2C47-6547-CA48-9B52-F4619CAA901C}" type="datetime1">
              <a:rPr lang="tr-TR" smtClean="0"/>
              <a:t>10.06.2026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8.svg"/><Relationship Id="rId3" Type="http://schemas.openxmlformats.org/officeDocument/2006/relationships/image" Target="../media/image10.png"/><Relationship Id="rId7" Type="http://schemas.openxmlformats.org/officeDocument/2006/relationships/image" Target="../media/image14.svg"/><Relationship Id="rId12" Type="http://schemas.openxmlformats.org/officeDocument/2006/relationships/image" Target="../media/image7.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6.svg"/><Relationship Id="rId5" Type="http://schemas.openxmlformats.org/officeDocument/2006/relationships/image" Target="../media/image12.svg"/><Relationship Id="rId10" Type="http://schemas.openxmlformats.org/officeDocument/2006/relationships/image" Target="../media/image5.svg"/><Relationship Id="rId4" Type="http://schemas.openxmlformats.org/officeDocument/2006/relationships/image" Target="../media/image11.png"/><Relationship Id="rId9"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2417379" y="244324"/>
            <a:ext cx="14097000" cy="2194062"/>
          </a:xfrm>
          <a:prstGeom prst="rect">
            <a:avLst/>
          </a:prstGeom>
        </p:spPr>
        <p:txBody>
          <a:bodyPr wrap="square" lIns="0" tIns="0" rIns="0" bIns="0" rtlCol="0" anchor="t">
            <a:spAutoFit/>
          </a:bodyPr>
          <a:lstStyle/>
          <a:p>
            <a:pPr marL="0" marR="0" lvl="0" indent="0" algn="ctr" defTabSz="914400" rtl="0" eaLnBrk="1" fontAlgn="auto" latinLnBrk="0" hangingPunct="1">
              <a:lnSpc>
                <a:spcPts val="5759"/>
              </a:lnSpc>
              <a:spcBef>
                <a:spcPts val="0"/>
              </a:spcBef>
              <a:spcAft>
                <a:spcPts val="0"/>
              </a:spcAft>
              <a:buClrTx/>
              <a:buSzTx/>
              <a:buFontTx/>
              <a:buNone/>
              <a:tabLst/>
              <a:defRPr/>
            </a:pPr>
            <a:r>
              <a:rPr lang="tr-TR" sz="4400" b="1" dirty="0">
                <a:ln>
                  <a:solidFill>
                    <a:srgbClr val="002060"/>
                  </a:solidFill>
                </a:ln>
                <a:solidFill>
                  <a:schemeClr val="bg1"/>
                </a:solidFill>
                <a:latin typeface="Arial Black" panose="020B0A04020102020204" pitchFamily="34" charset="0"/>
              </a:rPr>
              <a:t>TARIM TEKNOLOJİLERİ YARIŞMASI</a:t>
            </a:r>
          </a:p>
          <a:p>
            <a:pPr marL="0" marR="0" lvl="0" indent="0" algn="ctr" defTabSz="914400" rtl="0" eaLnBrk="1" fontAlgn="auto" latinLnBrk="0" hangingPunct="1">
              <a:lnSpc>
                <a:spcPts val="5759"/>
              </a:lnSpc>
              <a:spcBef>
                <a:spcPts val="0"/>
              </a:spcBef>
              <a:spcAft>
                <a:spcPts val="0"/>
              </a:spcAft>
              <a:buClrTx/>
              <a:buSzTx/>
              <a:buFontTx/>
              <a:buNone/>
              <a:tabLst/>
              <a:defRPr/>
            </a:pPr>
            <a:r>
              <a:rPr lang="tr-TR" sz="4400" b="1" dirty="0">
                <a:ln>
                  <a:solidFill>
                    <a:srgbClr val="002060"/>
                  </a:solidFill>
                </a:ln>
                <a:solidFill>
                  <a:schemeClr val="bg1"/>
                </a:solidFill>
                <a:latin typeface="Arial Black" panose="020B0A04020102020204" pitchFamily="34" charset="0"/>
              </a:rPr>
              <a:t>YARIŞMASI</a:t>
            </a:r>
            <a:endParaRPr lang="en-US" sz="4400" b="1" dirty="0">
              <a:ln>
                <a:solidFill>
                  <a:srgbClr val="002060"/>
                </a:solidFill>
              </a:ln>
              <a:solidFill>
                <a:schemeClr val="bg1"/>
              </a:solidFill>
              <a:latin typeface="Arial Black" panose="020B0A04020102020204" pitchFamily="34" charset="0"/>
            </a:endParaRPr>
          </a:p>
          <a:p>
            <a:pPr marL="0" marR="0" lvl="0" indent="0" algn="ctr" defTabSz="914400" rtl="0" eaLnBrk="1" fontAlgn="auto" latinLnBrk="0" hangingPunct="1">
              <a:lnSpc>
                <a:spcPts val="5759"/>
              </a:lnSpc>
              <a:spcBef>
                <a:spcPts val="0"/>
              </a:spcBef>
              <a:spcAft>
                <a:spcPts val="0"/>
              </a:spcAft>
              <a:buClrTx/>
              <a:buSzTx/>
              <a:buFontTx/>
              <a:buNone/>
              <a:tabLst/>
              <a:defRPr/>
            </a:pPr>
            <a:r>
              <a:rPr lang="en-US" sz="4400" b="1" dirty="0">
                <a:ln>
                  <a:solidFill>
                    <a:srgbClr val="002060"/>
                  </a:solidFill>
                </a:ln>
                <a:solidFill>
                  <a:schemeClr val="bg1"/>
                </a:solidFill>
                <a:latin typeface="Arial Black" panose="020B0A04020102020204" pitchFamily="34" charset="0"/>
              </a:rPr>
              <a:t>PROJE SUNUMU</a:t>
            </a:r>
          </a:p>
        </p:txBody>
      </p:sp>
      <p:sp>
        <p:nvSpPr>
          <p:cNvPr id="4" name="Freeform 4"/>
          <p:cNvSpPr/>
          <p:nvPr/>
        </p:nvSpPr>
        <p:spPr>
          <a:xfrm>
            <a:off x="11615131" y="1748495"/>
            <a:ext cx="397785" cy="423176"/>
          </a:xfrm>
          <a:custGeom>
            <a:avLst/>
            <a:gdLst/>
            <a:ahLst/>
            <a:cxnLst/>
            <a:rect l="l" t="t" r="r" b="b"/>
            <a:pathLst>
              <a:path w="397785" h="423176">
                <a:moveTo>
                  <a:pt x="0" y="0"/>
                </a:moveTo>
                <a:lnTo>
                  <a:pt x="397786" y="0"/>
                </a:lnTo>
                <a:lnTo>
                  <a:pt x="397786" y="423176"/>
                </a:lnTo>
                <a:lnTo>
                  <a:pt x="0" y="4231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0" name="TextBox 10"/>
          <p:cNvSpPr txBox="1"/>
          <p:nvPr/>
        </p:nvSpPr>
        <p:spPr>
          <a:xfrm>
            <a:off x="1143000" y="2857500"/>
            <a:ext cx="14238557" cy="5519460"/>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PROJE ADI: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EĞİTİM SEV</a:t>
            </a: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İ</a:t>
            </a: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YES</a:t>
            </a: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İ</a:t>
            </a: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a:t>
            </a:r>
            <a:endPar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KONU BAŞLIĞI:</a:t>
            </a:r>
            <a:b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b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ADI: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BAŞVURU ID:</a:t>
            </a:r>
          </a:p>
        </p:txBody>
      </p:sp>
      <p:sp>
        <p:nvSpPr>
          <p:cNvPr id="11" name="TextBox 11"/>
          <p:cNvSpPr txBox="1"/>
          <p:nvPr/>
        </p:nvSpPr>
        <p:spPr>
          <a:xfrm>
            <a:off x="664779" y="9604236"/>
            <a:ext cx="17602200" cy="621030"/>
          </a:xfrm>
          <a:prstGeom prst="rect">
            <a:avLst/>
          </a:prstGeom>
        </p:spPr>
        <p:txBody>
          <a:bodyPr wrap="square" lIns="0" tIns="0" rIns="0" bIns="0" rtlCol="0" anchor="t">
            <a:sp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*Bu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kapak</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sayfasıdır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İstenilen</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bilgiler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doğru</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şekilde</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girilmelidir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Tüm</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sayfalarda</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olduğu</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gibi</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aynı</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şekilde</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kullanılmalı</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değişiklik</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yapılmamalıdır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p>
          <a:p>
            <a:pPr marL="0" marR="0" lvl="0" indent="0" algn="l" defTabSz="914400" rtl="0" eaLnBrk="1" fontAlgn="auto" latinLnBrk="0" hangingPunct="1">
              <a:lnSpc>
                <a:spcPts val="2520"/>
              </a:lnSpc>
              <a:spcBef>
                <a:spcPts val="0"/>
              </a:spcBef>
              <a:spcAft>
                <a:spcPts val="0"/>
              </a:spcAft>
              <a:buClrTx/>
              <a:buSzTx/>
              <a:buFontTx/>
              <a:buNone/>
              <a:tabLst/>
              <a:defRPr/>
            </a:pP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(Bu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açıklama</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silinmelidir</a:t>
            </a:r>
            <a:r>
              <a:rPr kumimoji="0" lang="en-US"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19">
            <a:extLst>
              <a:ext uri="{FF2B5EF4-FFF2-40B4-BE49-F238E27FC236}">
                <a16:creationId xmlns:a16="http://schemas.microsoft.com/office/drawing/2014/main" id="{BE803B92-EF9A-F13C-BEF5-CCD50BE44B64}"/>
              </a:ext>
            </a:extLst>
          </p:cNvPr>
          <p:cNvSpPr/>
          <p:nvPr/>
        </p:nvSpPr>
        <p:spPr>
          <a:xfrm>
            <a:off x="11433791" y="5161080"/>
            <a:ext cx="3603191" cy="1216358"/>
          </a:xfrm>
          <a:prstGeom prst="rect">
            <a:avLst/>
          </a:prstGeom>
          <a:solidFill>
            <a:schemeClr val="accent1"/>
          </a:solidFill>
        </p:spPr>
        <p:txBody>
          <a:bodyPr/>
          <a:lstStyle/>
          <a:p>
            <a:endParaRPr lang="tr-TR"/>
          </a:p>
        </p:txBody>
      </p:sp>
      <p:sp>
        <p:nvSpPr>
          <p:cNvPr id="4" name="AutoShape 20">
            <a:extLst>
              <a:ext uri="{FF2B5EF4-FFF2-40B4-BE49-F238E27FC236}">
                <a16:creationId xmlns:a16="http://schemas.microsoft.com/office/drawing/2014/main" id="{FE2CE7AC-4DC0-90F7-D5E1-EB1A8115752B}"/>
              </a:ext>
            </a:extLst>
          </p:cNvPr>
          <p:cNvSpPr/>
          <p:nvPr/>
        </p:nvSpPr>
        <p:spPr>
          <a:xfrm>
            <a:off x="7107505" y="5161080"/>
            <a:ext cx="3600486" cy="1216358"/>
          </a:xfrm>
          <a:prstGeom prst="rect">
            <a:avLst/>
          </a:prstGeom>
          <a:solidFill>
            <a:schemeClr val="tx2">
              <a:lumMod val="20000"/>
              <a:lumOff val="80000"/>
            </a:schemeClr>
          </a:solidFill>
        </p:spPr>
        <p:txBody>
          <a:bodyPr/>
          <a:lstStyle/>
          <a:p>
            <a:endParaRPr lang="tr-TR"/>
          </a:p>
        </p:txBody>
      </p:sp>
      <p:sp>
        <p:nvSpPr>
          <p:cNvPr id="5" name="AutoShape 21">
            <a:extLst>
              <a:ext uri="{FF2B5EF4-FFF2-40B4-BE49-F238E27FC236}">
                <a16:creationId xmlns:a16="http://schemas.microsoft.com/office/drawing/2014/main" id="{46422C15-799E-5EB7-B5E9-8BA9C4EEDF49}"/>
              </a:ext>
            </a:extLst>
          </p:cNvPr>
          <p:cNvSpPr/>
          <p:nvPr/>
        </p:nvSpPr>
        <p:spPr>
          <a:xfrm>
            <a:off x="11433791" y="3827439"/>
            <a:ext cx="3603191" cy="1216358"/>
          </a:xfrm>
          <a:prstGeom prst="rect">
            <a:avLst/>
          </a:prstGeom>
          <a:solidFill>
            <a:schemeClr val="tx2">
              <a:lumMod val="60000"/>
              <a:lumOff val="40000"/>
              <a:alpha val="80000"/>
            </a:schemeClr>
          </a:solidFill>
        </p:spPr>
        <p:txBody>
          <a:bodyPr/>
          <a:lstStyle/>
          <a:p>
            <a:endParaRPr lang="tr-TR"/>
          </a:p>
        </p:txBody>
      </p:sp>
      <p:sp>
        <p:nvSpPr>
          <p:cNvPr id="6" name="AutoShape 22">
            <a:extLst>
              <a:ext uri="{FF2B5EF4-FFF2-40B4-BE49-F238E27FC236}">
                <a16:creationId xmlns:a16="http://schemas.microsoft.com/office/drawing/2014/main" id="{29698772-78D0-19B9-C8AD-A4D017804E8D}"/>
              </a:ext>
            </a:extLst>
          </p:cNvPr>
          <p:cNvSpPr/>
          <p:nvPr/>
        </p:nvSpPr>
        <p:spPr>
          <a:xfrm>
            <a:off x="7107505" y="3827439"/>
            <a:ext cx="3600486" cy="1216358"/>
          </a:xfrm>
          <a:prstGeom prst="rect">
            <a:avLst/>
          </a:prstGeom>
          <a:solidFill>
            <a:schemeClr val="accent1">
              <a:lumMod val="40000"/>
              <a:lumOff val="60000"/>
              <a:alpha val="80000"/>
            </a:schemeClr>
          </a:solidFill>
          <a:ln cap="sq">
            <a:noFill/>
            <a:prstDash val="solid"/>
            <a:miter/>
          </a:ln>
        </p:spPr>
        <p:txBody>
          <a:bodyPr/>
          <a:lstStyle/>
          <a:p>
            <a:endParaRPr lang="tr-TR"/>
          </a:p>
        </p:txBody>
      </p:sp>
      <p:sp>
        <p:nvSpPr>
          <p:cNvPr id="7" name="AutoShape 32">
            <a:extLst>
              <a:ext uri="{FF2B5EF4-FFF2-40B4-BE49-F238E27FC236}">
                <a16:creationId xmlns:a16="http://schemas.microsoft.com/office/drawing/2014/main" id="{23F1317F-2868-2567-693C-FF66CA30A616}"/>
              </a:ext>
            </a:extLst>
          </p:cNvPr>
          <p:cNvSpPr/>
          <p:nvPr/>
        </p:nvSpPr>
        <p:spPr>
          <a:xfrm>
            <a:off x="7107505" y="6494721"/>
            <a:ext cx="3600486" cy="1216358"/>
          </a:xfrm>
          <a:prstGeom prst="rect">
            <a:avLst/>
          </a:prstGeom>
          <a:solidFill>
            <a:schemeClr val="accent1">
              <a:lumMod val="60000"/>
              <a:lumOff val="40000"/>
            </a:schemeClr>
          </a:solidFill>
        </p:spPr>
        <p:txBody>
          <a:bodyPr/>
          <a:lstStyle/>
          <a:p>
            <a:endParaRPr lang="tr-TR" dirty="0"/>
          </a:p>
        </p:txBody>
      </p:sp>
      <p:sp>
        <p:nvSpPr>
          <p:cNvPr id="8" name="Freeform 52">
            <a:extLst>
              <a:ext uri="{FF2B5EF4-FFF2-40B4-BE49-F238E27FC236}">
                <a16:creationId xmlns:a16="http://schemas.microsoft.com/office/drawing/2014/main" id="{40CEBFA7-E227-1A7B-5E38-F1B3B7C96487}"/>
              </a:ext>
            </a:extLst>
          </p:cNvPr>
          <p:cNvSpPr>
            <a:spLocks/>
          </p:cNvSpPr>
          <p:nvPr/>
        </p:nvSpPr>
        <p:spPr>
          <a:xfrm rot="10800000">
            <a:off x="4669386" y="5593845"/>
            <a:ext cx="173874" cy="150401"/>
          </a:xfrm>
          <a:custGeom>
            <a:avLst/>
            <a:gdLst/>
            <a:ahLst/>
            <a:cxnLst/>
            <a:rect l="l" t="t" r="r" b="b"/>
            <a:pathLst>
              <a:path w="173874" h="150401">
                <a:moveTo>
                  <a:pt x="0" y="0"/>
                </a:moveTo>
                <a:lnTo>
                  <a:pt x="173873" y="0"/>
                </a:lnTo>
                <a:lnTo>
                  <a:pt x="173873" y="150401"/>
                </a:lnTo>
                <a:lnTo>
                  <a:pt x="0" y="150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 name="TextBox 62">
            <a:extLst>
              <a:ext uri="{FF2B5EF4-FFF2-40B4-BE49-F238E27FC236}">
                <a16:creationId xmlns:a16="http://schemas.microsoft.com/office/drawing/2014/main" id="{B6734464-CB7F-F25B-FB81-ABBBE28E3AD4}"/>
              </a:ext>
            </a:extLst>
          </p:cNvPr>
          <p:cNvSpPr txBox="1"/>
          <p:nvPr/>
        </p:nvSpPr>
        <p:spPr>
          <a:xfrm>
            <a:off x="3373318" y="3328800"/>
            <a:ext cx="2745589" cy="410268"/>
          </a:xfrm>
          <a:prstGeom prst="rect">
            <a:avLst/>
          </a:prstGeom>
        </p:spPr>
        <p:txBody>
          <a:bodyPr lIns="0" tIns="0" rIns="0" bIns="0" rtlCol="0" anchor="t">
            <a:spAutoFit/>
          </a:bodyPr>
          <a:lstStyle/>
          <a:p>
            <a:pPr marL="0" lvl="0" indent="0" algn="ctr">
              <a:lnSpc>
                <a:spcPts val="3225"/>
              </a:lnSpc>
              <a:spcBef>
                <a:spcPct val="0"/>
              </a:spcBef>
            </a:pPr>
            <a:r>
              <a:rPr lang="en-US" sz="2462" spc="73">
                <a:solidFill>
                  <a:srgbClr val="1A426A"/>
                </a:solidFill>
                <a:latin typeface="Aileron Ultra-Bold"/>
              </a:rPr>
              <a:t>TAKIM YAPISI</a:t>
            </a:r>
          </a:p>
        </p:txBody>
      </p:sp>
      <p:sp>
        <p:nvSpPr>
          <p:cNvPr id="10" name="TextBox 63">
            <a:extLst>
              <a:ext uri="{FF2B5EF4-FFF2-40B4-BE49-F238E27FC236}">
                <a16:creationId xmlns:a16="http://schemas.microsoft.com/office/drawing/2014/main" id="{E6231985-CBD8-12DC-7371-FA8CDD9DA4CE}"/>
              </a:ext>
            </a:extLst>
          </p:cNvPr>
          <p:cNvSpPr txBox="1"/>
          <p:nvPr/>
        </p:nvSpPr>
        <p:spPr>
          <a:xfrm>
            <a:off x="8530137" y="3964547"/>
            <a:ext cx="1732974" cy="784574"/>
          </a:xfrm>
          <a:prstGeom prst="rect">
            <a:avLst/>
          </a:prstGeom>
        </p:spPr>
        <p:txBody>
          <a:bodyPr lIns="0" tIns="0" rIns="0" bIns="0" rtlCol="0" anchor="t">
            <a:spAutoFit/>
          </a:bodyPr>
          <a:lstStyle/>
          <a:p>
            <a:pPr algn="ctr">
              <a:lnSpc>
                <a:spcPts val="2088"/>
              </a:lnSpc>
            </a:pPr>
            <a:r>
              <a:rPr lang="en-US" sz="1492" dirty="0">
                <a:latin typeface="Aileron"/>
              </a:rPr>
              <a:t>ÜYE 1         TAKIMDAKİ GÖREVİ EĞİTİM BİLGİSİ</a:t>
            </a:r>
          </a:p>
        </p:txBody>
      </p:sp>
      <p:sp>
        <p:nvSpPr>
          <p:cNvPr id="11" name="TextBox 64">
            <a:extLst>
              <a:ext uri="{FF2B5EF4-FFF2-40B4-BE49-F238E27FC236}">
                <a16:creationId xmlns:a16="http://schemas.microsoft.com/office/drawing/2014/main" id="{79209DF3-FE1B-A12B-0DEF-9F89D2C74505}"/>
              </a:ext>
            </a:extLst>
          </p:cNvPr>
          <p:cNvSpPr txBox="1"/>
          <p:nvPr/>
        </p:nvSpPr>
        <p:spPr>
          <a:xfrm>
            <a:off x="3769415" y="5248350"/>
            <a:ext cx="1959088" cy="234744"/>
          </a:xfrm>
          <a:prstGeom prst="rect">
            <a:avLst/>
          </a:prstGeom>
        </p:spPr>
        <p:txBody>
          <a:bodyPr lIns="0" tIns="0" rIns="0" bIns="0" rtlCol="0" anchor="t">
            <a:spAutoFit/>
          </a:bodyPr>
          <a:lstStyle/>
          <a:p>
            <a:pPr algn="ctr">
              <a:lnSpc>
                <a:spcPts val="2010"/>
              </a:lnSpc>
            </a:pPr>
            <a:r>
              <a:rPr lang="tr-TR" sz="1436" dirty="0">
                <a:solidFill>
                  <a:srgbClr val="191919"/>
                </a:solidFill>
                <a:latin typeface="Aileron Bold"/>
              </a:rPr>
              <a:t>TAKIM DANIŞMANI</a:t>
            </a:r>
            <a:endParaRPr lang="en-US" sz="1436" dirty="0">
              <a:solidFill>
                <a:srgbClr val="191919"/>
              </a:solidFill>
              <a:latin typeface="Aileron Bold"/>
            </a:endParaRPr>
          </a:p>
        </p:txBody>
      </p:sp>
      <p:sp>
        <p:nvSpPr>
          <p:cNvPr id="12" name="TextBox 65">
            <a:extLst>
              <a:ext uri="{FF2B5EF4-FFF2-40B4-BE49-F238E27FC236}">
                <a16:creationId xmlns:a16="http://schemas.microsoft.com/office/drawing/2014/main" id="{8B0DF083-2D4C-AC3A-C943-7059224337F6}"/>
              </a:ext>
            </a:extLst>
          </p:cNvPr>
          <p:cNvSpPr txBox="1">
            <a:spLocks/>
          </p:cNvSpPr>
          <p:nvPr/>
        </p:nvSpPr>
        <p:spPr>
          <a:xfrm>
            <a:off x="3784302" y="7182466"/>
            <a:ext cx="1959088" cy="234744"/>
          </a:xfrm>
          <a:prstGeom prst="rect">
            <a:avLst/>
          </a:prstGeom>
        </p:spPr>
        <p:txBody>
          <a:bodyPr lIns="0" tIns="0" rIns="0" bIns="0" rtlCol="0" anchor="t">
            <a:spAutoFit/>
          </a:bodyPr>
          <a:lstStyle/>
          <a:p>
            <a:pPr algn="ctr">
              <a:lnSpc>
                <a:spcPts val="2010"/>
              </a:lnSpc>
            </a:pPr>
            <a:r>
              <a:rPr lang="tr-TR" sz="1436" dirty="0">
                <a:solidFill>
                  <a:srgbClr val="191919"/>
                </a:solidFill>
                <a:latin typeface="Aileron Bold"/>
              </a:rPr>
              <a:t>TAKIM KAPTANI</a:t>
            </a:r>
            <a:endParaRPr lang="en-US" sz="1436" dirty="0">
              <a:solidFill>
                <a:srgbClr val="191919"/>
              </a:solidFill>
              <a:latin typeface="Aileron Bold"/>
            </a:endParaRPr>
          </a:p>
        </p:txBody>
      </p:sp>
      <p:sp>
        <p:nvSpPr>
          <p:cNvPr id="13" name="TextBox 66">
            <a:extLst>
              <a:ext uri="{FF2B5EF4-FFF2-40B4-BE49-F238E27FC236}">
                <a16:creationId xmlns:a16="http://schemas.microsoft.com/office/drawing/2014/main" id="{80453772-24BB-C475-DA30-DE5409DC1855}"/>
              </a:ext>
            </a:extLst>
          </p:cNvPr>
          <p:cNvSpPr txBox="1"/>
          <p:nvPr/>
        </p:nvSpPr>
        <p:spPr>
          <a:xfrm>
            <a:off x="8530137" y="5236376"/>
            <a:ext cx="1732974" cy="784574"/>
          </a:xfrm>
          <a:prstGeom prst="rect">
            <a:avLst/>
          </a:prstGeom>
        </p:spPr>
        <p:txBody>
          <a:bodyPr lIns="0" tIns="0" rIns="0" bIns="0" rtlCol="0" anchor="t">
            <a:spAutoFit/>
          </a:bodyPr>
          <a:lstStyle/>
          <a:p>
            <a:pPr algn="ctr">
              <a:lnSpc>
                <a:spcPts val="2088"/>
              </a:lnSpc>
            </a:pPr>
            <a:r>
              <a:rPr lang="en-US" sz="1492" dirty="0">
                <a:latin typeface="Aileron"/>
              </a:rPr>
              <a:t>ÜYE 2         TAKIMDAKİ GÖREVİ EĞİTİM BİLGİSİ</a:t>
            </a:r>
          </a:p>
        </p:txBody>
      </p:sp>
      <p:sp>
        <p:nvSpPr>
          <p:cNvPr id="14" name="TextBox 67">
            <a:extLst>
              <a:ext uri="{FF2B5EF4-FFF2-40B4-BE49-F238E27FC236}">
                <a16:creationId xmlns:a16="http://schemas.microsoft.com/office/drawing/2014/main" id="{7016BA19-32A6-B290-BCE2-AEC8D3BA9353}"/>
              </a:ext>
            </a:extLst>
          </p:cNvPr>
          <p:cNvSpPr txBox="1"/>
          <p:nvPr/>
        </p:nvSpPr>
        <p:spPr>
          <a:xfrm>
            <a:off x="8530137" y="6629648"/>
            <a:ext cx="1732974" cy="784574"/>
          </a:xfrm>
          <a:prstGeom prst="rect">
            <a:avLst/>
          </a:prstGeom>
        </p:spPr>
        <p:txBody>
          <a:bodyPr lIns="0" tIns="0" rIns="0" bIns="0" rtlCol="0" anchor="t">
            <a:spAutoFit/>
          </a:bodyPr>
          <a:lstStyle/>
          <a:p>
            <a:pPr algn="ctr">
              <a:lnSpc>
                <a:spcPts val="2088"/>
              </a:lnSpc>
            </a:pPr>
            <a:r>
              <a:rPr lang="en-US" sz="1492" dirty="0">
                <a:latin typeface="Aileron"/>
              </a:rPr>
              <a:t>ÜYE 3        TAKIMDAKİ GÖREVİ EĞİTİM BİLGİSİ</a:t>
            </a:r>
          </a:p>
        </p:txBody>
      </p:sp>
      <p:sp>
        <p:nvSpPr>
          <p:cNvPr id="15" name="TextBox 70">
            <a:extLst>
              <a:ext uri="{FF2B5EF4-FFF2-40B4-BE49-F238E27FC236}">
                <a16:creationId xmlns:a16="http://schemas.microsoft.com/office/drawing/2014/main" id="{D3597450-D782-6B61-75B2-DD2FCE299C7B}"/>
              </a:ext>
            </a:extLst>
          </p:cNvPr>
          <p:cNvSpPr txBox="1"/>
          <p:nvPr/>
        </p:nvSpPr>
        <p:spPr>
          <a:xfrm>
            <a:off x="13042228" y="3947516"/>
            <a:ext cx="1757927" cy="784574"/>
          </a:xfrm>
          <a:prstGeom prst="rect">
            <a:avLst/>
          </a:prstGeom>
        </p:spPr>
        <p:txBody>
          <a:bodyPr lIns="0" tIns="0" rIns="0" bIns="0" rtlCol="0" anchor="t">
            <a:spAutoFit/>
          </a:bodyPr>
          <a:lstStyle/>
          <a:p>
            <a:pPr algn="ctr">
              <a:lnSpc>
                <a:spcPts val="2088"/>
              </a:lnSpc>
            </a:pPr>
            <a:r>
              <a:rPr lang="en-US" sz="1492" dirty="0">
                <a:latin typeface="Aileron"/>
              </a:rPr>
              <a:t>ÜYE </a:t>
            </a:r>
            <a:r>
              <a:rPr lang="tr-TR" sz="1492" dirty="0">
                <a:latin typeface="Aileron"/>
              </a:rPr>
              <a:t>4</a:t>
            </a:r>
            <a:r>
              <a:rPr lang="en-US" sz="1492" dirty="0">
                <a:latin typeface="Aileron"/>
              </a:rPr>
              <a:t>        TAKIMDAKİ GÖREVİ EĞİTİM BİLGİSİ</a:t>
            </a:r>
          </a:p>
        </p:txBody>
      </p:sp>
      <p:sp>
        <p:nvSpPr>
          <p:cNvPr id="16" name="TextBox 71">
            <a:extLst>
              <a:ext uri="{FF2B5EF4-FFF2-40B4-BE49-F238E27FC236}">
                <a16:creationId xmlns:a16="http://schemas.microsoft.com/office/drawing/2014/main" id="{30FEBC42-F8E9-373F-C249-3145CC9E4088}"/>
              </a:ext>
            </a:extLst>
          </p:cNvPr>
          <p:cNvSpPr txBox="1"/>
          <p:nvPr/>
        </p:nvSpPr>
        <p:spPr>
          <a:xfrm>
            <a:off x="13032002" y="5300665"/>
            <a:ext cx="1732974" cy="784574"/>
          </a:xfrm>
          <a:prstGeom prst="rect">
            <a:avLst/>
          </a:prstGeom>
        </p:spPr>
        <p:txBody>
          <a:bodyPr lIns="0" tIns="0" rIns="0" bIns="0" rtlCol="0" anchor="t">
            <a:spAutoFit/>
          </a:bodyPr>
          <a:lstStyle/>
          <a:p>
            <a:pPr algn="ctr">
              <a:lnSpc>
                <a:spcPts val="2088"/>
              </a:lnSpc>
            </a:pPr>
            <a:r>
              <a:rPr lang="en-US" sz="1492" dirty="0">
                <a:latin typeface="Aileron"/>
              </a:rPr>
              <a:t>ÜYE </a:t>
            </a:r>
            <a:r>
              <a:rPr lang="tr-TR" sz="1492" dirty="0">
                <a:latin typeface="Aileron"/>
              </a:rPr>
              <a:t>5</a:t>
            </a:r>
            <a:r>
              <a:rPr lang="en-US" sz="1492" dirty="0">
                <a:latin typeface="Aileron"/>
              </a:rPr>
              <a:t>         TAKIMDAKİ GÖREVİ EĞİTİM BİLGİSİ</a:t>
            </a:r>
          </a:p>
        </p:txBody>
      </p:sp>
      <p:sp>
        <p:nvSpPr>
          <p:cNvPr id="17" name="Dikdörtgen 16">
            <a:extLst>
              <a:ext uri="{FF2B5EF4-FFF2-40B4-BE49-F238E27FC236}">
                <a16:creationId xmlns:a16="http://schemas.microsoft.com/office/drawing/2014/main" id="{CD5EF3AF-AF19-A1F5-BDEA-764ED16219B4}"/>
              </a:ext>
            </a:extLst>
          </p:cNvPr>
          <p:cNvSpPr/>
          <p:nvPr/>
        </p:nvSpPr>
        <p:spPr>
          <a:xfrm>
            <a:off x="4101769" y="3876723"/>
            <a:ext cx="1302593" cy="1192708"/>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8" name="Dikdörtgen 17">
            <a:extLst>
              <a:ext uri="{FF2B5EF4-FFF2-40B4-BE49-F238E27FC236}">
                <a16:creationId xmlns:a16="http://schemas.microsoft.com/office/drawing/2014/main" id="{F1CADE96-E4CC-F814-B4B0-86E4268DAE08}"/>
              </a:ext>
            </a:extLst>
          </p:cNvPr>
          <p:cNvSpPr/>
          <p:nvPr/>
        </p:nvSpPr>
        <p:spPr>
          <a:xfrm>
            <a:off x="4106125" y="5843312"/>
            <a:ext cx="1302593" cy="1192708"/>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Dikdörtgen 18">
            <a:extLst>
              <a:ext uri="{FF2B5EF4-FFF2-40B4-BE49-F238E27FC236}">
                <a16:creationId xmlns:a16="http://schemas.microsoft.com/office/drawing/2014/main" id="{5C4492AC-AF5F-DF77-1499-85EB5240A0E9}"/>
              </a:ext>
            </a:extLst>
          </p:cNvPr>
          <p:cNvSpPr/>
          <p:nvPr/>
        </p:nvSpPr>
        <p:spPr>
          <a:xfrm>
            <a:off x="7315200" y="3924300"/>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Dikdörtgen 19">
            <a:extLst>
              <a:ext uri="{FF2B5EF4-FFF2-40B4-BE49-F238E27FC236}">
                <a16:creationId xmlns:a16="http://schemas.microsoft.com/office/drawing/2014/main" id="{9B138ACC-4A8A-595C-80D5-D8232A1D3692}"/>
              </a:ext>
            </a:extLst>
          </p:cNvPr>
          <p:cNvSpPr/>
          <p:nvPr/>
        </p:nvSpPr>
        <p:spPr>
          <a:xfrm>
            <a:off x="7315200" y="5277386"/>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Dikdörtgen 20">
            <a:extLst>
              <a:ext uri="{FF2B5EF4-FFF2-40B4-BE49-F238E27FC236}">
                <a16:creationId xmlns:a16="http://schemas.microsoft.com/office/drawing/2014/main" id="{B07796D0-C95F-36D3-4F2D-95473D214482}"/>
              </a:ext>
            </a:extLst>
          </p:cNvPr>
          <p:cNvSpPr/>
          <p:nvPr/>
        </p:nvSpPr>
        <p:spPr>
          <a:xfrm>
            <a:off x="7315200" y="6631423"/>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2" name="Dikdörtgen 21">
            <a:extLst>
              <a:ext uri="{FF2B5EF4-FFF2-40B4-BE49-F238E27FC236}">
                <a16:creationId xmlns:a16="http://schemas.microsoft.com/office/drawing/2014/main" id="{FEC392A7-28BC-A3CA-1AE0-E737C697F206}"/>
              </a:ext>
            </a:extLst>
          </p:cNvPr>
          <p:cNvSpPr/>
          <p:nvPr/>
        </p:nvSpPr>
        <p:spPr>
          <a:xfrm>
            <a:off x="11704875" y="3925227"/>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Dikdörtgen 22">
            <a:extLst>
              <a:ext uri="{FF2B5EF4-FFF2-40B4-BE49-F238E27FC236}">
                <a16:creationId xmlns:a16="http://schemas.microsoft.com/office/drawing/2014/main" id="{9093B8A5-F1C2-AB00-70DF-93CA0C048E30}"/>
              </a:ext>
            </a:extLst>
          </p:cNvPr>
          <p:cNvSpPr/>
          <p:nvPr/>
        </p:nvSpPr>
        <p:spPr>
          <a:xfrm>
            <a:off x="11700676" y="5250029"/>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4" name="Freeform 40">
            <a:extLst>
              <a:ext uri="{FF2B5EF4-FFF2-40B4-BE49-F238E27FC236}">
                <a16:creationId xmlns:a16="http://schemas.microsoft.com/office/drawing/2014/main" id="{86477E56-9D72-8915-66D4-73EEB1CF3EC2}"/>
              </a:ext>
            </a:extLst>
          </p:cNvPr>
          <p:cNvSpPr/>
          <p:nvPr/>
        </p:nvSpPr>
        <p:spPr>
          <a:xfrm rot="5400000">
            <a:off x="6371208" y="6960820"/>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5" name="Freeform 41">
            <a:extLst>
              <a:ext uri="{FF2B5EF4-FFF2-40B4-BE49-F238E27FC236}">
                <a16:creationId xmlns:a16="http://schemas.microsoft.com/office/drawing/2014/main" id="{CC9D86DC-9A0E-BA66-132F-3CC928889916}"/>
              </a:ext>
            </a:extLst>
          </p:cNvPr>
          <p:cNvSpPr/>
          <p:nvPr/>
        </p:nvSpPr>
        <p:spPr>
          <a:xfrm rot="5400000">
            <a:off x="6396380" y="5553463"/>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6" name="Freeform 42">
            <a:extLst>
              <a:ext uri="{FF2B5EF4-FFF2-40B4-BE49-F238E27FC236}">
                <a16:creationId xmlns:a16="http://schemas.microsoft.com/office/drawing/2014/main" id="{A69D2965-0F01-B4F0-952A-A538BBA9FC35}"/>
              </a:ext>
            </a:extLst>
          </p:cNvPr>
          <p:cNvSpPr/>
          <p:nvPr/>
        </p:nvSpPr>
        <p:spPr>
          <a:xfrm rot="5400000">
            <a:off x="6396380" y="4310940"/>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cxnSp>
        <p:nvCxnSpPr>
          <p:cNvPr id="27" name="Düz Bağlayıcı 26">
            <a:extLst>
              <a:ext uri="{FF2B5EF4-FFF2-40B4-BE49-F238E27FC236}">
                <a16:creationId xmlns:a16="http://schemas.microsoft.com/office/drawing/2014/main" id="{5109290E-A593-03F9-A40A-7F0981769496}"/>
              </a:ext>
            </a:extLst>
          </p:cNvPr>
          <p:cNvCxnSpPr/>
          <p:nvPr/>
        </p:nvCxnSpPr>
        <p:spPr>
          <a:xfrm flipH="1">
            <a:off x="6301732" y="4172142"/>
            <a:ext cx="27083" cy="426551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Düz Bağlayıcı 27">
            <a:extLst>
              <a:ext uri="{FF2B5EF4-FFF2-40B4-BE49-F238E27FC236}">
                <a16:creationId xmlns:a16="http://schemas.microsoft.com/office/drawing/2014/main" id="{FFF38E80-45F2-0B4D-4E07-552B85788E3E}"/>
              </a:ext>
            </a:extLst>
          </p:cNvPr>
          <p:cNvCxnSpPr/>
          <p:nvPr/>
        </p:nvCxnSpPr>
        <p:spPr>
          <a:xfrm flipH="1">
            <a:off x="4669385" y="8472731"/>
            <a:ext cx="1632347" cy="6497"/>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Düz Bağlayıcı 28">
            <a:extLst>
              <a:ext uri="{FF2B5EF4-FFF2-40B4-BE49-F238E27FC236}">
                <a16:creationId xmlns:a16="http://schemas.microsoft.com/office/drawing/2014/main" id="{6CC08668-86F9-97CB-BEA6-3F5DD935B3EB}"/>
              </a:ext>
            </a:extLst>
          </p:cNvPr>
          <p:cNvCxnSpPr/>
          <p:nvPr/>
        </p:nvCxnSpPr>
        <p:spPr>
          <a:xfrm flipV="1">
            <a:off x="4669385" y="7631795"/>
            <a:ext cx="0" cy="854709"/>
          </a:xfrm>
          <a:prstGeom prst="line">
            <a:avLst/>
          </a:prstGeom>
        </p:spPr>
        <p:style>
          <a:lnRef idx="2">
            <a:schemeClr val="accent1"/>
          </a:lnRef>
          <a:fillRef idx="0">
            <a:schemeClr val="accent1"/>
          </a:fillRef>
          <a:effectRef idx="1">
            <a:schemeClr val="accent1"/>
          </a:effectRef>
          <a:fontRef idx="minor">
            <a:schemeClr val="tx1"/>
          </a:fontRef>
        </p:style>
      </p:cxnSp>
      <p:sp>
        <p:nvSpPr>
          <p:cNvPr id="30" name="Akış Çizelgesi: Bağlayıcı 88">
            <a:extLst>
              <a:ext uri="{FF2B5EF4-FFF2-40B4-BE49-F238E27FC236}">
                <a16:creationId xmlns:a16="http://schemas.microsoft.com/office/drawing/2014/main" id="{4E30A670-29AB-8586-077C-6F7D6D88CD3B}"/>
              </a:ext>
            </a:extLst>
          </p:cNvPr>
          <p:cNvSpPr/>
          <p:nvPr/>
        </p:nvSpPr>
        <p:spPr>
          <a:xfrm>
            <a:off x="4561285" y="7523780"/>
            <a:ext cx="184827" cy="200549"/>
          </a:xfrm>
          <a:prstGeom prst="flowChartConnector">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31" name="Akış Çizelgesi: Bağlayıcı 89">
            <a:extLst>
              <a:ext uri="{FF2B5EF4-FFF2-40B4-BE49-F238E27FC236}">
                <a16:creationId xmlns:a16="http://schemas.microsoft.com/office/drawing/2014/main" id="{F2ADC5C2-CACC-D17D-DF86-090E8AA67B3F}"/>
              </a:ext>
            </a:extLst>
          </p:cNvPr>
          <p:cNvSpPr/>
          <p:nvPr/>
        </p:nvSpPr>
        <p:spPr>
          <a:xfrm>
            <a:off x="6203483" y="4004446"/>
            <a:ext cx="184827" cy="200549"/>
          </a:xfrm>
          <a:prstGeom prst="flowChartConnector">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32" name="Freeform 42">
            <a:extLst>
              <a:ext uri="{FF2B5EF4-FFF2-40B4-BE49-F238E27FC236}">
                <a16:creationId xmlns:a16="http://schemas.microsoft.com/office/drawing/2014/main" id="{F515C086-610C-ABA2-296F-82765867D5C2}"/>
              </a:ext>
            </a:extLst>
          </p:cNvPr>
          <p:cNvSpPr/>
          <p:nvPr/>
        </p:nvSpPr>
        <p:spPr>
          <a:xfrm rot="5400000">
            <a:off x="10958674" y="4367903"/>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3" name="Freeform 42">
            <a:extLst>
              <a:ext uri="{FF2B5EF4-FFF2-40B4-BE49-F238E27FC236}">
                <a16:creationId xmlns:a16="http://schemas.microsoft.com/office/drawing/2014/main" id="{0E5524B8-3702-FD34-DE8C-86863DADE9D3}"/>
              </a:ext>
            </a:extLst>
          </p:cNvPr>
          <p:cNvSpPr/>
          <p:nvPr/>
        </p:nvSpPr>
        <p:spPr>
          <a:xfrm rot="5400000">
            <a:off x="10943430" y="5640400"/>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4" name="TextBox 115">
            <a:extLst>
              <a:ext uri="{FF2B5EF4-FFF2-40B4-BE49-F238E27FC236}">
                <a16:creationId xmlns:a16="http://schemas.microsoft.com/office/drawing/2014/main" id="{D5CE0A16-323D-4709-68A0-112AB4C5AE31}"/>
              </a:ext>
            </a:extLst>
          </p:cNvPr>
          <p:cNvSpPr txBox="1"/>
          <p:nvPr/>
        </p:nvSpPr>
        <p:spPr>
          <a:xfrm>
            <a:off x="80123" y="1883786"/>
            <a:ext cx="18127754" cy="934743"/>
          </a:xfrm>
          <a:prstGeom prst="rect">
            <a:avLst/>
          </a:prstGeom>
        </p:spPr>
        <p:txBody>
          <a:bodyPr lIns="0" tIns="0" rIns="0" bIns="0" rtlCol="0" anchor="t">
            <a:spAutoFit/>
          </a:bodyPr>
          <a:lstStyle/>
          <a:p>
            <a:pPr algn="ctr">
              <a:lnSpc>
                <a:spcPts val="2520"/>
              </a:lnSpc>
            </a:pPr>
            <a:r>
              <a:rPr lang="en-US" sz="1800" dirty="0" err="1">
                <a:solidFill>
                  <a:srgbClr val="FF0000"/>
                </a:solidFill>
                <a:latin typeface="Aileron Bold"/>
              </a:rPr>
              <a:t>Takım</a:t>
            </a:r>
            <a:r>
              <a:rPr lang="en-US" sz="1800" dirty="0">
                <a:solidFill>
                  <a:srgbClr val="FF0000"/>
                </a:solidFill>
                <a:latin typeface="Aileron Bold"/>
              </a:rPr>
              <a:t> </a:t>
            </a:r>
            <a:r>
              <a:rPr lang="en-US" sz="1800" dirty="0" err="1">
                <a:solidFill>
                  <a:srgbClr val="FF0000"/>
                </a:solidFill>
                <a:latin typeface="Aileron Bold"/>
              </a:rPr>
              <a:t>şablonundaki</a:t>
            </a:r>
            <a:r>
              <a:rPr lang="en-US" sz="1800" dirty="0">
                <a:solidFill>
                  <a:srgbClr val="FF0000"/>
                </a:solidFill>
                <a:latin typeface="Aileron Bold"/>
              </a:rPr>
              <a:t> kutu </a:t>
            </a:r>
            <a:r>
              <a:rPr lang="en-US" sz="1800" dirty="0" err="1">
                <a:solidFill>
                  <a:srgbClr val="FF0000"/>
                </a:solidFill>
                <a:latin typeface="Aileron Bold"/>
              </a:rPr>
              <a:t>sayısı</a:t>
            </a:r>
            <a:r>
              <a:rPr lang="en-US" sz="1800" dirty="0">
                <a:solidFill>
                  <a:srgbClr val="FF0000"/>
                </a:solidFill>
                <a:latin typeface="Aileron Bold"/>
              </a:rPr>
              <a:t> </a:t>
            </a:r>
            <a:r>
              <a:rPr lang="en-US" sz="1800" dirty="0" err="1">
                <a:solidFill>
                  <a:srgbClr val="FF0000"/>
                </a:solidFill>
                <a:latin typeface="Aileron Bold"/>
              </a:rPr>
              <a:t>takım</a:t>
            </a:r>
            <a:r>
              <a:rPr lang="en-US" sz="1800" dirty="0">
                <a:solidFill>
                  <a:srgbClr val="FF0000"/>
                </a:solidFill>
                <a:latin typeface="Aileron Bold"/>
              </a:rPr>
              <a:t> </a:t>
            </a:r>
            <a:r>
              <a:rPr lang="en-US" sz="1800" dirty="0" err="1">
                <a:solidFill>
                  <a:srgbClr val="FF0000"/>
                </a:solidFill>
                <a:latin typeface="Aileron Bold"/>
              </a:rPr>
              <a:t>üye</a:t>
            </a:r>
            <a:r>
              <a:rPr lang="en-US" sz="1800" dirty="0">
                <a:solidFill>
                  <a:srgbClr val="FF0000"/>
                </a:solidFill>
                <a:latin typeface="Aileron Bold"/>
              </a:rPr>
              <a:t> </a:t>
            </a:r>
            <a:r>
              <a:rPr lang="en-US" sz="1800" dirty="0" err="1">
                <a:solidFill>
                  <a:srgbClr val="FF0000"/>
                </a:solidFill>
                <a:latin typeface="Aileron Bold"/>
              </a:rPr>
              <a:t>sayısına</a:t>
            </a:r>
            <a:r>
              <a:rPr lang="en-US" sz="1800" dirty="0">
                <a:solidFill>
                  <a:srgbClr val="FF0000"/>
                </a:solidFill>
                <a:latin typeface="Aileron Bold"/>
              </a:rPr>
              <a:t> </a:t>
            </a:r>
            <a:r>
              <a:rPr lang="en-US" sz="1800" dirty="0" err="1">
                <a:solidFill>
                  <a:srgbClr val="FF0000"/>
                </a:solidFill>
                <a:latin typeface="Aileron Bold"/>
              </a:rPr>
              <a:t>göre</a:t>
            </a:r>
            <a:r>
              <a:rPr lang="en-US" sz="1800" dirty="0">
                <a:solidFill>
                  <a:srgbClr val="FF0000"/>
                </a:solidFill>
                <a:latin typeface="Aileron Bold"/>
              </a:rPr>
              <a:t> </a:t>
            </a:r>
            <a:r>
              <a:rPr lang="en-US" sz="1800" dirty="0" err="1">
                <a:solidFill>
                  <a:srgbClr val="FF0000"/>
                </a:solidFill>
                <a:latin typeface="Aileron Bold"/>
              </a:rPr>
              <a:t>güncellenmelidir</a:t>
            </a:r>
            <a:r>
              <a:rPr lang="en-US" sz="1800" dirty="0">
                <a:solidFill>
                  <a:srgbClr val="FF0000"/>
                </a:solidFill>
                <a:latin typeface="Aileron Bold"/>
              </a:rPr>
              <a:t>. </a:t>
            </a:r>
            <a:r>
              <a:rPr lang="en-US" sz="1800" dirty="0" err="1">
                <a:solidFill>
                  <a:srgbClr val="FF0000"/>
                </a:solidFill>
                <a:latin typeface="Aileron Bold"/>
              </a:rPr>
              <a:t>Şablondaki</a:t>
            </a:r>
            <a:r>
              <a:rPr lang="en-US" sz="1800" dirty="0">
                <a:solidFill>
                  <a:srgbClr val="FF0000"/>
                </a:solidFill>
                <a:latin typeface="Aileron Bold"/>
              </a:rPr>
              <a:t> </a:t>
            </a:r>
            <a:r>
              <a:rPr lang="en-US" sz="1800" dirty="0" err="1">
                <a:solidFill>
                  <a:srgbClr val="FF0000"/>
                </a:solidFill>
                <a:latin typeface="Aileron Bold"/>
              </a:rPr>
              <a:t>istenilen</a:t>
            </a:r>
            <a:r>
              <a:rPr lang="en-US" sz="1800" dirty="0">
                <a:solidFill>
                  <a:srgbClr val="FF0000"/>
                </a:solidFill>
                <a:latin typeface="Aileron Bold"/>
              </a:rPr>
              <a:t> </a:t>
            </a:r>
            <a:r>
              <a:rPr lang="en-US" sz="1800" dirty="0" err="1">
                <a:solidFill>
                  <a:srgbClr val="FF0000"/>
                </a:solidFill>
                <a:latin typeface="Aileron Bold"/>
              </a:rPr>
              <a:t>bilgiler</a:t>
            </a:r>
            <a:r>
              <a:rPr lang="en-US" sz="1800" dirty="0">
                <a:solidFill>
                  <a:srgbClr val="FF0000"/>
                </a:solidFill>
                <a:latin typeface="Aileron Bold"/>
              </a:rPr>
              <a:t> </a:t>
            </a:r>
            <a:r>
              <a:rPr lang="en-US" sz="1800" dirty="0" err="1">
                <a:solidFill>
                  <a:srgbClr val="FF0000"/>
                </a:solidFill>
                <a:latin typeface="Aileron Bold"/>
              </a:rPr>
              <a:t>doldurulmalıdır</a:t>
            </a:r>
            <a:r>
              <a:rPr lang="en-US" sz="1800" dirty="0">
                <a:solidFill>
                  <a:srgbClr val="FF0000"/>
                </a:solidFill>
                <a:latin typeface="Aileron Bold"/>
              </a:rPr>
              <a:t>.</a:t>
            </a:r>
          </a:p>
          <a:p>
            <a:pPr algn="ctr">
              <a:lnSpc>
                <a:spcPts val="2520"/>
              </a:lnSpc>
            </a:pPr>
            <a:r>
              <a:rPr lang="en-US" sz="1800" dirty="0" err="1">
                <a:solidFill>
                  <a:srgbClr val="FF0000"/>
                </a:solidFill>
                <a:latin typeface="Aileron Bold"/>
              </a:rPr>
              <a:t>Takım</a:t>
            </a:r>
            <a:r>
              <a:rPr lang="en-US" sz="1800" dirty="0">
                <a:solidFill>
                  <a:srgbClr val="FF0000"/>
                </a:solidFill>
                <a:latin typeface="Aileron Bold"/>
              </a:rPr>
              <a:t> </a:t>
            </a:r>
            <a:r>
              <a:rPr lang="en-US" sz="1800" dirty="0" err="1">
                <a:solidFill>
                  <a:srgbClr val="FF0000"/>
                </a:solidFill>
                <a:latin typeface="Aileron Bold"/>
              </a:rPr>
              <a:t>tanıtımı</a:t>
            </a:r>
            <a:r>
              <a:rPr lang="en-US" sz="1800" dirty="0">
                <a:solidFill>
                  <a:srgbClr val="FF0000"/>
                </a:solidFill>
                <a:latin typeface="Aileron Bold"/>
              </a:rPr>
              <a:t> </a:t>
            </a:r>
            <a:r>
              <a:rPr lang="en-US" sz="1800" u="sng" dirty="0" err="1">
                <a:solidFill>
                  <a:srgbClr val="FF0000"/>
                </a:solidFill>
                <a:latin typeface="Aileron Bold Italics"/>
              </a:rPr>
              <a:t>en</a:t>
            </a:r>
            <a:r>
              <a:rPr lang="en-US" sz="1800" u="sng" dirty="0">
                <a:solidFill>
                  <a:srgbClr val="FF0000"/>
                </a:solidFill>
                <a:latin typeface="Aileron Bold Italics"/>
              </a:rPr>
              <a:t> </a:t>
            </a:r>
            <a:r>
              <a:rPr lang="en-US" sz="1800" u="sng" dirty="0" err="1">
                <a:solidFill>
                  <a:srgbClr val="FF0000"/>
                </a:solidFill>
                <a:latin typeface="Aileron Bold Italics"/>
              </a:rPr>
              <a:t>fazla</a:t>
            </a:r>
            <a:r>
              <a:rPr lang="en-US" sz="1800" dirty="0">
                <a:solidFill>
                  <a:srgbClr val="FF0000"/>
                </a:solidFill>
                <a:latin typeface="Aileron Bold"/>
              </a:rPr>
              <a:t> 1 (</a:t>
            </a:r>
            <a:r>
              <a:rPr lang="en-US" sz="1800" dirty="0" err="1">
                <a:solidFill>
                  <a:srgbClr val="FF0000"/>
                </a:solidFill>
                <a:latin typeface="Aileron Bold"/>
              </a:rPr>
              <a:t>bir</a:t>
            </a:r>
            <a:r>
              <a:rPr lang="en-US" sz="1800" dirty="0">
                <a:solidFill>
                  <a:srgbClr val="FF0000"/>
                </a:solidFill>
                <a:latin typeface="Aileron Bold"/>
              </a:rPr>
              <a:t>) </a:t>
            </a:r>
            <a:r>
              <a:rPr lang="en-US" sz="1800" dirty="0" err="1">
                <a:solidFill>
                  <a:srgbClr val="FF0000"/>
                </a:solidFill>
                <a:latin typeface="Aileron Bold"/>
              </a:rPr>
              <a:t>sayfadır</a:t>
            </a:r>
            <a:r>
              <a:rPr lang="en-US" sz="1800" dirty="0">
                <a:solidFill>
                  <a:srgbClr val="FF0000"/>
                </a:solidFill>
                <a:latin typeface="Aileron Bold"/>
              </a:rPr>
              <a:t>. </a:t>
            </a:r>
            <a:r>
              <a:rPr lang="en-US" sz="1800" dirty="0" err="1">
                <a:solidFill>
                  <a:srgbClr val="FF0000"/>
                </a:solidFill>
                <a:latin typeface="Aileron Bold"/>
              </a:rPr>
              <a:t>Sayfa</a:t>
            </a:r>
            <a:r>
              <a:rPr lang="en-US" sz="1800" dirty="0">
                <a:solidFill>
                  <a:srgbClr val="FF0000"/>
                </a:solidFill>
                <a:latin typeface="Aileron Bold"/>
              </a:rPr>
              <a:t> </a:t>
            </a:r>
            <a:r>
              <a:rPr lang="en-US" sz="1800" dirty="0" err="1">
                <a:solidFill>
                  <a:srgbClr val="FF0000"/>
                </a:solidFill>
                <a:latin typeface="Aileron Bold"/>
              </a:rPr>
              <a:t>sınırı</a:t>
            </a:r>
            <a:r>
              <a:rPr lang="en-US" sz="1800" dirty="0">
                <a:solidFill>
                  <a:srgbClr val="FF0000"/>
                </a:solidFill>
                <a:latin typeface="Aileron Bold"/>
              </a:rPr>
              <a:t> </a:t>
            </a:r>
            <a:r>
              <a:rPr lang="en-US" sz="1800" dirty="0" err="1">
                <a:solidFill>
                  <a:srgbClr val="FF0000"/>
                </a:solidFill>
                <a:latin typeface="Aileron Bold"/>
              </a:rPr>
              <a:t>aşılmamalıdır</a:t>
            </a:r>
            <a:r>
              <a:rPr lang="en-US" sz="1800" dirty="0">
                <a:solidFill>
                  <a:srgbClr val="FF0000"/>
                </a:solidFill>
                <a:latin typeface="Aileron Bold"/>
              </a:rPr>
              <a:t>. </a:t>
            </a:r>
            <a:r>
              <a:rPr lang="tr-TR" sz="1800" dirty="0">
                <a:solidFill>
                  <a:srgbClr val="FF0000"/>
                </a:solidFill>
                <a:latin typeface="Aileron Bold"/>
              </a:rPr>
              <a:t> </a:t>
            </a:r>
          </a:p>
          <a:p>
            <a:pPr algn="ctr">
              <a:lnSpc>
                <a:spcPts val="2520"/>
              </a:lnSpc>
            </a:pPr>
            <a:r>
              <a:rPr lang="tr-TR" sz="1800" dirty="0">
                <a:solidFill>
                  <a:srgbClr val="FF0000"/>
                </a:solidFill>
                <a:latin typeface="Aileron Bold"/>
              </a:rPr>
              <a:t>Takım kaptanı bilgilerini ilgili alanda verip tekrar üye olarak yer verm</a:t>
            </a:r>
            <a:r>
              <a:rPr lang="tr-TR" dirty="0">
                <a:solidFill>
                  <a:srgbClr val="FF0000"/>
                </a:solidFill>
                <a:latin typeface="Aileron Bold"/>
              </a:rPr>
              <a:t>emelisiniz. </a:t>
            </a:r>
            <a:endParaRPr lang="en-US" sz="1800" dirty="0">
              <a:solidFill>
                <a:srgbClr val="FF0000"/>
              </a:solidFill>
              <a:latin typeface="Aileron Bold"/>
            </a:endParaRPr>
          </a:p>
        </p:txBody>
      </p:sp>
      <p:sp>
        <p:nvSpPr>
          <p:cNvPr id="35" name="TextBox 12">
            <a:extLst>
              <a:ext uri="{FF2B5EF4-FFF2-40B4-BE49-F238E27FC236}">
                <a16:creationId xmlns:a16="http://schemas.microsoft.com/office/drawing/2014/main" id="{7BDCA584-09B8-B63E-B0A8-4821139BA2DE}"/>
              </a:ext>
            </a:extLst>
          </p:cNvPr>
          <p:cNvSpPr txBox="1">
            <a:spLocks/>
          </p:cNvSpPr>
          <p:nvPr/>
        </p:nvSpPr>
        <p:spPr>
          <a:xfrm>
            <a:off x="2850642" y="255421"/>
            <a:ext cx="12426470"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PROJE TAKIMI</a:t>
            </a:r>
          </a:p>
        </p:txBody>
      </p:sp>
      <p:sp>
        <p:nvSpPr>
          <p:cNvPr id="2" name="TextBox 114">
            <a:extLst>
              <a:ext uri="{FF2B5EF4-FFF2-40B4-BE49-F238E27FC236}">
                <a16:creationId xmlns:a16="http://schemas.microsoft.com/office/drawing/2014/main" id="{BFF1B743-5240-A0C5-C07B-7424471A0F66}"/>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a:t>
            </a:r>
            <a:r>
              <a:rPr lang="tr-TR" dirty="0">
                <a:solidFill>
                  <a:srgbClr val="1A426A"/>
                </a:solidFill>
                <a:latin typeface="Active Heart"/>
              </a:rPr>
              <a:t>TARIM TEKNOLOJİLERİ</a:t>
            </a:r>
            <a:r>
              <a:rPr lang="en-US" dirty="0">
                <a:solidFill>
                  <a:srgbClr val="1A426A"/>
                </a:solidFill>
                <a:latin typeface="Active Heart"/>
              </a:rPr>
              <a:t>YARIŞMASI </a:t>
            </a:r>
            <a:endParaRPr lang="tr-TR" dirty="0">
              <a:solidFill>
                <a:srgbClr val="1A426A"/>
              </a:solidFill>
              <a:latin typeface="Active Heart"/>
            </a:endParaRPr>
          </a:p>
          <a:p>
            <a:pPr algn="ctr">
              <a:lnSpc>
                <a:spcPts val="2000"/>
              </a:lnSpc>
              <a:spcBef>
                <a:spcPct val="0"/>
              </a:spcBef>
            </a:pPr>
            <a:r>
              <a:rPr lang="en-US" dirty="0">
                <a:solidFill>
                  <a:srgbClr val="1A426A"/>
                </a:solidFill>
                <a:latin typeface="Active Heart"/>
              </a:rPr>
              <a:t>PROJE SUNUMU</a:t>
            </a:r>
          </a:p>
        </p:txBody>
      </p:sp>
      <p:sp>
        <p:nvSpPr>
          <p:cNvPr id="86" name="TextBox 39">
            <a:extLst>
              <a:ext uri="{FF2B5EF4-FFF2-40B4-BE49-F238E27FC236}">
                <a16:creationId xmlns:a16="http://schemas.microsoft.com/office/drawing/2014/main" id="{A373A240-B537-FBE3-E886-050892676CBD}"/>
              </a:ext>
            </a:extLst>
          </p:cNvPr>
          <p:cNvSpPr txBox="1"/>
          <p:nvPr/>
        </p:nvSpPr>
        <p:spPr>
          <a:xfrm>
            <a:off x="14875224" y="6556090"/>
            <a:ext cx="2740730" cy="539443"/>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MEVCUT ÇÖZÜMLERLE KARŞILAŞTIRMA</a:t>
            </a:r>
            <a:endParaRPr lang="en-US" dirty="0"/>
          </a:p>
        </p:txBody>
      </p:sp>
      <p:sp>
        <p:nvSpPr>
          <p:cNvPr id="87" name="TextBox 34">
            <a:extLst>
              <a:ext uri="{FF2B5EF4-FFF2-40B4-BE49-F238E27FC236}">
                <a16:creationId xmlns:a16="http://schemas.microsoft.com/office/drawing/2014/main" id="{0A538BC5-822D-EC45-29CD-65D4D098F580}"/>
              </a:ext>
            </a:extLst>
          </p:cNvPr>
          <p:cNvSpPr txBox="1"/>
          <p:nvPr/>
        </p:nvSpPr>
        <p:spPr>
          <a:xfrm>
            <a:off x="16683289" y="5330207"/>
            <a:ext cx="922351"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YÖNTEM</a:t>
            </a:r>
            <a:endParaRPr lang="en-US" dirty="0"/>
          </a:p>
        </p:txBody>
      </p:sp>
      <p:sp>
        <p:nvSpPr>
          <p:cNvPr id="88" name="TextBox 35">
            <a:extLst>
              <a:ext uri="{FF2B5EF4-FFF2-40B4-BE49-F238E27FC236}">
                <a16:creationId xmlns:a16="http://schemas.microsoft.com/office/drawing/2014/main" id="{804293C2-5DAF-2E31-5534-87141630FF5B}"/>
              </a:ext>
            </a:extLst>
          </p:cNvPr>
          <p:cNvSpPr txBox="1"/>
          <p:nvPr/>
        </p:nvSpPr>
        <p:spPr>
          <a:xfrm>
            <a:off x="15290180" y="3881113"/>
            <a:ext cx="2332079"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PROBLEMİN TANIMI VE ÖNEMİ</a:t>
            </a:r>
            <a:endParaRPr lang="en-US" dirty="0"/>
          </a:p>
        </p:txBody>
      </p:sp>
      <p:sp>
        <p:nvSpPr>
          <p:cNvPr id="89" name="TextBox 36">
            <a:extLst>
              <a:ext uri="{FF2B5EF4-FFF2-40B4-BE49-F238E27FC236}">
                <a16:creationId xmlns:a16="http://schemas.microsoft.com/office/drawing/2014/main" id="{E9990D5C-57E4-4227-654E-4812181537A8}"/>
              </a:ext>
            </a:extLst>
          </p:cNvPr>
          <p:cNvSpPr txBox="1"/>
          <p:nvPr/>
        </p:nvSpPr>
        <p:spPr>
          <a:xfrm>
            <a:off x="15914926" y="4670804"/>
            <a:ext cx="1693724"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ÇÖZÜM ÖNERİSİ</a:t>
            </a:r>
            <a:endParaRPr lang="en-US" dirty="0"/>
          </a:p>
        </p:txBody>
      </p:sp>
      <p:sp>
        <p:nvSpPr>
          <p:cNvPr id="90" name="TextBox 38">
            <a:extLst>
              <a:ext uri="{FF2B5EF4-FFF2-40B4-BE49-F238E27FC236}">
                <a16:creationId xmlns:a16="http://schemas.microsoft.com/office/drawing/2014/main" id="{7D9F69F5-C7DC-6F70-1856-95A01A9C763B}"/>
              </a:ext>
            </a:extLst>
          </p:cNvPr>
          <p:cNvSpPr txBox="1"/>
          <p:nvPr/>
        </p:nvSpPr>
        <p:spPr>
          <a:xfrm>
            <a:off x="15922231" y="8117798"/>
            <a:ext cx="1693723"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TAKVİMİ</a:t>
            </a:r>
            <a:endParaRPr lang="en-US" dirty="0"/>
          </a:p>
        </p:txBody>
      </p:sp>
      <p:sp>
        <p:nvSpPr>
          <p:cNvPr id="91" name="AutoShape 20">
            <a:extLst>
              <a:ext uri="{FF2B5EF4-FFF2-40B4-BE49-F238E27FC236}">
                <a16:creationId xmlns:a16="http://schemas.microsoft.com/office/drawing/2014/main" id="{7742E707-048B-D172-E0A9-36E4012CE9AB}"/>
              </a:ext>
            </a:extLst>
          </p:cNvPr>
          <p:cNvSpPr/>
          <p:nvPr/>
        </p:nvSpPr>
        <p:spPr>
          <a:xfrm flipV="1">
            <a:off x="17862002" y="1644769"/>
            <a:ext cx="0" cy="7289230"/>
          </a:xfrm>
          <a:prstGeom prst="line">
            <a:avLst/>
          </a:prstGeom>
          <a:ln w="38100" cap="flat">
            <a:solidFill>
              <a:srgbClr val="344C54"/>
            </a:solidFill>
            <a:prstDash val="solid"/>
            <a:headEnd type="none" w="sm" len="sm"/>
            <a:tailEnd type="none" w="sm" len="sm"/>
          </a:ln>
        </p:spPr>
        <p:txBody>
          <a:bodyPr/>
          <a:lstStyle/>
          <a:p>
            <a:endParaRPr lang="tr-TR"/>
          </a:p>
        </p:txBody>
      </p:sp>
      <p:sp>
        <p:nvSpPr>
          <p:cNvPr id="92" name="TextBox 40">
            <a:extLst>
              <a:ext uri="{FF2B5EF4-FFF2-40B4-BE49-F238E27FC236}">
                <a16:creationId xmlns:a16="http://schemas.microsoft.com/office/drawing/2014/main" id="{F0C1A525-0819-F336-4E2F-E0E4E7C39EFA}"/>
              </a:ext>
            </a:extLst>
          </p:cNvPr>
          <p:cNvSpPr txBox="1"/>
          <p:nvPr/>
        </p:nvSpPr>
        <p:spPr>
          <a:xfrm>
            <a:off x="15099049" y="2568371"/>
            <a:ext cx="2516905"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ÖZETİ, KAPSAMI ve HEDEF KİTLE</a:t>
            </a:r>
            <a:endParaRPr lang="en-US" dirty="0"/>
          </a:p>
        </p:txBody>
      </p:sp>
      <p:sp>
        <p:nvSpPr>
          <p:cNvPr id="93" name="TextBox 42">
            <a:extLst>
              <a:ext uri="{FF2B5EF4-FFF2-40B4-BE49-F238E27FC236}">
                <a16:creationId xmlns:a16="http://schemas.microsoft.com/office/drawing/2014/main" id="{239C0A38-2E64-77B4-0A75-B80C66DA58E6}"/>
              </a:ext>
            </a:extLst>
          </p:cNvPr>
          <p:cNvSpPr txBox="1"/>
          <p:nvPr/>
        </p:nvSpPr>
        <p:spPr>
          <a:xfrm>
            <a:off x="16078200" y="2092314"/>
            <a:ext cx="1531967" cy="258469"/>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defPPr>
              <a:defRPr lang="en-US"/>
            </a:defPPr>
            <a:lvl1pPr algn="r">
              <a:lnSpc>
                <a:spcPts val="2232"/>
              </a:lnSpc>
              <a:defRPr sz="1590">
                <a:solidFill>
                  <a:srgbClr val="1C4C61"/>
                </a:solidFill>
                <a:latin typeface="Aileron Bold"/>
              </a:defRPr>
            </a:lvl1pPr>
          </a:lstStyle>
          <a:p>
            <a:r>
              <a:rPr lang="en-US" dirty="0"/>
              <a:t>T</a:t>
            </a:r>
            <a:r>
              <a:rPr lang="tr-TR" dirty="0"/>
              <a:t>AKIM TANITIM</a:t>
            </a:r>
            <a:endParaRPr lang="en-US" dirty="0"/>
          </a:p>
        </p:txBody>
      </p:sp>
      <p:sp>
        <p:nvSpPr>
          <p:cNvPr id="94" name="Freeform 22">
            <a:extLst>
              <a:ext uri="{FF2B5EF4-FFF2-40B4-BE49-F238E27FC236}">
                <a16:creationId xmlns:a16="http://schemas.microsoft.com/office/drawing/2014/main" id="{D5256FC8-96CA-45C1-2374-E403207CCB45}"/>
              </a:ext>
            </a:extLst>
          </p:cNvPr>
          <p:cNvSpPr/>
          <p:nvPr/>
        </p:nvSpPr>
        <p:spPr>
          <a:xfrm>
            <a:off x="17791146" y="2839736"/>
            <a:ext cx="201784" cy="214667"/>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5" name="TextBox 34">
            <a:extLst>
              <a:ext uri="{FF2B5EF4-FFF2-40B4-BE49-F238E27FC236}">
                <a16:creationId xmlns:a16="http://schemas.microsoft.com/office/drawing/2014/main" id="{876F3F2D-14C9-6011-958F-58AAEEE380F4}"/>
              </a:ext>
            </a:extLst>
          </p:cNvPr>
          <p:cNvSpPr txBox="1"/>
          <p:nvPr/>
        </p:nvSpPr>
        <p:spPr>
          <a:xfrm>
            <a:off x="15103346" y="3206954"/>
            <a:ext cx="2505303"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AMACI VE TOPLUMSAL FAYDASI</a:t>
            </a:r>
            <a:endParaRPr lang="en-US" dirty="0"/>
          </a:p>
        </p:txBody>
      </p:sp>
      <p:sp>
        <p:nvSpPr>
          <p:cNvPr id="96" name="TextBox 39">
            <a:extLst>
              <a:ext uri="{FF2B5EF4-FFF2-40B4-BE49-F238E27FC236}">
                <a16:creationId xmlns:a16="http://schemas.microsoft.com/office/drawing/2014/main" id="{21F3A6FD-F7D2-87F1-4244-F5ACB3ABAD5D}"/>
              </a:ext>
            </a:extLst>
          </p:cNvPr>
          <p:cNvSpPr txBox="1"/>
          <p:nvPr/>
        </p:nvSpPr>
        <p:spPr>
          <a:xfrm>
            <a:off x="15204106" y="5878404"/>
            <a:ext cx="2413247"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PROTOTİP / TASARIM VE İŞLEYİŞİ</a:t>
            </a:r>
            <a:endParaRPr lang="en-US" dirty="0"/>
          </a:p>
        </p:txBody>
      </p:sp>
      <p:sp>
        <p:nvSpPr>
          <p:cNvPr id="97" name="Freeform 96">
            <a:extLst>
              <a:ext uri="{FF2B5EF4-FFF2-40B4-BE49-F238E27FC236}">
                <a16:creationId xmlns:a16="http://schemas.microsoft.com/office/drawing/2014/main" id="{0D532AD7-B3C3-D761-D498-99CBB7495130}"/>
              </a:ext>
            </a:extLst>
          </p:cNvPr>
          <p:cNvSpPr/>
          <p:nvPr/>
        </p:nvSpPr>
        <p:spPr>
          <a:xfrm>
            <a:off x="17389288"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8" name="Freeform 97">
            <a:extLst>
              <a:ext uri="{FF2B5EF4-FFF2-40B4-BE49-F238E27FC236}">
                <a16:creationId xmlns:a16="http://schemas.microsoft.com/office/drawing/2014/main" id="{6988E0DD-A96E-6FCE-408E-22AF03DDA074}"/>
              </a:ext>
            </a:extLst>
          </p:cNvPr>
          <p:cNvSpPr/>
          <p:nvPr/>
        </p:nvSpPr>
        <p:spPr>
          <a:xfrm>
            <a:off x="17718785"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9" name="Freeform 96">
            <a:extLst>
              <a:ext uri="{FF2B5EF4-FFF2-40B4-BE49-F238E27FC236}">
                <a16:creationId xmlns:a16="http://schemas.microsoft.com/office/drawing/2014/main" id="{D9D107F0-C803-267C-BC47-DA486DB0B017}"/>
              </a:ext>
            </a:extLst>
          </p:cNvPr>
          <p:cNvSpPr/>
          <p:nvPr/>
        </p:nvSpPr>
        <p:spPr>
          <a:xfrm>
            <a:off x="17389287" y="8723804"/>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00" name="Freeform 97">
            <a:extLst>
              <a:ext uri="{FF2B5EF4-FFF2-40B4-BE49-F238E27FC236}">
                <a16:creationId xmlns:a16="http://schemas.microsoft.com/office/drawing/2014/main" id="{48B417DC-0608-8FCE-FA1A-CDE0DE229045}"/>
              </a:ext>
            </a:extLst>
          </p:cNvPr>
          <p:cNvSpPr/>
          <p:nvPr/>
        </p:nvSpPr>
        <p:spPr>
          <a:xfrm>
            <a:off x="17711120" y="8761545"/>
            <a:ext cx="295907" cy="344908"/>
          </a:xfrm>
          <a:prstGeom prst="ellipse">
            <a:avLst/>
          </a:prstGeom>
          <a:solidFill>
            <a:srgbClr val="F3A025"/>
          </a:solidFill>
        </p:spPr>
        <p:txBody>
          <a:bodyPr/>
          <a:lstStyle/>
          <a:p>
            <a:endParaRPr lang="tr-TR"/>
          </a:p>
        </p:txBody>
      </p:sp>
      <p:grpSp>
        <p:nvGrpSpPr>
          <p:cNvPr id="101" name="Grup 100">
            <a:extLst>
              <a:ext uri="{FF2B5EF4-FFF2-40B4-BE49-F238E27FC236}">
                <a16:creationId xmlns:a16="http://schemas.microsoft.com/office/drawing/2014/main" id="{EFBD45BB-59F8-D2BC-CA7A-6789B837C48D}"/>
              </a:ext>
            </a:extLst>
          </p:cNvPr>
          <p:cNvGrpSpPr/>
          <p:nvPr/>
        </p:nvGrpSpPr>
        <p:grpSpPr>
          <a:xfrm>
            <a:off x="17670306" y="2018618"/>
            <a:ext cx="371449" cy="6437321"/>
            <a:chOff x="17566046" y="2111764"/>
            <a:chExt cx="394849" cy="6842841"/>
          </a:xfrm>
        </p:grpSpPr>
        <p:sp>
          <p:nvSpPr>
            <p:cNvPr id="102" name="Freeform 21">
              <a:extLst>
                <a:ext uri="{FF2B5EF4-FFF2-40B4-BE49-F238E27FC236}">
                  <a16:creationId xmlns:a16="http://schemas.microsoft.com/office/drawing/2014/main" id="{9A7AA4E4-8830-CEA5-0F20-9BC9473B97E6}"/>
                </a:ext>
              </a:extLst>
            </p:cNvPr>
            <p:cNvSpPr/>
            <p:nvPr/>
          </p:nvSpPr>
          <p:spPr>
            <a:xfrm>
              <a:off x="17577504" y="211176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sp>
          <p:nvSpPr>
            <p:cNvPr id="103" name="Freeform 21">
              <a:extLst>
                <a:ext uri="{FF2B5EF4-FFF2-40B4-BE49-F238E27FC236}">
                  <a16:creationId xmlns:a16="http://schemas.microsoft.com/office/drawing/2014/main" id="{2740397E-46B5-A70A-8E40-E5DED277ECF7}"/>
                </a:ext>
              </a:extLst>
            </p:cNvPr>
            <p:cNvSpPr/>
            <p:nvPr/>
          </p:nvSpPr>
          <p:spPr>
            <a:xfrm>
              <a:off x="17577504" y="276608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sp>
          <p:nvSpPr>
            <p:cNvPr id="104" name="Freeform 21">
              <a:extLst>
                <a:ext uri="{FF2B5EF4-FFF2-40B4-BE49-F238E27FC236}">
                  <a16:creationId xmlns:a16="http://schemas.microsoft.com/office/drawing/2014/main" id="{015E52ED-B14F-5150-4552-0B61B54F601E}"/>
                </a:ext>
              </a:extLst>
            </p:cNvPr>
            <p:cNvSpPr/>
            <p:nvPr/>
          </p:nvSpPr>
          <p:spPr>
            <a:xfrm>
              <a:off x="17577503" y="3443597"/>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sp>
          <p:nvSpPr>
            <p:cNvPr id="105" name="Freeform 21">
              <a:extLst>
                <a:ext uri="{FF2B5EF4-FFF2-40B4-BE49-F238E27FC236}">
                  <a16:creationId xmlns:a16="http://schemas.microsoft.com/office/drawing/2014/main" id="{079368D6-1269-2CEE-D01A-4F16A617A742}"/>
                </a:ext>
              </a:extLst>
            </p:cNvPr>
            <p:cNvSpPr/>
            <p:nvPr/>
          </p:nvSpPr>
          <p:spPr>
            <a:xfrm>
              <a:off x="17577502" y="416210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sp>
          <p:nvSpPr>
            <p:cNvPr id="106" name="Freeform 21">
              <a:extLst>
                <a:ext uri="{FF2B5EF4-FFF2-40B4-BE49-F238E27FC236}">
                  <a16:creationId xmlns:a16="http://schemas.microsoft.com/office/drawing/2014/main" id="{F93F5775-C2A3-AE84-CF68-3A701635B82F}"/>
                </a:ext>
              </a:extLst>
            </p:cNvPr>
            <p:cNvSpPr/>
            <p:nvPr/>
          </p:nvSpPr>
          <p:spPr>
            <a:xfrm>
              <a:off x="17577501" y="4857339"/>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sp>
          <p:nvSpPr>
            <p:cNvPr id="107" name="Freeform 21">
              <a:extLst>
                <a:ext uri="{FF2B5EF4-FFF2-40B4-BE49-F238E27FC236}">
                  <a16:creationId xmlns:a16="http://schemas.microsoft.com/office/drawing/2014/main" id="{E5F7D303-4C0F-7062-AE40-CA3E6FA093BB}"/>
                </a:ext>
              </a:extLst>
            </p:cNvPr>
            <p:cNvSpPr/>
            <p:nvPr/>
          </p:nvSpPr>
          <p:spPr>
            <a:xfrm>
              <a:off x="17577500" y="555606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sp>
          <p:nvSpPr>
            <p:cNvPr id="108" name="Freeform 21">
              <a:extLst>
                <a:ext uri="{FF2B5EF4-FFF2-40B4-BE49-F238E27FC236}">
                  <a16:creationId xmlns:a16="http://schemas.microsoft.com/office/drawing/2014/main" id="{1D0D1781-FA6B-ED6A-DDB6-42DFF51DB498}"/>
                </a:ext>
              </a:extLst>
            </p:cNvPr>
            <p:cNvSpPr/>
            <p:nvPr/>
          </p:nvSpPr>
          <p:spPr>
            <a:xfrm>
              <a:off x="17577500" y="6278633"/>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sp>
          <p:nvSpPr>
            <p:cNvPr id="109" name="Freeform 21">
              <a:extLst>
                <a:ext uri="{FF2B5EF4-FFF2-40B4-BE49-F238E27FC236}">
                  <a16:creationId xmlns:a16="http://schemas.microsoft.com/office/drawing/2014/main" id="{2B9E4FF5-4B17-E605-44E7-1627C2BA40BB}"/>
                </a:ext>
              </a:extLst>
            </p:cNvPr>
            <p:cNvSpPr/>
            <p:nvPr/>
          </p:nvSpPr>
          <p:spPr>
            <a:xfrm>
              <a:off x="17575010" y="700119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sp>
          <p:nvSpPr>
            <p:cNvPr id="110" name="Freeform 21">
              <a:extLst>
                <a:ext uri="{FF2B5EF4-FFF2-40B4-BE49-F238E27FC236}">
                  <a16:creationId xmlns:a16="http://schemas.microsoft.com/office/drawing/2014/main" id="{C8CF9E1A-C683-69D3-6A5F-551ADF6B37B5}"/>
                </a:ext>
              </a:extLst>
            </p:cNvPr>
            <p:cNvSpPr/>
            <p:nvPr/>
          </p:nvSpPr>
          <p:spPr>
            <a:xfrm>
              <a:off x="17577499" y="775982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sp>
          <p:nvSpPr>
            <p:cNvPr id="111" name="Freeform 21">
              <a:extLst>
                <a:ext uri="{FF2B5EF4-FFF2-40B4-BE49-F238E27FC236}">
                  <a16:creationId xmlns:a16="http://schemas.microsoft.com/office/drawing/2014/main" id="{A2B93C25-E1BB-FFA0-5678-5A1374A782EA}"/>
                </a:ext>
              </a:extLst>
            </p:cNvPr>
            <p:cNvSpPr/>
            <p:nvPr/>
          </p:nvSpPr>
          <p:spPr>
            <a:xfrm>
              <a:off x="17566046" y="8520841"/>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grpSp>
      <p:sp>
        <p:nvSpPr>
          <p:cNvPr id="112" name="TextBox 39">
            <a:extLst>
              <a:ext uri="{FF2B5EF4-FFF2-40B4-BE49-F238E27FC236}">
                <a16:creationId xmlns:a16="http://schemas.microsoft.com/office/drawing/2014/main" id="{DFFF2966-D9C0-5E02-C5EF-2C4ACD5F6F2A}"/>
              </a:ext>
            </a:extLst>
          </p:cNvPr>
          <p:cNvSpPr txBox="1"/>
          <p:nvPr/>
        </p:nvSpPr>
        <p:spPr>
          <a:xfrm>
            <a:off x="14875224" y="7267389"/>
            <a:ext cx="2740730"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TİCARİLEŞME POTANSİYELİ VE SÜRDÜRÜLEBİLİRLİK</a:t>
            </a:r>
            <a:endParaRPr lang="en-US" dirty="0"/>
          </a:p>
        </p:txBody>
      </p:sp>
    </p:spTree>
    <p:extLst>
      <p:ext uri="{BB962C8B-B14F-4D97-AF65-F5344CB8AC3E}">
        <p14:creationId xmlns:p14="http://schemas.microsoft.com/office/powerpoint/2010/main" val="2379912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6F1F6-620C-9172-C754-6D5D674C3ACD}"/>
            </a:ext>
          </a:extLst>
        </p:cNvPr>
        <p:cNvGrpSpPr/>
        <p:nvPr/>
      </p:nvGrpSpPr>
      <p:grpSpPr>
        <a:xfrm>
          <a:off x="0" y="0"/>
          <a:ext cx="0" cy="0"/>
          <a:chOff x="0" y="0"/>
          <a:chExt cx="0" cy="0"/>
        </a:xfrm>
      </p:grpSpPr>
      <p:sp>
        <p:nvSpPr>
          <p:cNvPr id="46" name="TextBox 8">
            <a:extLst>
              <a:ext uri="{FF2B5EF4-FFF2-40B4-BE49-F238E27FC236}">
                <a16:creationId xmlns:a16="http://schemas.microsoft.com/office/drawing/2014/main" id="{CC9EEC2A-D26A-EB38-28D9-C7A19CE4779D}"/>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200" dirty="0">
                <a:solidFill>
                  <a:srgbClr val="1A426A"/>
                </a:solidFill>
                <a:latin typeface="Active Heart"/>
              </a:rPr>
              <a:t>PROJE ÖZETİ, KAPSAMI ve HEDEF KİTLE</a:t>
            </a:r>
            <a:endParaRPr lang="en-US" sz="6200" dirty="0">
              <a:solidFill>
                <a:srgbClr val="1A426A"/>
              </a:solidFill>
              <a:latin typeface="Active Heart"/>
            </a:endParaRPr>
          </a:p>
        </p:txBody>
      </p:sp>
      <p:sp>
        <p:nvSpPr>
          <p:cNvPr id="48" name="Metin kutusu 47">
            <a:extLst>
              <a:ext uri="{FF2B5EF4-FFF2-40B4-BE49-F238E27FC236}">
                <a16:creationId xmlns:a16="http://schemas.microsoft.com/office/drawing/2014/main" id="{E94CBBAD-33A5-CD54-66F1-6EC7F70226DB}"/>
              </a:ext>
            </a:extLst>
          </p:cNvPr>
          <p:cNvSpPr txBox="1"/>
          <p:nvPr/>
        </p:nvSpPr>
        <p:spPr>
          <a:xfrm>
            <a:off x="1219200" y="2171700"/>
            <a:ext cx="11631457" cy="3754874"/>
          </a:xfrm>
          <a:prstGeom prst="rect">
            <a:avLst/>
          </a:prstGeom>
          <a:noFill/>
        </p:spPr>
        <p:txBody>
          <a:bodyPr wrap="square">
            <a:spAutoFit/>
          </a:bodyPr>
          <a:lstStyle/>
          <a:p>
            <a:pPr marL="342900" indent="-342900" algn="just">
              <a:buSzPts val="1000"/>
              <a:buFont typeface="Symbol" pitchFamily="2" charset="2"/>
              <a:buChar char=""/>
              <a:tabLst>
                <a:tab pos="457200" algn="l"/>
              </a:tabLst>
            </a:pPr>
            <a:r>
              <a:rPr lang="en-US" dirty="0" err="1">
                <a:solidFill>
                  <a:srgbClr val="FF0000"/>
                </a:solidFill>
                <a:latin typeface="Aileron Bold"/>
              </a:rPr>
              <a:t>Proje</a:t>
            </a:r>
            <a:r>
              <a:rPr lang="en-US" dirty="0">
                <a:solidFill>
                  <a:srgbClr val="FF0000"/>
                </a:solidFill>
                <a:latin typeface="Aileron Bold"/>
              </a:rPr>
              <a:t> </a:t>
            </a:r>
            <a:r>
              <a:rPr lang="en-US" dirty="0" err="1">
                <a:solidFill>
                  <a:srgbClr val="FF0000"/>
                </a:solidFill>
                <a:latin typeface="Aileron Bold"/>
              </a:rPr>
              <a:t>özeti</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kapsamı</a:t>
            </a:r>
            <a:r>
              <a:rPr lang="en-US" dirty="0">
                <a:solidFill>
                  <a:srgbClr val="FF0000"/>
                </a:solidFill>
                <a:latin typeface="Aileron Bold"/>
              </a:rPr>
              <a:t> </a:t>
            </a:r>
            <a:r>
              <a:rPr lang="en-US" dirty="0" err="1">
                <a:solidFill>
                  <a:srgbClr val="FF0000"/>
                </a:solidFill>
                <a:latin typeface="Aileron Bold"/>
              </a:rPr>
              <a:t>sayfasıdır</a:t>
            </a:r>
            <a:r>
              <a:rPr lang="en-US" dirty="0">
                <a:solidFill>
                  <a:srgbClr val="FF0000"/>
                </a:solidFill>
                <a:latin typeface="Aileron Bold"/>
              </a:rPr>
              <a:t>.  </a:t>
            </a:r>
            <a:r>
              <a:rPr lang="en-US" dirty="0" err="1">
                <a:solidFill>
                  <a:srgbClr val="FF0000"/>
                </a:solidFill>
                <a:latin typeface="Aileron Bold"/>
              </a:rPr>
              <a:t>Aşağıdaki</a:t>
            </a:r>
            <a:r>
              <a:rPr lang="en-US" dirty="0">
                <a:solidFill>
                  <a:srgbClr val="FF0000"/>
                </a:solidFill>
                <a:latin typeface="Aileron Bold"/>
              </a:rPr>
              <a:t> </a:t>
            </a:r>
            <a:r>
              <a:rPr lang="en-US" dirty="0" err="1">
                <a:solidFill>
                  <a:srgbClr val="FF0000"/>
                </a:solidFill>
                <a:latin typeface="Aileron Bold"/>
              </a:rPr>
              <a:t>başlıklar</a:t>
            </a:r>
            <a:r>
              <a:rPr lang="en-US" dirty="0">
                <a:solidFill>
                  <a:srgbClr val="FF0000"/>
                </a:solidFill>
                <a:latin typeface="Aileron Bold"/>
              </a:rPr>
              <a:t> </a:t>
            </a:r>
            <a:r>
              <a:rPr lang="en-US" dirty="0" err="1">
                <a:solidFill>
                  <a:srgbClr val="FF0000"/>
                </a:solidFill>
                <a:latin typeface="Aileron Bold"/>
              </a:rPr>
              <a:t>en</a:t>
            </a:r>
            <a:r>
              <a:rPr lang="en-US" dirty="0">
                <a:solidFill>
                  <a:srgbClr val="FF0000"/>
                </a:solidFill>
                <a:latin typeface="Aileron Bold"/>
              </a:rPr>
              <a:t> </a:t>
            </a:r>
            <a:r>
              <a:rPr lang="en-US" dirty="0" err="1">
                <a:solidFill>
                  <a:srgbClr val="FF0000"/>
                </a:solidFill>
                <a:latin typeface="Aileron Bold"/>
              </a:rPr>
              <a:t>fazla</a:t>
            </a:r>
            <a:r>
              <a:rPr lang="en-US" dirty="0">
                <a:solidFill>
                  <a:srgbClr val="FF0000"/>
                </a:solidFill>
                <a:latin typeface="Aileron Bold"/>
              </a:rPr>
              <a:t> 1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kısaca</a:t>
            </a:r>
            <a:r>
              <a:rPr lang="en-US" dirty="0">
                <a:solidFill>
                  <a:srgbClr val="FF0000"/>
                </a:solidFill>
                <a:latin typeface="Aileron Bold"/>
              </a:rPr>
              <a:t> </a:t>
            </a:r>
            <a:r>
              <a:rPr lang="en-US" dirty="0" err="1">
                <a:solidFill>
                  <a:srgbClr val="FF0000"/>
                </a:solidFill>
                <a:latin typeface="Aileron Bold"/>
              </a:rPr>
              <a:t>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u="sng"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p>
          <a:p>
            <a:pPr marL="342900" indent="-342900" algn="just">
              <a:buSzPts val="1000"/>
              <a:buFont typeface="Symbol" pitchFamily="2" charset="2"/>
              <a:buChar char=""/>
              <a:tabLst>
                <a:tab pos="457200" algn="l"/>
              </a:tabLst>
            </a:pPr>
            <a:r>
              <a:rPr lang="tr-TR" dirty="0">
                <a:solidFill>
                  <a:srgbClr val="FF0000"/>
                </a:solidFill>
                <a:latin typeface="Aileron Bold"/>
              </a:rPr>
              <a:t>Kullanılan dil; açık, anlaşılır ve öğrencilerin ifade düzeyiyle uyumlu olmalı, aşırı teknik ayrıntılardan kaçınmalıdır. </a:t>
            </a:r>
          </a:p>
          <a:p>
            <a:pPr algn="just">
              <a:buSzPts val="1000"/>
              <a:tabLst>
                <a:tab pos="457200" algn="l"/>
              </a:tabLst>
            </a:pPr>
            <a:endParaRPr lang="tr-TR" b="1" dirty="0">
              <a:latin typeface="Arial" panose="020B0604020202020204" pitchFamily="34" charset="0"/>
              <a:ea typeface="Times New Roman" panose="02020603050405020304" pitchFamily="18" charset="0"/>
            </a:endParaRPr>
          </a:p>
          <a:p>
            <a:pPr lvl="0" algn="just">
              <a:buSzPts val="1000"/>
              <a:tabLst>
                <a:tab pos="457200" algn="l"/>
              </a:tabLst>
            </a:pPr>
            <a:r>
              <a:rPr lang="tr-TR" b="1" dirty="0">
                <a:effectLst/>
                <a:latin typeface="Arial" panose="020B0604020202020204" pitchFamily="34" charset="0"/>
                <a:ea typeface="Times New Roman" panose="02020603050405020304" pitchFamily="18" charset="0"/>
              </a:rPr>
              <a:t>•	</a:t>
            </a:r>
            <a:r>
              <a:rPr lang="tr-TR" b="1" dirty="0">
                <a:solidFill>
                  <a:srgbClr val="EE0000"/>
                </a:solidFill>
                <a:effectLst/>
                <a:latin typeface="Arial" panose="020B0604020202020204" pitchFamily="34" charset="0"/>
                <a:ea typeface="Times New Roman" panose="02020603050405020304" pitchFamily="18" charset="0"/>
              </a:rPr>
              <a:t>Proje Adı: </a:t>
            </a:r>
            <a:r>
              <a:rPr lang="tr-TR" dirty="0">
                <a:solidFill>
                  <a:srgbClr val="EE0000"/>
                </a:solidFill>
                <a:effectLst/>
                <a:latin typeface="Arial" panose="020B0604020202020204" pitchFamily="34" charset="0"/>
                <a:ea typeface="Times New Roman" panose="02020603050405020304" pitchFamily="18" charset="0"/>
              </a:rPr>
              <a:t>Projeyi tanımlayan kısa ve anlamlı isim,</a:t>
            </a:r>
          </a:p>
          <a:p>
            <a:pPr lvl="0" algn="just">
              <a:buSzPts val="1000"/>
              <a:tabLst>
                <a:tab pos="457200" algn="l"/>
              </a:tabLst>
            </a:pPr>
            <a:r>
              <a:rPr lang="tr-TR" b="1" dirty="0">
                <a:solidFill>
                  <a:srgbClr val="EE0000"/>
                </a:solidFill>
                <a:effectLst/>
                <a:latin typeface="Arial" panose="020B0604020202020204" pitchFamily="34" charset="0"/>
                <a:ea typeface="Times New Roman" panose="02020603050405020304" pitchFamily="18" charset="0"/>
              </a:rPr>
              <a:t>•	Ana Fikir: </a:t>
            </a:r>
            <a:r>
              <a:rPr lang="tr-TR" dirty="0">
                <a:solidFill>
                  <a:srgbClr val="EE0000"/>
                </a:solidFill>
                <a:effectLst/>
                <a:latin typeface="Arial" panose="020B0604020202020204" pitchFamily="34" charset="0"/>
                <a:ea typeface="Times New Roman" panose="02020603050405020304" pitchFamily="18" charset="0"/>
              </a:rPr>
              <a:t>Projenin temel düşüncesi ve çözmeyi hedeflediği problem,</a:t>
            </a:r>
          </a:p>
          <a:p>
            <a:pPr lvl="0" algn="just">
              <a:buSzPts val="1000"/>
              <a:tabLst>
                <a:tab pos="457200" algn="l"/>
              </a:tabLst>
            </a:pPr>
            <a:r>
              <a:rPr lang="tr-TR" b="1" dirty="0">
                <a:solidFill>
                  <a:srgbClr val="EE0000"/>
                </a:solidFill>
                <a:effectLst/>
                <a:latin typeface="Arial" panose="020B0604020202020204" pitchFamily="34" charset="0"/>
                <a:ea typeface="Times New Roman" panose="02020603050405020304" pitchFamily="18" charset="0"/>
              </a:rPr>
              <a:t>•	Hedef Kitle: </a:t>
            </a:r>
            <a:r>
              <a:rPr lang="tr-TR" dirty="0">
                <a:solidFill>
                  <a:srgbClr val="EE0000"/>
                </a:solidFill>
                <a:effectLst/>
                <a:latin typeface="Arial" panose="020B0604020202020204" pitchFamily="34" charset="0"/>
                <a:ea typeface="Times New Roman" panose="02020603050405020304" pitchFamily="18" charset="0"/>
              </a:rPr>
              <a:t>Projenin kimler için fayda sağlamayı amaçladığı,</a:t>
            </a:r>
          </a:p>
          <a:p>
            <a:pPr lvl="0" algn="just">
              <a:buSzPts val="1000"/>
              <a:tabLst>
                <a:tab pos="457200" algn="l"/>
              </a:tabLst>
            </a:pPr>
            <a:r>
              <a:rPr lang="tr-TR" b="1" dirty="0">
                <a:solidFill>
                  <a:srgbClr val="EE0000"/>
                </a:solidFill>
                <a:effectLst/>
                <a:latin typeface="Arial" panose="020B0604020202020204" pitchFamily="34" charset="0"/>
                <a:ea typeface="Times New Roman" panose="02020603050405020304" pitchFamily="18" charset="0"/>
              </a:rPr>
              <a:t>•	Çözüm Yaklaşımı: </a:t>
            </a:r>
            <a:r>
              <a:rPr lang="tr-TR" dirty="0">
                <a:solidFill>
                  <a:srgbClr val="EE0000"/>
                </a:solidFill>
                <a:effectLst/>
                <a:latin typeface="Arial" panose="020B0604020202020204" pitchFamily="34" charset="0"/>
                <a:ea typeface="Times New Roman" panose="02020603050405020304" pitchFamily="18" charset="0"/>
              </a:rPr>
              <a:t>Problemin çözümüne yönelik izlenen yolun sade ve genel açıklaması,</a:t>
            </a:r>
          </a:p>
          <a:p>
            <a:pPr lvl="0" algn="just">
              <a:buSzPts val="1000"/>
              <a:tabLst>
                <a:tab pos="457200" algn="l"/>
              </a:tabLst>
            </a:pPr>
            <a:r>
              <a:rPr lang="tr-TR" b="1" dirty="0">
                <a:solidFill>
                  <a:srgbClr val="EE0000"/>
                </a:solidFill>
                <a:effectLst/>
                <a:latin typeface="Arial" panose="020B0604020202020204" pitchFamily="34" charset="0"/>
                <a:ea typeface="Times New Roman" panose="02020603050405020304" pitchFamily="18" charset="0"/>
              </a:rPr>
              <a:t>•	Beklenen Etki: </a:t>
            </a:r>
            <a:r>
              <a:rPr lang="tr-TR" dirty="0">
                <a:solidFill>
                  <a:srgbClr val="EE0000"/>
                </a:solidFill>
                <a:effectLst/>
                <a:latin typeface="Arial" panose="020B0604020202020204" pitchFamily="34" charset="0"/>
                <a:ea typeface="Times New Roman" panose="02020603050405020304" pitchFamily="18" charset="0"/>
              </a:rPr>
              <a:t>Projenin insanlar, çevre veya günlük yaşam üzerindeki olası olumlu etkileri,</a:t>
            </a:r>
          </a:p>
          <a:p>
            <a:pPr lvl="0" algn="just">
              <a:buSzPts val="1000"/>
              <a:tabLst>
                <a:tab pos="457200" algn="l"/>
              </a:tabLst>
            </a:pPr>
            <a:r>
              <a:rPr lang="tr-TR" b="1" dirty="0">
                <a:solidFill>
                  <a:srgbClr val="EE0000"/>
                </a:solidFill>
                <a:effectLst/>
                <a:latin typeface="Arial" panose="020B0604020202020204" pitchFamily="34" charset="0"/>
                <a:ea typeface="Times New Roman" panose="02020603050405020304" pitchFamily="18" charset="0"/>
              </a:rPr>
              <a:t>•	Ana / Alt Tema Uyumu: </a:t>
            </a:r>
            <a:r>
              <a:rPr lang="tr-TR" dirty="0">
                <a:solidFill>
                  <a:srgbClr val="EE0000"/>
                </a:solidFill>
                <a:effectLst/>
                <a:latin typeface="Arial" panose="020B0604020202020204" pitchFamily="34" charset="0"/>
                <a:ea typeface="Times New Roman" panose="02020603050405020304" pitchFamily="18" charset="0"/>
              </a:rPr>
              <a:t>Projenin yarışmanın ana ve alt temalarıyla ilişkisi.</a:t>
            </a:r>
          </a:p>
          <a:p>
            <a:pPr marL="342900" lvl="0" indent="-342900" algn="just">
              <a:buSzPts val="1000"/>
              <a:buFont typeface="Symbol" pitchFamily="2" charset="2"/>
              <a:buChar char=""/>
              <a:tabLst>
                <a:tab pos="457200" algn="l"/>
              </a:tabLst>
            </a:pPr>
            <a:endParaRPr lang="tr-TR" sz="2000" dirty="0">
              <a:latin typeface="Arial" panose="020B0604020202020204" pitchFamily="34" charset="0"/>
              <a:ea typeface="Times New Roman" panose="02020603050405020304" pitchFamily="18" charset="0"/>
            </a:endParaRPr>
          </a:p>
          <a:p>
            <a:pPr lvl="0" algn="just">
              <a:buSzPts val="1000"/>
              <a:tabLst>
                <a:tab pos="457200" algn="l"/>
              </a:tabLst>
            </a:pPr>
            <a:endParaRPr lang="tr-TR" sz="2000" dirty="0">
              <a:effectLst/>
              <a:latin typeface="Times New Roman" panose="02020603050405020304" pitchFamily="18" charset="0"/>
              <a:ea typeface="Times New Roman" panose="02020603050405020304" pitchFamily="18" charset="0"/>
            </a:endParaRPr>
          </a:p>
        </p:txBody>
      </p:sp>
      <p:sp>
        <p:nvSpPr>
          <p:cNvPr id="3" name="TextBox 114">
            <a:extLst>
              <a:ext uri="{FF2B5EF4-FFF2-40B4-BE49-F238E27FC236}">
                <a16:creationId xmlns:a16="http://schemas.microsoft.com/office/drawing/2014/main" id="{97E0369F-26A4-6838-7B9B-2A8C8DEEC95A}"/>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a:t>
            </a:r>
            <a:r>
              <a:rPr lang="tr-TR" dirty="0">
                <a:solidFill>
                  <a:srgbClr val="1A426A"/>
                </a:solidFill>
                <a:latin typeface="Active Heart"/>
              </a:rPr>
              <a:t>TARIM TEKNOLOJİLERİ</a:t>
            </a:r>
            <a:r>
              <a:rPr lang="en-US" dirty="0">
                <a:solidFill>
                  <a:srgbClr val="1A426A"/>
                </a:solidFill>
                <a:latin typeface="Active Heart"/>
              </a:rPr>
              <a:t>YARIŞMASI </a:t>
            </a:r>
            <a:endParaRPr lang="tr-TR" dirty="0">
              <a:solidFill>
                <a:srgbClr val="1A426A"/>
              </a:solidFill>
              <a:latin typeface="Active Heart"/>
            </a:endParaRPr>
          </a:p>
          <a:p>
            <a:pPr algn="ctr">
              <a:lnSpc>
                <a:spcPts val="2000"/>
              </a:lnSpc>
              <a:spcBef>
                <a:spcPct val="0"/>
              </a:spcBef>
            </a:pPr>
            <a:r>
              <a:rPr lang="en-US" dirty="0">
                <a:solidFill>
                  <a:srgbClr val="1A426A"/>
                </a:solidFill>
                <a:latin typeface="Active Heart"/>
              </a:rPr>
              <a:t>PROJE SUNUMU</a:t>
            </a:r>
          </a:p>
        </p:txBody>
      </p:sp>
      <p:sp>
        <p:nvSpPr>
          <p:cNvPr id="81" name="TextBox 39">
            <a:extLst>
              <a:ext uri="{FF2B5EF4-FFF2-40B4-BE49-F238E27FC236}">
                <a16:creationId xmlns:a16="http://schemas.microsoft.com/office/drawing/2014/main" id="{0C9EC571-2339-E371-2DBF-A0403EA8114F}"/>
              </a:ext>
            </a:extLst>
          </p:cNvPr>
          <p:cNvSpPr txBox="1"/>
          <p:nvPr/>
        </p:nvSpPr>
        <p:spPr>
          <a:xfrm>
            <a:off x="14875224" y="6556090"/>
            <a:ext cx="2740730" cy="539443"/>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MEVCUT ÇÖZÜMLERLE KARŞILAŞTIRMA</a:t>
            </a:r>
            <a:endParaRPr lang="en-US" dirty="0"/>
          </a:p>
        </p:txBody>
      </p:sp>
      <p:sp>
        <p:nvSpPr>
          <p:cNvPr id="82" name="TextBox 34">
            <a:extLst>
              <a:ext uri="{FF2B5EF4-FFF2-40B4-BE49-F238E27FC236}">
                <a16:creationId xmlns:a16="http://schemas.microsoft.com/office/drawing/2014/main" id="{ED7D872E-C321-1F69-5372-DAEC553D871E}"/>
              </a:ext>
            </a:extLst>
          </p:cNvPr>
          <p:cNvSpPr txBox="1"/>
          <p:nvPr/>
        </p:nvSpPr>
        <p:spPr>
          <a:xfrm>
            <a:off x="16683289" y="5330207"/>
            <a:ext cx="922351"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YÖNTEM</a:t>
            </a:r>
            <a:endParaRPr lang="en-US" dirty="0"/>
          </a:p>
        </p:txBody>
      </p:sp>
      <p:sp>
        <p:nvSpPr>
          <p:cNvPr id="83" name="TextBox 35">
            <a:extLst>
              <a:ext uri="{FF2B5EF4-FFF2-40B4-BE49-F238E27FC236}">
                <a16:creationId xmlns:a16="http://schemas.microsoft.com/office/drawing/2014/main" id="{9BE06397-91E5-FFB7-F2A6-A471ADA9B09D}"/>
              </a:ext>
            </a:extLst>
          </p:cNvPr>
          <p:cNvSpPr txBox="1"/>
          <p:nvPr/>
        </p:nvSpPr>
        <p:spPr>
          <a:xfrm>
            <a:off x="15290180" y="3881113"/>
            <a:ext cx="2332079"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PROBLEMİN TANIMI VE ÖNEMİ</a:t>
            </a:r>
            <a:endParaRPr lang="en-US" dirty="0"/>
          </a:p>
        </p:txBody>
      </p:sp>
      <p:sp>
        <p:nvSpPr>
          <p:cNvPr id="84" name="TextBox 36">
            <a:extLst>
              <a:ext uri="{FF2B5EF4-FFF2-40B4-BE49-F238E27FC236}">
                <a16:creationId xmlns:a16="http://schemas.microsoft.com/office/drawing/2014/main" id="{F2116D00-A4D9-8F42-0C16-36855EF78D6F}"/>
              </a:ext>
            </a:extLst>
          </p:cNvPr>
          <p:cNvSpPr txBox="1"/>
          <p:nvPr/>
        </p:nvSpPr>
        <p:spPr>
          <a:xfrm>
            <a:off x="15914926" y="4670804"/>
            <a:ext cx="1693724"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ÇÖZÜM ÖNERİSİ</a:t>
            </a:r>
            <a:endParaRPr lang="en-US" dirty="0"/>
          </a:p>
        </p:txBody>
      </p:sp>
      <p:sp>
        <p:nvSpPr>
          <p:cNvPr id="85" name="TextBox 38">
            <a:extLst>
              <a:ext uri="{FF2B5EF4-FFF2-40B4-BE49-F238E27FC236}">
                <a16:creationId xmlns:a16="http://schemas.microsoft.com/office/drawing/2014/main" id="{CAD70CEA-3E7C-A203-DDA2-CE8D0A214404}"/>
              </a:ext>
            </a:extLst>
          </p:cNvPr>
          <p:cNvSpPr txBox="1"/>
          <p:nvPr/>
        </p:nvSpPr>
        <p:spPr>
          <a:xfrm>
            <a:off x="15922231" y="8117798"/>
            <a:ext cx="1693723"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TAKVİMİ</a:t>
            </a:r>
            <a:endParaRPr lang="en-US" dirty="0"/>
          </a:p>
        </p:txBody>
      </p:sp>
      <p:sp>
        <p:nvSpPr>
          <p:cNvPr id="86" name="AutoShape 20">
            <a:extLst>
              <a:ext uri="{FF2B5EF4-FFF2-40B4-BE49-F238E27FC236}">
                <a16:creationId xmlns:a16="http://schemas.microsoft.com/office/drawing/2014/main" id="{D707DBF7-6CE9-EA45-BC78-D5DBC9823688}"/>
              </a:ext>
            </a:extLst>
          </p:cNvPr>
          <p:cNvSpPr/>
          <p:nvPr/>
        </p:nvSpPr>
        <p:spPr>
          <a:xfrm flipV="1">
            <a:off x="17862002" y="1644769"/>
            <a:ext cx="0" cy="7289230"/>
          </a:xfrm>
          <a:prstGeom prst="line">
            <a:avLst/>
          </a:prstGeom>
          <a:ln w="38100" cap="flat">
            <a:solidFill>
              <a:srgbClr val="344C54"/>
            </a:solidFill>
            <a:prstDash val="solid"/>
            <a:headEnd type="none" w="sm" len="sm"/>
            <a:tailEnd type="none" w="sm" len="sm"/>
          </a:ln>
        </p:spPr>
        <p:txBody>
          <a:bodyPr/>
          <a:lstStyle/>
          <a:p>
            <a:endParaRPr lang="tr-TR"/>
          </a:p>
        </p:txBody>
      </p:sp>
      <p:sp>
        <p:nvSpPr>
          <p:cNvPr id="87" name="TextBox 40">
            <a:extLst>
              <a:ext uri="{FF2B5EF4-FFF2-40B4-BE49-F238E27FC236}">
                <a16:creationId xmlns:a16="http://schemas.microsoft.com/office/drawing/2014/main" id="{08C399C6-3B89-891F-C10B-0F94046D6410}"/>
              </a:ext>
            </a:extLst>
          </p:cNvPr>
          <p:cNvSpPr txBox="1"/>
          <p:nvPr/>
        </p:nvSpPr>
        <p:spPr>
          <a:xfrm>
            <a:off x="15099049" y="2568371"/>
            <a:ext cx="2516905" cy="54072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defPPr>
              <a:defRPr lang="en-US"/>
            </a:defPPr>
            <a:lvl1pPr algn="r">
              <a:lnSpc>
                <a:spcPts val="2232"/>
              </a:lnSpc>
              <a:defRPr sz="1590">
                <a:solidFill>
                  <a:srgbClr val="1C4C61"/>
                </a:solidFill>
                <a:latin typeface="Aileron Bold"/>
              </a:defRPr>
            </a:lvl1pPr>
          </a:lstStyle>
          <a:p>
            <a:r>
              <a:rPr lang="tr-TR" dirty="0"/>
              <a:t>PROJE ÖZETİ, KAPSAMI ve HEDEF KİTLE</a:t>
            </a:r>
            <a:endParaRPr lang="en-US" dirty="0"/>
          </a:p>
        </p:txBody>
      </p:sp>
      <p:sp>
        <p:nvSpPr>
          <p:cNvPr id="88" name="TextBox 42">
            <a:extLst>
              <a:ext uri="{FF2B5EF4-FFF2-40B4-BE49-F238E27FC236}">
                <a16:creationId xmlns:a16="http://schemas.microsoft.com/office/drawing/2014/main" id="{2FFB9F9D-CC2F-5638-5E36-38B22952F1CA}"/>
              </a:ext>
            </a:extLst>
          </p:cNvPr>
          <p:cNvSpPr txBox="1"/>
          <p:nvPr/>
        </p:nvSpPr>
        <p:spPr>
          <a:xfrm>
            <a:off x="15435222" y="2092314"/>
            <a:ext cx="2174945"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en-US" dirty="0"/>
              <a:t>T</a:t>
            </a:r>
            <a:r>
              <a:rPr lang="tr-TR" dirty="0"/>
              <a:t>AKIM TANITIM</a:t>
            </a:r>
            <a:endParaRPr lang="en-US" dirty="0"/>
          </a:p>
        </p:txBody>
      </p:sp>
      <p:sp>
        <p:nvSpPr>
          <p:cNvPr id="89" name="Freeform 22">
            <a:extLst>
              <a:ext uri="{FF2B5EF4-FFF2-40B4-BE49-F238E27FC236}">
                <a16:creationId xmlns:a16="http://schemas.microsoft.com/office/drawing/2014/main" id="{800DADAA-48EB-399E-EF9D-49F409ECE4D9}"/>
              </a:ext>
            </a:extLst>
          </p:cNvPr>
          <p:cNvSpPr/>
          <p:nvPr/>
        </p:nvSpPr>
        <p:spPr>
          <a:xfrm>
            <a:off x="17791146" y="2839736"/>
            <a:ext cx="201784" cy="214667"/>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0" name="TextBox 34">
            <a:extLst>
              <a:ext uri="{FF2B5EF4-FFF2-40B4-BE49-F238E27FC236}">
                <a16:creationId xmlns:a16="http://schemas.microsoft.com/office/drawing/2014/main" id="{94932D47-700A-3A96-20FD-F52FAFC672DE}"/>
              </a:ext>
            </a:extLst>
          </p:cNvPr>
          <p:cNvSpPr txBox="1"/>
          <p:nvPr/>
        </p:nvSpPr>
        <p:spPr>
          <a:xfrm>
            <a:off x="15103346" y="3206954"/>
            <a:ext cx="2505303"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AMACI VE TOPLUMSAL FAYDASI</a:t>
            </a:r>
            <a:endParaRPr lang="en-US" dirty="0"/>
          </a:p>
        </p:txBody>
      </p:sp>
      <p:sp>
        <p:nvSpPr>
          <p:cNvPr id="91" name="TextBox 39">
            <a:extLst>
              <a:ext uri="{FF2B5EF4-FFF2-40B4-BE49-F238E27FC236}">
                <a16:creationId xmlns:a16="http://schemas.microsoft.com/office/drawing/2014/main" id="{F48E89B9-F76C-3CB7-1445-74C87F9F270C}"/>
              </a:ext>
            </a:extLst>
          </p:cNvPr>
          <p:cNvSpPr txBox="1"/>
          <p:nvPr/>
        </p:nvSpPr>
        <p:spPr>
          <a:xfrm>
            <a:off x="15204106" y="5878404"/>
            <a:ext cx="2413247"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PROTOTİP / TASARIM VE İŞLEYİŞİ</a:t>
            </a:r>
            <a:endParaRPr lang="en-US" dirty="0"/>
          </a:p>
        </p:txBody>
      </p:sp>
      <p:sp>
        <p:nvSpPr>
          <p:cNvPr id="92" name="Freeform 96">
            <a:extLst>
              <a:ext uri="{FF2B5EF4-FFF2-40B4-BE49-F238E27FC236}">
                <a16:creationId xmlns:a16="http://schemas.microsoft.com/office/drawing/2014/main" id="{F5F7C140-1E2C-FAC2-6C6C-79F002C0CB05}"/>
              </a:ext>
            </a:extLst>
          </p:cNvPr>
          <p:cNvSpPr/>
          <p:nvPr/>
        </p:nvSpPr>
        <p:spPr>
          <a:xfrm>
            <a:off x="17389288"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3" name="Freeform 97">
            <a:extLst>
              <a:ext uri="{FF2B5EF4-FFF2-40B4-BE49-F238E27FC236}">
                <a16:creationId xmlns:a16="http://schemas.microsoft.com/office/drawing/2014/main" id="{0E4579CF-A6B5-B4C5-048A-579108635706}"/>
              </a:ext>
            </a:extLst>
          </p:cNvPr>
          <p:cNvSpPr/>
          <p:nvPr/>
        </p:nvSpPr>
        <p:spPr>
          <a:xfrm>
            <a:off x="17718785"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4" name="Freeform 96">
            <a:extLst>
              <a:ext uri="{FF2B5EF4-FFF2-40B4-BE49-F238E27FC236}">
                <a16:creationId xmlns:a16="http://schemas.microsoft.com/office/drawing/2014/main" id="{E42CE953-480F-EAE9-6CAA-B99D91131A92}"/>
              </a:ext>
            </a:extLst>
          </p:cNvPr>
          <p:cNvSpPr/>
          <p:nvPr/>
        </p:nvSpPr>
        <p:spPr>
          <a:xfrm>
            <a:off x="17389287" y="8723804"/>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5" name="Freeform 97">
            <a:extLst>
              <a:ext uri="{FF2B5EF4-FFF2-40B4-BE49-F238E27FC236}">
                <a16:creationId xmlns:a16="http://schemas.microsoft.com/office/drawing/2014/main" id="{81202B67-E685-4771-3588-354DFB415A25}"/>
              </a:ext>
            </a:extLst>
          </p:cNvPr>
          <p:cNvSpPr/>
          <p:nvPr/>
        </p:nvSpPr>
        <p:spPr>
          <a:xfrm>
            <a:off x="17711120" y="8761545"/>
            <a:ext cx="295907" cy="344908"/>
          </a:xfrm>
          <a:prstGeom prst="ellipse">
            <a:avLst/>
          </a:prstGeom>
          <a:solidFill>
            <a:srgbClr val="F3A025"/>
          </a:solidFill>
        </p:spPr>
        <p:txBody>
          <a:bodyPr/>
          <a:lstStyle/>
          <a:p>
            <a:endParaRPr lang="tr-TR"/>
          </a:p>
        </p:txBody>
      </p:sp>
      <p:grpSp>
        <p:nvGrpSpPr>
          <p:cNvPr id="96" name="Grup 95">
            <a:extLst>
              <a:ext uri="{FF2B5EF4-FFF2-40B4-BE49-F238E27FC236}">
                <a16:creationId xmlns:a16="http://schemas.microsoft.com/office/drawing/2014/main" id="{08C27873-4BD9-BA2E-32EB-CBD0ED0E08CE}"/>
              </a:ext>
            </a:extLst>
          </p:cNvPr>
          <p:cNvGrpSpPr/>
          <p:nvPr/>
        </p:nvGrpSpPr>
        <p:grpSpPr>
          <a:xfrm>
            <a:off x="17670306" y="2018618"/>
            <a:ext cx="371449" cy="6437321"/>
            <a:chOff x="17566046" y="2111764"/>
            <a:chExt cx="394849" cy="6842841"/>
          </a:xfrm>
        </p:grpSpPr>
        <p:sp>
          <p:nvSpPr>
            <p:cNvPr id="97" name="Freeform 21">
              <a:extLst>
                <a:ext uri="{FF2B5EF4-FFF2-40B4-BE49-F238E27FC236}">
                  <a16:creationId xmlns:a16="http://schemas.microsoft.com/office/drawing/2014/main" id="{34413A2F-E14C-68C6-8645-94A92B73FE41}"/>
                </a:ext>
              </a:extLst>
            </p:cNvPr>
            <p:cNvSpPr/>
            <p:nvPr/>
          </p:nvSpPr>
          <p:spPr>
            <a:xfrm>
              <a:off x="17577504" y="211176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8" name="Freeform 21">
              <a:extLst>
                <a:ext uri="{FF2B5EF4-FFF2-40B4-BE49-F238E27FC236}">
                  <a16:creationId xmlns:a16="http://schemas.microsoft.com/office/drawing/2014/main" id="{40D8AE14-71D0-52F4-B856-CE6CAE4E9FC3}"/>
                </a:ext>
              </a:extLst>
            </p:cNvPr>
            <p:cNvSpPr/>
            <p:nvPr/>
          </p:nvSpPr>
          <p:spPr>
            <a:xfrm>
              <a:off x="17577504" y="276608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9" name="Freeform 21">
              <a:extLst>
                <a:ext uri="{FF2B5EF4-FFF2-40B4-BE49-F238E27FC236}">
                  <a16:creationId xmlns:a16="http://schemas.microsoft.com/office/drawing/2014/main" id="{C7376F9B-2A22-4E7A-3E34-6A7FF72D7E6D}"/>
                </a:ext>
              </a:extLst>
            </p:cNvPr>
            <p:cNvSpPr/>
            <p:nvPr/>
          </p:nvSpPr>
          <p:spPr>
            <a:xfrm>
              <a:off x="17577503" y="3443597"/>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0" name="Freeform 21">
              <a:extLst>
                <a:ext uri="{FF2B5EF4-FFF2-40B4-BE49-F238E27FC236}">
                  <a16:creationId xmlns:a16="http://schemas.microsoft.com/office/drawing/2014/main" id="{9B75246F-30CA-FD9E-4117-C9358EC49983}"/>
                </a:ext>
              </a:extLst>
            </p:cNvPr>
            <p:cNvSpPr/>
            <p:nvPr/>
          </p:nvSpPr>
          <p:spPr>
            <a:xfrm>
              <a:off x="17577502" y="416210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1" name="Freeform 21">
              <a:extLst>
                <a:ext uri="{FF2B5EF4-FFF2-40B4-BE49-F238E27FC236}">
                  <a16:creationId xmlns:a16="http://schemas.microsoft.com/office/drawing/2014/main" id="{DA522E0E-FFF3-697D-98B4-413F2DF42E48}"/>
                </a:ext>
              </a:extLst>
            </p:cNvPr>
            <p:cNvSpPr/>
            <p:nvPr/>
          </p:nvSpPr>
          <p:spPr>
            <a:xfrm>
              <a:off x="17577501" y="4857339"/>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2" name="Freeform 21">
              <a:extLst>
                <a:ext uri="{FF2B5EF4-FFF2-40B4-BE49-F238E27FC236}">
                  <a16:creationId xmlns:a16="http://schemas.microsoft.com/office/drawing/2014/main" id="{4C9C1EBB-B266-4E25-42F4-3B0FAC21FBCE}"/>
                </a:ext>
              </a:extLst>
            </p:cNvPr>
            <p:cNvSpPr/>
            <p:nvPr/>
          </p:nvSpPr>
          <p:spPr>
            <a:xfrm>
              <a:off x="17577500" y="555606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3" name="Freeform 21">
              <a:extLst>
                <a:ext uri="{FF2B5EF4-FFF2-40B4-BE49-F238E27FC236}">
                  <a16:creationId xmlns:a16="http://schemas.microsoft.com/office/drawing/2014/main" id="{0E33D0B6-35D6-5F35-111B-FAEB6828C64F}"/>
                </a:ext>
              </a:extLst>
            </p:cNvPr>
            <p:cNvSpPr/>
            <p:nvPr/>
          </p:nvSpPr>
          <p:spPr>
            <a:xfrm>
              <a:off x="17577500" y="6278633"/>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4" name="Freeform 21">
              <a:extLst>
                <a:ext uri="{FF2B5EF4-FFF2-40B4-BE49-F238E27FC236}">
                  <a16:creationId xmlns:a16="http://schemas.microsoft.com/office/drawing/2014/main" id="{A88CC381-EDAA-9899-57AD-33AA5C889378}"/>
                </a:ext>
              </a:extLst>
            </p:cNvPr>
            <p:cNvSpPr/>
            <p:nvPr/>
          </p:nvSpPr>
          <p:spPr>
            <a:xfrm>
              <a:off x="17575010" y="700119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5" name="Freeform 21">
              <a:extLst>
                <a:ext uri="{FF2B5EF4-FFF2-40B4-BE49-F238E27FC236}">
                  <a16:creationId xmlns:a16="http://schemas.microsoft.com/office/drawing/2014/main" id="{6DDCDBAC-B814-F0B1-E345-97AA66CF2B93}"/>
                </a:ext>
              </a:extLst>
            </p:cNvPr>
            <p:cNvSpPr/>
            <p:nvPr/>
          </p:nvSpPr>
          <p:spPr>
            <a:xfrm>
              <a:off x="17577499" y="775982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6" name="Freeform 21">
              <a:extLst>
                <a:ext uri="{FF2B5EF4-FFF2-40B4-BE49-F238E27FC236}">
                  <a16:creationId xmlns:a16="http://schemas.microsoft.com/office/drawing/2014/main" id="{5EBA8492-4F22-F7A8-D78B-38203F4138B2}"/>
                </a:ext>
              </a:extLst>
            </p:cNvPr>
            <p:cNvSpPr/>
            <p:nvPr/>
          </p:nvSpPr>
          <p:spPr>
            <a:xfrm>
              <a:off x="17566046" y="8520841"/>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grpSp>
      <p:sp>
        <p:nvSpPr>
          <p:cNvPr id="107" name="TextBox 39">
            <a:extLst>
              <a:ext uri="{FF2B5EF4-FFF2-40B4-BE49-F238E27FC236}">
                <a16:creationId xmlns:a16="http://schemas.microsoft.com/office/drawing/2014/main" id="{FC6EB8A7-248D-5181-A838-9307476DCE22}"/>
              </a:ext>
            </a:extLst>
          </p:cNvPr>
          <p:cNvSpPr txBox="1"/>
          <p:nvPr/>
        </p:nvSpPr>
        <p:spPr>
          <a:xfrm>
            <a:off x="14875224" y="7267389"/>
            <a:ext cx="2740730"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TİCARİLEŞME POTANSİYELİ VE SÜRDÜRÜLEBİLİRLİK</a:t>
            </a:r>
            <a:endParaRPr lang="en-US" dirty="0"/>
          </a:p>
        </p:txBody>
      </p:sp>
    </p:spTree>
    <p:extLst>
      <p:ext uri="{BB962C8B-B14F-4D97-AF65-F5344CB8AC3E}">
        <p14:creationId xmlns:p14="http://schemas.microsoft.com/office/powerpoint/2010/main" val="3281490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4E7AC-8160-9702-BE6A-604449C93281}"/>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1E75BAB8-511D-5D18-3883-1D35AD22F3E6}"/>
              </a:ext>
            </a:extLst>
          </p:cNvPr>
          <p:cNvSpPr txBox="1"/>
          <p:nvPr/>
        </p:nvSpPr>
        <p:spPr>
          <a:xfrm>
            <a:off x="1295400" y="1958957"/>
            <a:ext cx="11631457" cy="4555093"/>
          </a:xfrm>
          <a:prstGeom prst="rect">
            <a:avLst/>
          </a:prstGeom>
          <a:noFill/>
        </p:spPr>
        <p:txBody>
          <a:bodyPr wrap="square">
            <a:spAutoFit/>
          </a:bodyPr>
          <a:lstStyle/>
          <a:p>
            <a:pPr marL="342900" indent="-342900" algn="just">
              <a:buSzPts val="1000"/>
              <a:buFont typeface="Symbol" pitchFamily="2" charset="2"/>
              <a:buChar char=""/>
              <a:tabLst>
                <a:tab pos="457200" algn="l"/>
              </a:tabLst>
            </a:pPr>
            <a:endParaRPr lang="en-US" dirty="0">
              <a:solidFill>
                <a:srgbClr val="FF0000"/>
              </a:solidFill>
              <a:latin typeface="Aileron Bold"/>
            </a:endParaRPr>
          </a:p>
          <a:p>
            <a:pPr marL="342900" indent="-342900" algn="just">
              <a:buSzPts val="1000"/>
              <a:buFont typeface="Symbol" pitchFamily="2" charset="2"/>
              <a:buChar char=""/>
              <a:tabLst>
                <a:tab pos="457200" algn="l"/>
              </a:tabLst>
            </a:pPr>
            <a:r>
              <a:rPr lang="tr-TR" b="1" dirty="0">
                <a:solidFill>
                  <a:srgbClr val="FF0000"/>
                </a:solidFill>
                <a:latin typeface="Arial" panose="020B0604020202020204" pitchFamily="34" charset="0"/>
              </a:rPr>
              <a:t>Proje amacının ve toplumsal katkısının açıklandığı sayfadır. </a:t>
            </a:r>
            <a:r>
              <a:rPr lang="en-US" dirty="0">
                <a:solidFill>
                  <a:srgbClr val="FF0000"/>
                </a:solidFill>
                <a:latin typeface="Aileron Bold"/>
              </a:rPr>
              <a:t>En </a:t>
            </a:r>
            <a:r>
              <a:rPr lang="en-US" dirty="0" err="1">
                <a:solidFill>
                  <a:srgbClr val="FF0000"/>
                </a:solidFill>
                <a:latin typeface="Aileron Bold"/>
              </a:rPr>
              <a:t>fazla</a:t>
            </a:r>
            <a:r>
              <a:rPr lang="en-US" dirty="0">
                <a:solidFill>
                  <a:srgbClr val="FF0000"/>
                </a:solidFill>
                <a:latin typeface="Aileron Bold"/>
              </a:rPr>
              <a:t> 1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u="sng"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p>
          <a:p>
            <a:pPr algn="just">
              <a:buSzPts val="1000"/>
              <a:tabLst>
                <a:tab pos="457200" algn="l"/>
              </a:tabLst>
            </a:pPr>
            <a:endParaRPr lang="tr-TR" b="1" dirty="0">
              <a:solidFill>
                <a:srgbClr val="FF0000"/>
              </a:solidFill>
              <a:latin typeface="Arial" panose="020B0604020202020204" pitchFamily="34" charset="0"/>
            </a:endParaRPr>
          </a:p>
          <a:p>
            <a:pPr marL="342900" indent="-342900" algn="just">
              <a:buSzPts val="1000"/>
              <a:buFont typeface="Symbol" pitchFamily="2" charset="2"/>
              <a:buChar char=""/>
              <a:tabLst>
                <a:tab pos="457200" algn="l"/>
              </a:tabLst>
            </a:pPr>
            <a:r>
              <a:rPr lang="tr-TR" b="1" dirty="0">
                <a:solidFill>
                  <a:srgbClr val="FF0000"/>
                </a:solidFill>
                <a:latin typeface="Arial" panose="020B0604020202020204" pitchFamily="34" charset="0"/>
              </a:rPr>
              <a:t>Bu bölümde, projenin hangi gerekçeyle geliştirildiği, hangi temel sorunu çözmeyi amaçladığı ve topluma nasıl katkı sağlayacağı açık bir biçimde ortaya konulmalıdır. </a:t>
            </a:r>
          </a:p>
          <a:p>
            <a:pPr marL="342900" indent="-342900" algn="just">
              <a:buSzPts val="1000"/>
              <a:buFont typeface="Symbol" pitchFamily="2" charset="2"/>
              <a:buChar char=""/>
              <a:tabLst>
                <a:tab pos="457200" algn="l"/>
              </a:tabLst>
            </a:pPr>
            <a:endParaRPr lang="tr-TR" b="1" dirty="0">
              <a:solidFill>
                <a:srgbClr val="FF0000"/>
              </a:solidFill>
              <a:latin typeface="Arial" panose="020B0604020202020204" pitchFamily="34" charset="0"/>
            </a:endParaRPr>
          </a:p>
          <a:p>
            <a:pPr algn="just"/>
            <a:r>
              <a:rPr lang="tr-TR" b="1" dirty="0">
                <a:solidFill>
                  <a:srgbClr val="FF0000"/>
                </a:solidFill>
                <a:latin typeface="Arial" panose="020B0604020202020204" pitchFamily="34" charset="0"/>
              </a:rPr>
              <a:t>     Bu bölümde, projenin hangi gerekçeyle geliştirildiği ve hangi temel sorunu çözmeyi amaçladığı açık bir biçimde ortaya konulmalıdır. </a:t>
            </a:r>
          </a:p>
          <a:p>
            <a:pPr algn="just"/>
            <a:r>
              <a:rPr lang="tr-TR" b="1" dirty="0">
                <a:solidFill>
                  <a:srgbClr val="FF0000"/>
                </a:solidFill>
                <a:latin typeface="Arial" panose="020B0604020202020204" pitchFamily="34" charset="0"/>
              </a:rPr>
              <a:t>Bu kapsamda;</a:t>
            </a:r>
          </a:p>
          <a:p>
            <a:pPr algn="just"/>
            <a:r>
              <a:rPr lang="tr-TR" b="1" dirty="0">
                <a:solidFill>
                  <a:srgbClr val="FF0000"/>
                </a:solidFill>
                <a:latin typeface="Arial" panose="020B0604020202020204" pitchFamily="34" charset="0"/>
              </a:rPr>
              <a:t>•	Proje amacı açık, anlaşılır ve tutarlı şekilde ifade edilmelidir.</a:t>
            </a:r>
          </a:p>
          <a:p>
            <a:pPr algn="just"/>
            <a:r>
              <a:rPr lang="tr-TR" b="1" dirty="0">
                <a:solidFill>
                  <a:srgbClr val="FF0000"/>
                </a:solidFill>
                <a:latin typeface="Arial" panose="020B0604020202020204" pitchFamily="34" charset="0"/>
              </a:rPr>
              <a:t>•	Proje, tarımsal üretim, tarımsal faaliyetlerle veya hayvancılık vb. ilişkilendirilebilen sahada karşılığı olan, gerçek bir soruna odaklanmalıdır.</a:t>
            </a:r>
          </a:p>
          <a:p>
            <a:pPr algn="just"/>
            <a:r>
              <a:rPr lang="tr-TR" b="1" dirty="0">
                <a:solidFill>
                  <a:srgbClr val="FF0000"/>
                </a:solidFill>
                <a:latin typeface="Arial" panose="020B0604020202020204" pitchFamily="34" charset="0"/>
              </a:rPr>
              <a:t>•	Projenin çiftçiler, üreticiler veya tarımsal üretim süreçleri vb. açısından sağlayacağı faydalar belirtilmelidir.	</a:t>
            </a:r>
            <a:endParaRPr lang="tr-TR" sz="2000" dirty="0">
              <a:solidFill>
                <a:srgbClr val="FF0000"/>
              </a:solidFill>
              <a:latin typeface="Aileron Bold"/>
            </a:endParaRPr>
          </a:p>
          <a:p>
            <a:pPr algn="just">
              <a:buSzPts val="1000"/>
              <a:tabLst>
                <a:tab pos="457200" algn="l"/>
              </a:tabLst>
            </a:pPr>
            <a:endParaRPr lang="tr-TR" sz="2000" dirty="0">
              <a:solidFill>
                <a:srgbClr val="DE2223"/>
              </a:solidFill>
              <a:latin typeface="Aileron Bold"/>
            </a:endParaRPr>
          </a:p>
        </p:txBody>
      </p:sp>
      <p:sp>
        <p:nvSpPr>
          <p:cNvPr id="24" name="TextBox 8">
            <a:extLst>
              <a:ext uri="{FF2B5EF4-FFF2-40B4-BE49-F238E27FC236}">
                <a16:creationId xmlns:a16="http://schemas.microsoft.com/office/drawing/2014/main" id="{71D1C19C-B582-2E24-BFAD-646B541B4991}"/>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200" dirty="0">
                <a:solidFill>
                  <a:srgbClr val="1A426A"/>
                </a:solidFill>
                <a:latin typeface="Active Heart"/>
              </a:rPr>
              <a:t>PROJE AMACI VE TOPLUMSAL FAYDASI</a:t>
            </a:r>
            <a:endParaRPr lang="en-US" sz="6200" dirty="0">
              <a:solidFill>
                <a:srgbClr val="1A426A"/>
              </a:solidFill>
              <a:latin typeface="Active Heart"/>
            </a:endParaRPr>
          </a:p>
        </p:txBody>
      </p:sp>
      <p:sp>
        <p:nvSpPr>
          <p:cNvPr id="3" name="TextBox 114">
            <a:extLst>
              <a:ext uri="{FF2B5EF4-FFF2-40B4-BE49-F238E27FC236}">
                <a16:creationId xmlns:a16="http://schemas.microsoft.com/office/drawing/2014/main" id="{6010A2C6-8F17-9FEA-6AF2-BBEF23080D91}"/>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a:t>
            </a:r>
            <a:r>
              <a:rPr lang="tr-TR" dirty="0">
                <a:solidFill>
                  <a:srgbClr val="1A426A"/>
                </a:solidFill>
                <a:latin typeface="Active Heart"/>
              </a:rPr>
              <a:t>TARIM TEKNOLOJİLERİ</a:t>
            </a:r>
            <a:r>
              <a:rPr lang="en-US" dirty="0">
                <a:solidFill>
                  <a:srgbClr val="1A426A"/>
                </a:solidFill>
                <a:latin typeface="Active Heart"/>
              </a:rPr>
              <a:t>YARIŞMASI </a:t>
            </a:r>
            <a:endParaRPr lang="tr-TR" dirty="0">
              <a:solidFill>
                <a:srgbClr val="1A426A"/>
              </a:solidFill>
              <a:latin typeface="Active Heart"/>
            </a:endParaRPr>
          </a:p>
          <a:p>
            <a:pPr algn="ctr">
              <a:lnSpc>
                <a:spcPts val="2000"/>
              </a:lnSpc>
              <a:spcBef>
                <a:spcPct val="0"/>
              </a:spcBef>
            </a:pPr>
            <a:r>
              <a:rPr lang="en-US" dirty="0">
                <a:solidFill>
                  <a:srgbClr val="1A426A"/>
                </a:solidFill>
                <a:latin typeface="Active Heart"/>
              </a:rPr>
              <a:t>PROJE SUNUMU</a:t>
            </a:r>
          </a:p>
        </p:txBody>
      </p:sp>
      <p:sp>
        <p:nvSpPr>
          <p:cNvPr id="78" name="TextBox 39">
            <a:extLst>
              <a:ext uri="{FF2B5EF4-FFF2-40B4-BE49-F238E27FC236}">
                <a16:creationId xmlns:a16="http://schemas.microsoft.com/office/drawing/2014/main" id="{B721B931-3B92-0258-1C38-CC93256F7530}"/>
              </a:ext>
            </a:extLst>
          </p:cNvPr>
          <p:cNvSpPr txBox="1"/>
          <p:nvPr/>
        </p:nvSpPr>
        <p:spPr>
          <a:xfrm>
            <a:off x="14875224" y="6556090"/>
            <a:ext cx="2740730" cy="539443"/>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MEVCUT ÇÖZÜMLERLE KARŞILAŞTIRMA</a:t>
            </a:r>
            <a:endParaRPr lang="en-US" dirty="0"/>
          </a:p>
        </p:txBody>
      </p:sp>
      <p:sp>
        <p:nvSpPr>
          <p:cNvPr id="79" name="TextBox 34">
            <a:extLst>
              <a:ext uri="{FF2B5EF4-FFF2-40B4-BE49-F238E27FC236}">
                <a16:creationId xmlns:a16="http://schemas.microsoft.com/office/drawing/2014/main" id="{D85AA7C8-CA01-8DCA-7833-B7425D36AFC2}"/>
              </a:ext>
            </a:extLst>
          </p:cNvPr>
          <p:cNvSpPr txBox="1"/>
          <p:nvPr/>
        </p:nvSpPr>
        <p:spPr>
          <a:xfrm>
            <a:off x="16683289" y="5330207"/>
            <a:ext cx="922351"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YÖNTEM</a:t>
            </a:r>
            <a:endParaRPr lang="en-US" dirty="0"/>
          </a:p>
        </p:txBody>
      </p:sp>
      <p:sp>
        <p:nvSpPr>
          <p:cNvPr id="80" name="TextBox 35">
            <a:extLst>
              <a:ext uri="{FF2B5EF4-FFF2-40B4-BE49-F238E27FC236}">
                <a16:creationId xmlns:a16="http://schemas.microsoft.com/office/drawing/2014/main" id="{73805D0A-C6F2-62CA-D62E-3E5EDB54626C}"/>
              </a:ext>
            </a:extLst>
          </p:cNvPr>
          <p:cNvSpPr txBox="1"/>
          <p:nvPr/>
        </p:nvSpPr>
        <p:spPr>
          <a:xfrm>
            <a:off x="15290180" y="3881113"/>
            <a:ext cx="2332079"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PROBLEMİN TANIMI VE ÖNEMİ</a:t>
            </a:r>
            <a:endParaRPr lang="en-US" dirty="0"/>
          </a:p>
        </p:txBody>
      </p:sp>
      <p:sp>
        <p:nvSpPr>
          <p:cNvPr id="81" name="TextBox 36">
            <a:extLst>
              <a:ext uri="{FF2B5EF4-FFF2-40B4-BE49-F238E27FC236}">
                <a16:creationId xmlns:a16="http://schemas.microsoft.com/office/drawing/2014/main" id="{1FD51CA1-5F9D-1977-337A-17E1C4C05AA9}"/>
              </a:ext>
            </a:extLst>
          </p:cNvPr>
          <p:cNvSpPr txBox="1"/>
          <p:nvPr/>
        </p:nvSpPr>
        <p:spPr>
          <a:xfrm>
            <a:off x="15914926" y="4670804"/>
            <a:ext cx="1693724"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ÇÖZÜM ÖNERİSİ</a:t>
            </a:r>
            <a:endParaRPr lang="en-US" dirty="0"/>
          </a:p>
        </p:txBody>
      </p:sp>
      <p:sp>
        <p:nvSpPr>
          <p:cNvPr id="82" name="TextBox 38">
            <a:extLst>
              <a:ext uri="{FF2B5EF4-FFF2-40B4-BE49-F238E27FC236}">
                <a16:creationId xmlns:a16="http://schemas.microsoft.com/office/drawing/2014/main" id="{D7CF4E27-B6B8-12A9-DC26-284C08D6BA39}"/>
              </a:ext>
            </a:extLst>
          </p:cNvPr>
          <p:cNvSpPr txBox="1"/>
          <p:nvPr/>
        </p:nvSpPr>
        <p:spPr>
          <a:xfrm>
            <a:off x="15922231" y="8117798"/>
            <a:ext cx="1693723"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TAKVİMİ</a:t>
            </a:r>
            <a:endParaRPr lang="en-US" dirty="0"/>
          </a:p>
        </p:txBody>
      </p:sp>
      <p:sp>
        <p:nvSpPr>
          <p:cNvPr id="83" name="AutoShape 20">
            <a:extLst>
              <a:ext uri="{FF2B5EF4-FFF2-40B4-BE49-F238E27FC236}">
                <a16:creationId xmlns:a16="http://schemas.microsoft.com/office/drawing/2014/main" id="{495E602C-F5D6-5FD7-59AC-7B7FB05CCC15}"/>
              </a:ext>
            </a:extLst>
          </p:cNvPr>
          <p:cNvSpPr/>
          <p:nvPr/>
        </p:nvSpPr>
        <p:spPr>
          <a:xfrm flipV="1">
            <a:off x="17862002" y="1644769"/>
            <a:ext cx="0" cy="7289230"/>
          </a:xfrm>
          <a:prstGeom prst="line">
            <a:avLst/>
          </a:prstGeom>
          <a:ln w="38100" cap="flat">
            <a:solidFill>
              <a:srgbClr val="344C54"/>
            </a:solidFill>
            <a:prstDash val="solid"/>
            <a:headEnd type="none" w="sm" len="sm"/>
            <a:tailEnd type="none" w="sm" len="sm"/>
          </a:ln>
        </p:spPr>
        <p:txBody>
          <a:bodyPr/>
          <a:lstStyle/>
          <a:p>
            <a:endParaRPr lang="tr-TR"/>
          </a:p>
        </p:txBody>
      </p:sp>
      <p:sp>
        <p:nvSpPr>
          <p:cNvPr id="84" name="TextBox 40">
            <a:extLst>
              <a:ext uri="{FF2B5EF4-FFF2-40B4-BE49-F238E27FC236}">
                <a16:creationId xmlns:a16="http://schemas.microsoft.com/office/drawing/2014/main" id="{1F2C1357-D62F-006E-D1F4-B8C81ADD87D9}"/>
              </a:ext>
            </a:extLst>
          </p:cNvPr>
          <p:cNvSpPr txBox="1"/>
          <p:nvPr/>
        </p:nvSpPr>
        <p:spPr>
          <a:xfrm>
            <a:off x="15099049" y="2568371"/>
            <a:ext cx="2516905"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ÖZETİ, KAPSAMI ve HEDEF KİTLE</a:t>
            </a:r>
            <a:endParaRPr lang="en-US" dirty="0"/>
          </a:p>
        </p:txBody>
      </p:sp>
      <p:sp>
        <p:nvSpPr>
          <p:cNvPr id="85" name="TextBox 42">
            <a:extLst>
              <a:ext uri="{FF2B5EF4-FFF2-40B4-BE49-F238E27FC236}">
                <a16:creationId xmlns:a16="http://schemas.microsoft.com/office/drawing/2014/main" id="{68484635-413F-3D60-4EFD-D93A11B22CBB}"/>
              </a:ext>
            </a:extLst>
          </p:cNvPr>
          <p:cNvSpPr txBox="1"/>
          <p:nvPr/>
        </p:nvSpPr>
        <p:spPr>
          <a:xfrm>
            <a:off x="15435222" y="2092314"/>
            <a:ext cx="2174945"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en-US" dirty="0"/>
              <a:t>T</a:t>
            </a:r>
            <a:r>
              <a:rPr lang="tr-TR" dirty="0"/>
              <a:t>AKIM TANITIM</a:t>
            </a:r>
            <a:endParaRPr lang="en-US" dirty="0"/>
          </a:p>
        </p:txBody>
      </p:sp>
      <p:sp>
        <p:nvSpPr>
          <p:cNvPr id="86" name="Freeform 22">
            <a:extLst>
              <a:ext uri="{FF2B5EF4-FFF2-40B4-BE49-F238E27FC236}">
                <a16:creationId xmlns:a16="http://schemas.microsoft.com/office/drawing/2014/main" id="{F1D7633C-824F-9D38-1944-AFDB0433D8C5}"/>
              </a:ext>
            </a:extLst>
          </p:cNvPr>
          <p:cNvSpPr/>
          <p:nvPr/>
        </p:nvSpPr>
        <p:spPr>
          <a:xfrm>
            <a:off x="17791146" y="2839736"/>
            <a:ext cx="201784" cy="214667"/>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87" name="TextBox 34">
            <a:extLst>
              <a:ext uri="{FF2B5EF4-FFF2-40B4-BE49-F238E27FC236}">
                <a16:creationId xmlns:a16="http://schemas.microsoft.com/office/drawing/2014/main" id="{0E9E7F86-FB85-02DB-23C7-B98B476AA599}"/>
              </a:ext>
            </a:extLst>
          </p:cNvPr>
          <p:cNvSpPr txBox="1"/>
          <p:nvPr/>
        </p:nvSpPr>
        <p:spPr>
          <a:xfrm>
            <a:off x="15103346" y="3206954"/>
            <a:ext cx="2505303" cy="53719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defPPr>
              <a:defRPr lang="en-US"/>
            </a:defPPr>
            <a:lvl1pPr algn="r">
              <a:lnSpc>
                <a:spcPts val="2232"/>
              </a:lnSpc>
              <a:defRPr sz="1590">
                <a:solidFill>
                  <a:srgbClr val="1C4C61"/>
                </a:solidFill>
                <a:latin typeface="Aileron Bold"/>
              </a:defRPr>
            </a:lvl1pPr>
          </a:lstStyle>
          <a:p>
            <a:r>
              <a:rPr lang="tr-TR" dirty="0"/>
              <a:t>PROJE AMACI VE TOPLUMSAL FAYDASI</a:t>
            </a:r>
            <a:endParaRPr lang="en-US" dirty="0"/>
          </a:p>
        </p:txBody>
      </p:sp>
      <p:sp>
        <p:nvSpPr>
          <p:cNvPr id="88" name="TextBox 39">
            <a:extLst>
              <a:ext uri="{FF2B5EF4-FFF2-40B4-BE49-F238E27FC236}">
                <a16:creationId xmlns:a16="http://schemas.microsoft.com/office/drawing/2014/main" id="{221C78C0-0132-B8A1-9450-61E6594F393C}"/>
              </a:ext>
            </a:extLst>
          </p:cNvPr>
          <p:cNvSpPr txBox="1"/>
          <p:nvPr/>
        </p:nvSpPr>
        <p:spPr>
          <a:xfrm>
            <a:off x="15204106" y="5878404"/>
            <a:ext cx="2413247"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PROTOTİP / TASARIM VE İŞLEYİŞİ</a:t>
            </a:r>
            <a:endParaRPr lang="en-US" dirty="0"/>
          </a:p>
        </p:txBody>
      </p:sp>
      <p:sp>
        <p:nvSpPr>
          <p:cNvPr id="89" name="Freeform 96">
            <a:extLst>
              <a:ext uri="{FF2B5EF4-FFF2-40B4-BE49-F238E27FC236}">
                <a16:creationId xmlns:a16="http://schemas.microsoft.com/office/drawing/2014/main" id="{F81B1B0C-1170-D2F9-0693-EE4AE4649261}"/>
              </a:ext>
            </a:extLst>
          </p:cNvPr>
          <p:cNvSpPr/>
          <p:nvPr/>
        </p:nvSpPr>
        <p:spPr>
          <a:xfrm>
            <a:off x="17389288"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0" name="Freeform 97">
            <a:extLst>
              <a:ext uri="{FF2B5EF4-FFF2-40B4-BE49-F238E27FC236}">
                <a16:creationId xmlns:a16="http://schemas.microsoft.com/office/drawing/2014/main" id="{B0D1BAD9-9DF7-4F1C-0106-7FC1AC17D7B9}"/>
              </a:ext>
            </a:extLst>
          </p:cNvPr>
          <p:cNvSpPr/>
          <p:nvPr/>
        </p:nvSpPr>
        <p:spPr>
          <a:xfrm>
            <a:off x="17718785"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1" name="Freeform 96">
            <a:extLst>
              <a:ext uri="{FF2B5EF4-FFF2-40B4-BE49-F238E27FC236}">
                <a16:creationId xmlns:a16="http://schemas.microsoft.com/office/drawing/2014/main" id="{C0E462A1-E552-3355-85CC-867640025066}"/>
              </a:ext>
            </a:extLst>
          </p:cNvPr>
          <p:cNvSpPr/>
          <p:nvPr/>
        </p:nvSpPr>
        <p:spPr>
          <a:xfrm>
            <a:off x="17389287" y="8723804"/>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2" name="Freeform 97">
            <a:extLst>
              <a:ext uri="{FF2B5EF4-FFF2-40B4-BE49-F238E27FC236}">
                <a16:creationId xmlns:a16="http://schemas.microsoft.com/office/drawing/2014/main" id="{4D65BEB2-0543-0F64-0AD4-FB17ED25C6E3}"/>
              </a:ext>
            </a:extLst>
          </p:cNvPr>
          <p:cNvSpPr/>
          <p:nvPr/>
        </p:nvSpPr>
        <p:spPr>
          <a:xfrm>
            <a:off x="17711120" y="8761545"/>
            <a:ext cx="295907" cy="344908"/>
          </a:xfrm>
          <a:prstGeom prst="ellipse">
            <a:avLst/>
          </a:prstGeom>
          <a:solidFill>
            <a:srgbClr val="F3A025"/>
          </a:solidFill>
        </p:spPr>
        <p:txBody>
          <a:bodyPr/>
          <a:lstStyle/>
          <a:p>
            <a:endParaRPr lang="tr-TR"/>
          </a:p>
        </p:txBody>
      </p:sp>
      <p:grpSp>
        <p:nvGrpSpPr>
          <p:cNvPr id="93" name="Grup 92">
            <a:extLst>
              <a:ext uri="{FF2B5EF4-FFF2-40B4-BE49-F238E27FC236}">
                <a16:creationId xmlns:a16="http://schemas.microsoft.com/office/drawing/2014/main" id="{0585C3DC-0E5C-A60A-28F0-918635D2DCE5}"/>
              </a:ext>
            </a:extLst>
          </p:cNvPr>
          <p:cNvGrpSpPr/>
          <p:nvPr/>
        </p:nvGrpSpPr>
        <p:grpSpPr>
          <a:xfrm>
            <a:off x="17670306" y="2018618"/>
            <a:ext cx="371449" cy="6437321"/>
            <a:chOff x="17566046" y="2111764"/>
            <a:chExt cx="394849" cy="6842841"/>
          </a:xfrm>
        </p:grpSpPr>
        <p:sp>
          <p:nvSpPr>
            <p:cNvPr id="94" name="Freeform 21">
              <a:extLst>
                <a:ext uri="{FF2B5EF4-FFF2-40B4-BE49-F238E27FC236}">
                  <a16:creationId xmlns:a16="http://schemas.microsoft.com/office/drawing/2014/main" id="{7F6C844F-8D5C-633F-F3C2-BB1A7BDE917E}"/>
                </a:ext>
              </a:extLst>
            </p:cNvPr>
            <p:cNvSpPr/>
            <p:nvPr/>
          </p:nvSpPr>
          <p:spPr>
            <a:xfrm>
              <a:off x="17577504" y="211176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5" name="Freeform 21">
              <a:extLst>
                <a:ext uri="{FF2B5EF4-FFF2-40B4-BE49-F238E27FC236}">
                  <a16:creationId xmlns:a16="http://schemas.microsoft.com/office/drawing/2014/main" id="{1A60747D-C4E1-1F72-98EE-D6EF903CC889}"/>
                </a:ext>
              </a:extLst>
            </p:cNvPr>
            <p:cNvSpPr/>
            <p:nvPr/>
          </p:nvSpPr>
          <p:spPr>
            <a:xfrm>
              <a:off x="17577504" y="276608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6" name="Freeform 21">
              <a:extLst>
                <a:ext uri="{FF2B5EF4-FFF2-40B4-BE49-F238E27FC236}">
                  <a16:creationId xmlns:a16="http://schemas.microsoft.com/office/drawing/2014/main" id="{F6DEAD2B-916F-F8D9-DD40-708312BB6467}"/>
                </a:ext>
              </a:extLst>
            </p:cNvPr>
            <p:cNvSpPr/>
            <p:nvPr/>
          </p:nvSpPr>
          <p:spPr>
            <a:xfrm>
              <a:off x="17577503" y="3443597"/>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7" name="Freeform 21">
              <a:extLst>
                <a:ext uri="{FF2B5EF4-FFF2-40B4-BE49-F238E27FC236}">
                  <a16:creationId xmlns:a16="http://schemas.microsoft.com/office/drawing/2014/main" id="{E26CFB1C-FD84-74EB-A6AD-CDFB2E0338F1}"/>
                </a:ext>
              </a:extLst>
            </p:cNvPr>
            <p:cNvSpPr/>
            <p:nvPr/>
          </p:nvSpPr>
          <p:spPr>
            <a:xfrm>
              <a:off x="17577502" y="416210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8" name="Freeform 21">
              <a:extLst>
                <a:ext uri="{FF2B5EF4-FFF2-40B4-BE49-F238E27FC236}">
                  <a16:creationId xmlns:a16="http://schemas.microsoft.com/office/drawing/2014/main" id="{A2484642-9261-3F54-91E8-92CB23BA46D1}"/>
                </a:ext>
              </a:extLst>
            </p:cNvPr>
            <p:cNvSpPr/>
            <p:nvPr/>
          </p:nvSpPr>
          <p:spPr>
            <a:xfrm>
              <a:off x="17577501" y="4857339"/>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9" name="Freeform 21">
              <a:extLst>
                <a:ext uri="{FF2B5EF4-FFF2-40B4-BE49-F238E27FC236}">
                  <a16:creationId xmlns:a16="http://schemas.microsoft.com/office/drawing/2014/main" id="{629395C9-35A1-30AF-4448-DEA03702B8F4}"/>
                </a:ext>
              </a:extLst>
            </p:cNvPr>
            <p:cNvSpPr/>
            <p:nvPr/>
          </p:nvSpPr>
          <p:spPr>
            <a:xfrm>
              <a:off x="17577500" y="555606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00" name="Freeform 21">
              <a:extLst>
                <a:ext uri="{FF2B5EF4-FFF2-40B4-BE49-F238E27FC236}">
                  <a16:creationId xmlns:a16="http://schemas.microsoft.com/office/drawing/2014/main" id="{41DDE7F7-5269-F67B-8BD7-6D54DD005BEE}"/>
                </a:ext>
              </a:extLst>
            </p:cNvPr>
            <p:cNvSpPr/>
            <p:nvPr/>
          </p:nvSpPr>
          <p:spPr>
            <a:xfrm>
              <a:off x="17577500" y="6278633"/>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01" name="Freeform 21">
              <a:extLst>
                <a:ext uri="{FF2B5EF4-FFF2-40B4-BE49-F238E27FC236}">
                  <a16:creationId xmlns:a16="http://schemas.microsoft.com/office/drawing/2014/main" id="{B3F65389-B412-C5DB-0870-22DBA3FA76A3}"/>
                </a:ext>
              </a:extLst>
            </p:cNvPr>
            <p:cNvSpPr/>
            <p:nvPr/>
          </p:nvSpPr>
          <p:spPr>
            <a:xfrm>
              <a:off x="17575010" y="700119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02" name="Freeform 21">
              <a:extLst>
                <a:ext uri="{FF2B5EF4-FFF2-40B4-BE49-F238E27FC236}">
                  <a16:creationId xmlns:a16="http://schemas.microsoft.com/office/drawing/2014/main" id="{763C2F05-2405-C52B-A54A-679355940147}"/>
                </a:ext>
              </a:extLst>
            </p:cNvPr>
            <p:cNvSpPr/>
            <p:nvPr/>
          </p:nvSpPr>
          <p:spPr>
            <a:xfrm>
              <a:off x="17577499" y="775982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03" name="Freeform 21">
              <a:extLst>
                <a:ext uri="{FF2B5EF4-FFF2-40B4-BE49-F238E27FC236}">
                  <a16:creationId xmlns:a16="http://schemas.microsoft.com/office/drawing/2014/main" id="{5D594F35-9489-6190-9D7C-0AFAB061BE7F}"/>
                </a:ext>
              </a:extLst>
            </p:cNvPr>
            <p:cNvSpPr/>
            <p:nvPr/>
          </p:nvSpPr>
          <p:spPr>
            <a:xfrm>
              <a:off x="17566046" y="8520841"/>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grpSp>
      <p:sp>
        <p:nvSpPr>
          <p:cNvPr id="104" name="TextBox 39">
            <a:extLst>
              <a:ext uri="{FF2B5EF4-FFF2-40B4-BE49-F238E27FC236}">
                <a16:creationId xmlns:a16="http://schemas.microsoft.com/office/drawing/2014/main" id="{5DA1FD82-E4EE-1398-B10C-7743758C2F72}"/>
              </a:ext>
            </a:extLst>
          </p:cNvPr>
          <p:cNvSpPr txBox="1"/>
          <p:nvPr/>
        </p:nvSpPr>
        <p:spPr>
          <a:xfrm>
            <a:off x="14875224" y="7267389"/>
            <a:ext cx="2740730"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TİCARİLEŞME POTANSİYELİ VE SÜRDÜRÜLEBİLİRLİK</a:t>
            </a:r>
            <a:endParaRPr lang="en-US" dirty="0"/>
          </a:p>
        </p:txBody>
      </p:sp>
    </p:spTree>
    <p:extLst>
      <p:ext uri="{BB962C8B-B14F-4D97-AF65-F5344CB8AC3E}">
        <p14:creationId xmlns:p14="http://schemas.microsoft.com/office/powerpoint/2010/main" val="41558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4F88C-5545-8565-509F-869A8FC309EC}"/>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C34BA6F3-FF3A-3F81-0BA9-EF72C08CEEAC}"/>
              </a:ext>
            </a:extLst>
          </p:cNvPr>
          <p:cNvSpPr txBox="1"/>
          <p:nvPr/>
        </p:nvSpPr>
        <p:spPr>
          <a:xfrm>
            <a:off x="1295400" y="1775374"/>
            <a:ext cx="11631457" cy="7949484"/>
          </a:xfrm>
          <a:prstGeom prst="rect">
            <a:avLst/>
          </a:prstGeom>
          <a:noFill/>
        </p:spPr>
        <p:txBody>
          <a:bodyPr wrap="square">
            <a:spAutoFit/>
          </a:bodyPr>
          <a:lstStyle/>
          <a:p>
            <a:pPr algn="just">
              <a:lnSpc>
                <a:spcPts val="2880"/>
              </a:lnSpc>
            </a:pPr>
            <a:endParaRPr lang="tr-TR" dirty="0">
              <a:solidFill>
                <a:srgbClr val="FF0000"/>
              </a:solidFill>
            </a:endParaRPr>
          </a:p>
          <a:p>
            <a:pPr marL="480060" lvl="1" indent="-285750" algn="just">
              <a:lnSpc>
                <a:spcPts val="2880"/>
              </a:lnSpc>
              <a:buFont typeface="Arial" panose="020B0604020202020204" pitchFamily="34" charset="0"/>
              <a:buChar char="•"/>
            </a:pPr>
            <a:r>
              <a:rPr lang="tr-TR" dirty="0">
                <a:solidFill>
                  <a:srgbClr val="FF0000"/>
                </a:solidFill>
                <a:latin typeface="Aileron Bold"/>
              </a:rPr>
              <a:t>Problemin ele alındığı sayfadır.</a:t>
            </a:r>
          </a:p>
          <a:p>
            <a:pPr marL="480060" lvl="1" indent="-285750" algn="just">
              <a:lnSpc>
                <a:spcPts val="2880"/>
              </a:lnSpc>
              <a:buFont typeface="Arial" panose="020B0604020202020204" pitchFamily="34" charset="0"/>
              <a:buChar char="•"/>
            </a:pPr>
            <a:r>
              <a:rPr lang="tr-TR" dirty="0">
                <a:solidFill>
                  <a:srgbClr val="FF0000"/>
                </a:solidFill>
                <a:latin typeface="Aileron Bold"/>
              </a:rPr>
              <a:t>Problem tanımı </a:t>
            </a:r>
            <a:r>
              <a:rPr lang="tr-TR" u="sng" dirty="0">
                <a:solidFill>
                  <a:srgbClr val="FF0000"/>
                </a:solidFill>
                <a:latin typeface="Aileron Bold Italics"/>
              </a:rPr>
              <a:t>en  fazla 2 </a:t>
            </a:r>
            <a:r>
              <a:rPr lang="tr-TR" dirty="0">
                <a:solidFill>
                  <a:srgbClr val="FF0000"/>
                </a:solidFill>
                <a:latin typeface="Aileron Bold"/>
              </a:rPr>
              <a:t>(iki) sayfada açıklanmalıdır. </a:t>
            </a:r>
            <a:r>
              <a:rPr lang="tr-TR" u="sng" dirty="0">
                <a:solidFill>
                  <a:srgbClr val="FF0000"/>
                </a:solidFill>
                <a:latin typeface="Aileron Bold"/>
              </a:rPr>
              <a:t>Sayfa sınırı </a:t>
            </a:r>
            <a:r>
              <a:rPr lang="tr-TR" dirty="0">
                <a:solidFill>
                  <a:srgbClr val="FF0000"/>
                </a:solidFill>
                <a:latin typeface="Aileron Bold"/>
              </a:rPr>
              <a:t>aşılmamalıdır. İsteyen takımlar bir 1 (bir) sayfada anlatabilir.</a:t>
            </a:r>
          </a:p>
          <a:p>
            <a:pPr marL="194310" lvl="1" algn="just">
              <a:lnSpc>
                <a:spcPts val="2880"/>
              </a:lnSpc>
            </a:pPr>
            <a:endParaRPr lang="tr-TR" dirty="0">
              <a:solidFill>
                <a:srgbClr val="FF0000"/>
              </a:solidFill>
              <a:latin typeface="Aileron Bold"/>
            </a:endParaRPr>
          </a:p>
          <a:p>
            <a:pPr marL="194310" lvl="1" algn="just">
              <a:lnSpc>
                <a:spcPts val="2880"/>
              </a:lnSpc>
            </a:pPr>
            <a:r>
              <a:rPr lang="tr-TR" dirty="0">
                <a:solidFill>
                  <a:srgbClr val="FF0000"/>
                </a:solidFill>
                <a:latin typeface="Aileron Bold"/>
              </a:rPr>
              <a:t>Bu bölümde, projede ele alınan problem açık ve tutarlı bir dil kullanılarak tanımlanmalıdır. Yapılan açıklamalar, problemin önemi ve hangi alanları etkilediğini ortaya koymalıdır.</a:t>
            </a:r>
          </a:p>
          <a:p>
            <a:pPr marL="194310" lvl="1" algn="just">
              <a:lnSpc>
                <a:spcPts val="2880"/>
              </a:lnSpc>
            </a:pPr>
            <a:r>
              <a:rPr lang="tr-TR" dirty="0">
                <a:solidFill>
                  <a:srgbClr val="FF0000"/>
                </a:solidFill>
                <a:latin typeface="Aileron Bold"/>
              </a:rPr>
              <a:t>Bu kapsamda;</a:t>
            </a:r>
          </a:p>
          <a:p>
            <a:pPr marL="194310" lvl="1" algn="just">
              <a:lnSpc>
                <a:spcPts val="2880"/>
              </a:lnSpc>
            </a:pPr>
            <a:r>
              <a:rPr lang="tr-TR" dirty="0">
                <a:solidFill>
                  <a:srgbClr val="FF0000"/>
                </a:solidFill>
                <a:latin typeface="Aileron Bold"/>
              </a:rPr>
              <a:t>•	Problemin ne olduğu açık biçimde ifade edilmelidir. </a:t>
            </a:r>
          </a:p>
          <a:p>
            <a:pPr marL="194310" lvl="1" algn="just">
              <a:lnSpc>
                <a:spcPts val="2880"/>
              </a:lnSpc>
            </a:pPr>
            <a:r>
              <a:rPr lang="tr-TR" dirty="0">
                <a:solidFill>
                  <a:srgbClr val="FF0000"/>
                </a:solidFill>
                <a:latin typeface="Aileron Bold"/>
              </a:rPr>
              <a:t>•	Seçilen tema/alt başlık kapsamında problemin etkisi; üretim (verim/kayıp/süreklilik), insan (iş gücü/yaşam kalitesi), hayvan refahı, çevre (su-toprak-atık/kirlilik) ve ekonomi (maliyet/fiyat) boyutlarında kısaca ve mümkünse ölçülebilir şekilde ortaya konmalıdır.</a:t>
            </a:r>
          </a:p>
          <a:p>
            <a:pPr marL="194310" lvl="1" algn="just">
              <a:lnSpc>
                <a:spcPts val="2880"/>
              </a:lnSpc>
            </a:pPr>
            <a:r>
              <a:rPr lang="tr-TR" dirty="0">
                <a:solidFill>
                  <a:srgbClr val="FF0000"/>
                </a:solidFill>
                <a:latin typeface="Aileron Bold"/>
              </a:rPr>
              <a:t>•	Etkisi sayıyla desteklenmeli: mümkünse % kayıp, maliyet artışı, su/enerji tüketimi, işçilik süresi, kalite/kalıntı riski gibi en az 1-2 gösterge verilmeli.</a:t>
            </a:r>
          </a:p>
          <a:p>
            <a:pPr marL="194310" lvl="1" algn="just">
              <a:lnSpc>
                <a:spcPts val="2880"/>
              </a:lnSpc>
            </a:pPr>
            <a:r>
              <a:rPr lang="tr-TR" dirty="0">
                <a:solidFill>
                  <a:srgbClr val="FF0000"/>
                </a:solidFill>
                <a:latin typeface="Aileron Bold"/>
              </a:rPr>
              <a:t>Problemle ilgili daha önce bilinen çözümler, gözlemler veya örnek uygulamalar kısa ve açıklayıcı biçimde belirtilebilir.</a:t>
            </a:r>
          </a:p>
          <a:p>
            <a:pPr lvl="1" algn="just"/>
            <a:endParaRPr lang="tr-TR" dirty="0">
              <a:solidFill>
                <a:srgbClr val="FF0000"/>
              </a:solidFill>
              <a:latin typeface="Aileron Bold"/>
            </a:endParaRPr>
          </a:p>
          <a:p>
            <a:pPr lvl="1" algn="just"/>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a:p>
            <a:pPr lvl="1" algn="just"/>
            <a:endParaRPr lang="tr-TR" dirty="0">
              <a:solidFill>
                <a:srgbClr val="C00000"/>
              </a:solidFill>
              <a:latin typeface="Aileron Bold"/>
            </a:endParaRPr>
          </a:p>
          <a:p>
            <a:pPr marL="194310" lvl="1" algn="just">
              <a:lnSpc>
                <a:spcPts val="2880"/>
              </a:lnSpc>
            </a:pPr>
            <a:endParaRPr lang="tr-TR" dirty="0">
              <a:solidFill>
                <a:srgbClr val="DE2223"/>
              </a:solidFill>
              <a:latin typeface="Aileron Bold"/>
            </a:endParaRPr>
          </a:p>
          <a:p>
            <a:pPr algn="just">
              <a:lnSpc>
                <a:spcPts val="2880"/>
              </a:lnSpc>
            </a:pPr>
            <a:endParaRPr lang="tr-TR" dirty="0">
              <a:solidFill>
                <a:srgbClr val="DE2223"/>
              </a:solidFill>
              <a:latin typeface="Aileron Bold"/>
            </a:endParaRPr>
          </a:p>
          <a:p>
            <a:pPr algn="just">
              <a:lnSpc>
                <a:spcPts val="2880"/>
              </a:lnSpc>
            </a:pPr>
            <a:endParaRPr lang="tr-TR" dirty="0">
              <a:solidFill>
                <a:srgbClr val="DE2223"/>
              </a:solidFill>
              <a:latin typeface="Aileron Bold"/>
            </a:endParaRPr>
          </a:p>
        </p:txBody>
      </p:sp>
      <p:sp>
        <p:nvSpPr>
          <p:cNvPr id="24" name="TextBox 8">
            <a:extLst>
              <a:ext uri="{FF2B5EF4-FFF2-40B4-BE49-F238E27FC236}">
                <a16:creationId xmlns:a16="http://schemas.microsoft.com/office/drawing/2014/main" id="{B7500F9C-8E20-CE91-C4E8-D5562DFBBF69}"/>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PROBLEMİN TANIMI VE ÖNEMİ</a:t>
            </a:r>
            <a:endParaRPr lang="en-US" sz="6399" dirty="0">
              <a:solidFill>
                <a:srgbClr val="1A426A"/>
              </a:solidFill>
              <a:latin typeface="Active Heart"/>
            </a:endParaRPr>
          </a:p>
        </p:txBody>
      </p:sp>
      <p:sp>
        <p:nvSpPr>
          <p:cNvPr id="26" name="TextBox 114">
            <a:extLst>
              <a:ext uri="{FF2B5EF4-FFF2-40B4-BE49-F238E27FC236}">
                <a16:creationId xmlns:a16="http://schemas.microsoft.com/office/drawing/2014/main" id="{A48F7044-DBAD-EE96-19D4-94825C649D08}"/>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a:t>
            </a:r>
            <a:r>
              <a:rPr lang="tr-TR" dirty="0">
                <a:solidFill>
                  <a:srgbClr val="1A426A"/>
                </a:solidFill>
                <a:latin typeface="Active Heart"/>
              </a:rPr>
              <a:t>TARIM TEKNOLOJİLERİ</a:t>
            </a:r>
            <a:r>
              <a:rPr lang="en-US" dirty="0">
                <a:solidFill>
                  <a:srgbClr val="1A426A"/>
                </a:solidFill>
                <a:latin typeface="Active Heart"/>
              </a:rPr>
              <a:t>YARIŞMASI </a:t>
            </a:r>
            <a:endParaRPr lang="tr-TR" dirty="0">
              <a:solidFill>
                <a:srgbClr val="1A426A"/>
              </a:solidFill>
              <a:latin typeface="Active Heart"/>
            </a:endParaRPr>
          </a:p>
          <a:p>
            <a:pPr algn="ctr">
              <a:lnSpc>
                <a:spcPts val="2000"/>
              </a:lnSpc>
              <a:spcBef>
                <a:spcPct val="0"/>
              </a:spcBef>
            </a:pPr>
            <a:r>
              <a:rPr lang="en-US" dirty="0">
                <a:solidFill>
                  <a:srgbClr val="1A426A"/>
                </a:solidFill>
                <a:latin typeface="Active Heart"/>
              </a:rPr>
              <a:t>PROJE SUNUMU</a:t>
            </a:r>
          </a:p>
        </p:txBody>
      </p:sp>
      <p:sp>
        <p:nvSpPr>
          <p:cNvPr id="78" name="TextBox 39">
            <a:extLst>
              <a:ext uri="{FF2B5EF4-FFF2-40B4-BE49-F238E27FC236}">
                <a16:creationId xmlns:a16="http://schemas.microsoft.com/office/drawing/2014/main" id="{9622BC26-B97F-FBA3-7507-7E606DC9F859}"/>
              </a:ext>
            </a:extLst>
          </p:cNvPr>
          <p:cNvSpPr txBox="1"/>
          <p:nvPr/>
        </p:nvSpPr>
        <p:spPr>
          <a:xfrm>
            <a:off x="14875224" y="6556090"/>
            <a:ext cx="2740730" cy="539443"/>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MEVCUT ÇÖZÜMLERLE KARŞILAŞTIRMA</a:t>
            </a:r>
            <a:endParaRPr lang="en-US" dirty="0"/>
          </a:p>
        </p:txBody>
      </p:sp>
      <p:sp>
        <p:nvSpPr>
          <p:cNvPr id="79" name="TextBox 34">
            <a:extLst>
              <a:ext uri="{FF2B5EF4-FFF2-40B4-BE49-F238E27FC236}">
                <a16:creationId xmlns:a16="http://schemas.microsoft.com/office/drawing/2014/main" id="{DBB56A09-41B3-D951-2838-7AC0809E886B}"/>
              </a:ext>
            </a:extLst>
          </p:cNvPr>
          <p:cNvSpPr txBox="1"/>
          <p:nvPr/>
        </p:nvSpPr>
        <p:spPr>
          <a:xfrm>
            <a:off x="16683289" y="5330207"/>
            <a:ext cx="922351"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YÖNTEM</a:t>
            </a:r>
            <a:endParaRPr lang="en-US" dirty="0"/>
          </a:p>
        </p:txBody>
      </p:sp>
      <p:sp>
        <p:nvSpPr>
          <p:cNvPr id="80" name="TextBox 35">
            <a:extLst>
              <a:ext uri="{FF2B5EF4-FFF2-40B4-BE49-F238E27FC236}">
                <a16:creationId xmlns:a16="http://schemas.microsoft.com/office/drawing/2014/main" id="{0AECB11E-B37D-7732-884D-4DAD58A97B8C}"/>
              </a:ext>
            </a:extLst>
          </p:cNvPr>
          <p:cNvSpPr txBox="1"/>
          <p:nvPr/>
        </p:nvSpPr>
        <p:spPr>
          <a:xfrm>
            <a:off x="15290180" y="3881113"/>
            <a:ext cx="2332079" cy="54072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defPPr>
              <a:defRPr lang="en-US"/>
            </a:defPPr>
            <a:lvl1pPr algn="r">
              <a:lnSpc>
                <a:spcPts val="2232"/>
              </a:lnSpc>
              <a:defRPr sz="1590">
                <a:solidFill>
                  <a:srgbClr val="1C4C61"/>
                </a:solidFill>
                <a:latin typeface="Aileron Bold"/>
              </a:defRPr>
            </a:lvl1pPr>
          </a:lstStyle>
          <a:p>
            <a:r>
              <a:rPr lang="tr-TR" dirty="0"/>
              <a:t>PROBLEMİN TANIMI VE ÖNEMİ</a:t>
            </a:r>
            <a:endParaRPr lang="en-US" dirty="0"/>
          </a:p>
        </p:txBody>
      </p:sp>
      <p:sp>
        <p:nvSpPr>
          <p:cNvPr id="81" name="TextBox 36">
            <a:extLst>
              <a:ext uri="{FF2B5EF4-FFF2-40B4-BE49-F238E27FC236}">
                <a16:creationId xmlns:a16="http://schemas.microsoft.com/office/drawing/2014/main" id="{1AE705DE-75E9-F67D-65A3-7FAB8D48C50B}"/>
              </a:ext>
            </a:extLst>
          </p:cNvPr>
          <p:cNvSpPr txBox="1"/>
          <p:nvPr/>
        </p:nvSpPr>
        <p:spPr>
          <a:xfrm>
            <a:off x="15914926" y="4670804"/>
            <a:ext cx="1693724"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ÇÖZÜM ÖNERİSİ</a:t>
            </a:r>
            <a:endParaRPr lang="en-US" dirty="0"/>
          </a:p>
        </p:txBody>
      </p:sp>
      <p:sp>
        <p:nvSpPr>
          <p:cNvPr id="82" name="TextBox 38">
            <a:extLst>
              <a:ext uri="{FF2B5EF4-FFF2-40B4-BE49-F238E27FC236}">
                <a16:creationId xmlns:a16="http://schemas.microsoft.com/office/drawing/2014/main" id="{8FBB513C-8569-44D0-48A3-2505C5B56038}"/>
              </a:ext>
            </a:extLst>
          </p:cNvPr>
          <p:cNvSpPr txBox="1"/>
          <p:nvPr/>
        </p:nvSpPr>
        <p:spPr>
          <a:xfrm>
            <a:off x="15922231" y="8117798"/>
            <a:ext cx="1693723"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TAKVİMİ</a:t>
            </a:r>
            <a:endParaRPr lang="en-US" dirty="0"/>
          </a:p>
        </p:txBody>
      </p:sp>
      <p:sp>
        <p:nvSpPr>
          <p:cNvPr id="83" name="AutoShape 20">
            <a:extLst>
              <a:ext uri="{FF2B5EF4-FFF2-40B4-BE49-F238E27FC236}">
                <a16:creationId xmlns:a16="http://schemas.microsoft.com/office/drawing/2014/main" id="{7F82BC64-8220-7336-03E8-E16134628075}"/>
              </a:ext>
            </a:extLst>
          </p:cNvPr>
          <p:cNvSpPr/>
          <p:nvPr/>
        </p:nvSpPr>
        <p:spPr>
          <a:xfrm flipV="1">
            <a:off x="17862002" y="1644769"/>
            <a:ext cx="0" cy="7289230"/>
          </a:xfrm>
          <a:prstGeom prst="line">
            <a:avLst/>
          </a:prstGeom>
          <a:ln w="38100" cap="flat">
            <a:solidFill>
              <a:srgbClr val="344C54"/>
            </a:solidFill>
            <a:prstDash val="solid"/>
            <a:headEnd type="none" w="sm" len="sm"/>
            <a:tailEnd type="none" w="sm" len="sm"/>
          </a:ln>
        </p:spPr>
        <p:txBody>
          <a:bodyPr/>
          <a:lstStyle/>
          <a:p>
            <a:endParaRPr lang="tr-TR"/>
          </a:p>
        </p:txBody>
      </p:sp>
      <p:sp>
        <p:nvSpPr>
          <p:cNvPr id="84" name="TextBox 40">
            <a:extLst>
              <a:ext uri="{FF2B5EF4-FFF2-40B4-BE49-F238E27FC236}">
                <a16:creationId xmlns:a16="http://schemas.microsoft.com/office/drawing/2014/main" id="{05367308-9FE0-859A-DE89-6F820C337C24}"/>
              </a:ext>
            </a:extLst>
          </p:cNvPr>
          <p:cNvSpPr txBox="1"/>
          <p:nvPr/>
        </p:nvSpPr>
        <p:spPr>
          <a:xfrm>
            <a:off x="15099049" y="2568371"/>
            <a:ext cx="2516905"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ÖZETİ, KAPSAMI ve HEDEF KİTLE</a:t>
            </a:r>
            <a:endParaRPr lang="en-US" dirty="0"/>
          </a:p>
        </p:txBody>
      </p:sp>
      <p:sp>
        <p:nvSpPr>
          <p:cNvPr id="85" name="TextBox 42">
            <a:extLst>
              <a:ext uri="{FF2B5EF4-FFF2-40B4-BE49-F238E27FC236}">
                <a16:creationId xmlns:a16="http://schemas.microsoft.com/office/drawing/2014/main" id="{5E8798D9-CB9F-34CA-113B-2548A8D2E44B}"/>
              </a:ext>
            </a:extLst>
          </p:cNvPr>
          <p:cNvSpPr txBox="1"/>
          <p:nvPr/>
        </p:nvSpPr>
        <p:spPr>
          <a:xfrm>
            <a:off x="15435222" y="2092314"/>
            <a:ext cx="2174945"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en-US" dirty="0"/>
              <a:t>T</a:t>
            </a:r>
            <a:r>
              <a:rPr lang="tr-TR" dirty="0"/>
              <a:t>AKIM TANITIM</a:t>
            </a:r>
            <a:endParaRPr lang="en-US" dirty="0"/>
          </a:p>
        </p:txBody>
      </p:sp>
      <p:sp>
        <p:nvSpPr>
          <p:cNvPr id="86" name="Freeform 22">
            <a:extLst>
              <a:ext uri="{FF2B5EF4-FFF2-40B4-BE49-F238E27FC236}">
                <a16:creationId xmlns:a16="http://schemas.microsoft.com/office/drawing/2014/main" id="{88E90D7A-D62A-C78E-0AAE-FEC0FF64847C}"/>
              </a:ext>
            </a:extLst>
          </p:cNvPr>
          <p:cNvSpPr/>
          <p:nvPr/>
        </p:nvSpPr>
        <p:spPr>
          <a:xfrm>
            <a:off x="17791146" y="2839736"/>
            <a:ext cx="201784" cy="214667"/>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87" name="TextBox 34">
            <a:extLst>
              <a:ext uri="{FF2B5EF4-FFF2-40B4-BE49-F238E27FC236}">
                <a16:creationId xmlns:a16="http://schemas.microsoft.com/office/drawing/2014/main" id="{F87D5238-7533-DA5F-1E74-D29270E69A53}"/>
              </a:ext>
            </a:extLst>
          </p:cNvPr>
          <p:cNvSpPr txBox="1"/>
          <p:nvPr/>
        </p:nvSpPr>
        <p:spPr>
          <a:xfrm>
            <a:off x="15103346" y="3206954"/>
            <a:ext cx="2505303"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AMACI VE TOPLUMSAL FAYDASI</a:t>
            </a:r>
            <a:endParaRPr lang="en-US" dirty="0"/>
          </a:p>
        </p:txBody>
      </p:sp>
      <p:sp>
        <p:nvSpPr>
          <p:cNvPr id="88" name="TextBox 39">
            <a:extLst>
              <a:ext uri="{FF2B5EF4-FFF2-40B4-BE49-F238E27FC236}">
                <a16:creationId xmlns:a16="http://schemas.microsoft.com/office/drawing/2014/main" id="{4900C16A-FECB-FFBC-B257-F08C02F6E7FF}"/>
              </a:ext>
            </a:extLst>
          </p:cNvPr>
          <p:cNvSpPr txBox="1"/>
          <p:nvPr/>
        </p:nvSpPr>
        <p:spPr>
          <a:xfrm>
            <a:off x="15204106" y="5878404"/>
            <a:ext cx="2413247"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PROTOTİP / TASARIM VE İŞLEYİŞİ</a:t>
            </a:r>
            <a:endParaRPr lang="en-US" dirty="0"/>
          </a:p>
        </p:txBody>
      </p:sp>
      <p:sp>
        <p:nvSpPr>
          <p:cNvPr id="89" name="Freeform 96">
            <a:extLst>
              <a:ext uri="{FF2B5EF4-FFF2-40B4-BE49-F238E27FC236}">
                <a16:creationId xmlns:a16="http://schemas.microsoft.com/office/drawing/2014/main" id="{20910FF5-490B-C016-04B1-39917CD40ABE}"/>
              </a:ext>
            </a:extLst>
          </p:cNvPr>
          <p:cNvSpPr/>
          <p:nvPr/>
        </p:nvSpPr>
        <p:spPr>
          <a:xfrm>
            <a:off x="17389288"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0" name="Freeform 97">
            <a:extLst>
              <a:ext uri="{FF2B5EF4-FFF2-40B4-BE49-F238E27FC236}">
                <a16:creationId xmlns:a16="http://schemas.microsoft.com/office/drawing/2014/main" id="{A3DCCB4D-81D5-D611-B9BC-B07882D63DCB}"/>
              </a:ext>
            </a:extLst>
          </p:cNvPr>
          <p:cNvSpPr/>
          <p:nvPr/>
        </p:nvSpPr>
        <p:spPr>
          <a:xfrm>
            <a:off x="17718785"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1" name="Freeform 96">
            <a:extLst>
              <a:ext uri="{FF2B5EF4-FFF2-40B4-BE49-F238E27FC236}">
                <a16:creationId xmlns:a16="http://schemas.microsoft.com/office/drawing/2014/main" id="{F95E8D73-9E54-3BC4-0729-626371A34CD2}"/>
              </a:ext>
            </a:extLst>
          </p:cNvPr>
          <p:cNvSpPr/>
          <p:nvPr/>
        </p:nvSpPr>
        <p:spPr>
          <a:xfrm>
            <a:off x="17389287" y="8723804"/>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2" name="Freeform 97">
            <a:extLst>
              <a:ext uri="{FF2B5EF4-FFF2-40B4-BE49-F238E27FC236}">
                <a16:creationId xmlns:a16="http://schemas.microsoft.com/office/drawing/2014/main" id="{FCADC3F6-89CA-C29B-C997-0D9E74F819DA}"/>
              </a:ext>
            </a:extLst>
          </p:cNvPr>
          <p:cNvSpPr/>
          <p:nvPr/>
        </p:nvSpPr>
        <p:spPr>
          <a:xfrm>
            <a:off x="17711120" y="8761545"/>
            <a:ext cx="295907" cy="344908"/>
          </a:xfrm>
          <a:prstGeom prst="ellipse">
            <a:avLst/>
          </a:prstGeom>
          <a:solidFill>
            <a:srgbClr val="F3A025"/>
          </a:solidFill>
        </p:spPr>
        <p:txBody>
          <a:bodyPr/>
          <a:lstStyle/>
          <a:p>
            <a:endParaRPr lang="tr-TR"/>
          </a:p>
        </p:txBody>
      </p:sp>
      <p:grpSp>
        <p:nvGrpSpPr>
          <p:cNvPr id="93" name="Grup 92">
            <a:extLst>
              <a:ext uri="{FF2B5EF4-FFF2-40B4-BE49-F238E27FC236}">
                <a16:creationId xmlns:a16="http://schemas.microsoft.com/office/drawing/2014/main" id="{8C7F9668-CA2B-41F8-AA36-11D5192D22BE}"/>
              </a:ext>
            </a:extLst>
          </p:cNvPr>
          <p:cNvGrpSpPr/>
          <p:nvPr/>
        </p:nvGrpSpPr>
        <p:grpSpPr>
          <a:xfrm>
            <a:off x="17670306" y="2018618"/>
            <a:ext cx="371449" cy="6437321"/>
            <a:chOff x="17566046" y="2111764"/>
            <a:chExt cx="394849" cy="6842841"/>
          </a:xfrm>
        </p:grpSpPr>
        <p:sp>
          <p:nvSpPr>
            <p:cNvPr id="94" name="Freeform 21">
              <a:extLst>
                <a:ext uri="{FF2B5EF4-FFF2-40B4-BE49-F238E27FC236}">
                  <a16:creationId xmlns:a16="http://schemas.microsoft.com/office/drawing/2014/main" id="{47633A7E-3044-A26B-C9B4-4C79D7869738}"/>
                </a:ext>
              </a:extLst>
            </p:cNvPr>
            <p:cNvSpPr/>
            <p:nvPr/>
          </p:nvSpPr>
          <p:spPr>
            <a:xfrm>
              <a:off x="17577504" y="211176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5" name="Freeform 21">
              <a:extLst>
                <a:ext uri="{FF2B5EF4-FFF2-40B4-BE49-F238E27FC236}">
                  <a16:creationId xmlns:a16="http://schemas.microsoft.com/office/drawing/2014/main" id="{2A784DDD-1E13-AA45-8161-5A7F0036F7FD}"/>
                </a:ext>
              </a:extLst>
            </p:cNvPr>
            <p:cNvSpPr/>
            <p:nvPr/>
          </p:nvSpPr>
          <p:spPr>
            <a:xfrm>
              <a:off x="17577504" y="276608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6" name="Freeform 21">
              <a:extLst>
                <a:ext uri="{FF2B5EF4-FFF2-40B4-BE49-F238E27FC236}">
                  <a16:creationId xmlns:a16="http://schemas.microsoft.com/office/drawing/2014/main" id="{4D4C74D3-E85D-EA0B-FDD6-F581CEA6F275}"/>
                </a:ext>
              </a:extLst>
            </p:cNvPr>
            <p:cNvSpPr/>
            <p:nvPr/>
          </p:nvSpPr>
          <p:spPr>
            <a:xfrm>
              <a:off x="17577503" y="3443597"/>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7" name="Freeform 21">
              <a:extLst>
                <a:ext uri="{FF2B5EF4-FFF2-40B4-BE49-F238E27FC236}">
                  <a16:creationId xmlns:a16="http://schemas.microsoft.com/office/drawing/2014/main" id="{226CC087-537D-4F92-CA53-39BF11D1F021}"/>
                </a:ext>
              </a:extLst>
            </p:cNvPr>
            <p:cNvSpPr/>
            <p:nvPr/>
          </p:nvSpPr>
          <p:spPr>
            <a:xfrm>
              <a:off x="17577502" y="416210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8" name="Freeform 21">
              <a:extLst>
                <a:ext uri="{FF2B5EF4-FFF2-40B4-BE49-F238E27FC236}">
                  <a16:creationId xmlns:a16="http://schemas.microsoft.com/office/drawing/2014/main" id="{F566A94F-E65E-0CAD-65E4-76FB4C785297}"/>
                </a:ext>
              </a:extLst>
            </p:cNvPr>
            <p:cNvSpPr/>
            <p:nvPr/>
          </p:nvSpPr>
          <p:spPr>
            <a:xfrm>
              <a:off x="17577501" y="4857339"/>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9" name="Freeform 21">
              <a:extLst>
                <a:ext uri="{FF2B5EF4-FFF2-40B4-BE49-F238E27FC236}">
                  <a16:creationId xmlns:a16="http://schemas.microsoft.com/office/drawing/2014/main" id="{E1049A8D-3155-1D1F-DB89-4A05F65C7840}"/>
                </a:ext>
              </a:extLst>
            </p:cNvPr>
            <p:cNvSpPr/>
            <p:nvPr/>
          </p:nvSpPr>
          <p:spPr>
            <a:xfrm>
              <a:off x="17577500" y="555606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00" name="Freeform 21">
              <a:extLst>
                <a:ext uri="{FF2B5EF4-FFF2-40B4-BE49-F238E27FC236}">
                  <a16:creationId xmlns:a16="http://schemas.microsoft.com/office/drawing/2014/main" id="{6BBF9A09-1CAB-C11C-FD36-BA99691BCFC1}"/>
                </a:ext>
              </a:extLst>
            </p:cNvPr>
            <p:cNvSpPr/>
            <p:nvPr/>
          </p:nvSpPr>
          <p:spPr>
            <a:xfrm>
              <a:off x="17577500" y="6278633"/>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01" name="Freeform 21">
              <a:extLst>
                <a:ext uri="{FF2B5EF4-FFF2-40B4-BE49-F238E27FC236}">
                  <a16:creationId xmlns:a16="http://schemas.microsoft.com/office/drawing/2014/main" id="{296ABA46-2E59-9A2D-55FF-F4454B7B314F}"/>
                </a:ext>
              </a:extLst>
            </p:cNvPr>
            <p:cNvSpPr/>
            <p:nvPr/>
          </p:nvSpPr>
          <p:spPr>
            <a:xfrm>
              <a:off x="17575010" y="700119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02" name="Freeform 21">
              <a:extLst>
                <a:ext uri="{FF2B5EF4-FFF2-40B4-BE49-F238E27FC236}">
                  <a16:creationId xmlns:a16="http://schemas.microsoft.com/office/drawing/2014/main" id="{2EEB3DD5-8FC1-E88E-4102-9A2E2EE5181B}"/>
                </a:ext>
              </a:extLst>
            </p:cNvPr>
            <p:cNvSpPr/>
            <p:nvPr/>
          </p:nvSpPr>
          <p:spPr>
            <a:xfrm>
              <a:off x="17577499" y="775982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03" name="Freeform 21">
              <a:extLst>
                <a:ext uri="{FF2B5EF4-FFF2-40B4-BE49-F238E27FC236}">
                  <a16:creationId xmlns:a16="http://schemas.microsoft.com/office/drawing/2014/main" id="{DF5F1445-62E5-519D-617B-48A70943DE67}"/>
                </a:ext>
              </a:extLst>
            </p:cNvPr>
            <p:cNvSpPr/>
            <p:nvPr/>
          </p:nvSpPr>
          <p:spPr>
            <a:xfrm>
              <a:off x="17566046" y="8520841"/>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grpSp>
      <p:sp>
        <p:nvSpPr>
          <p:cNvPr id="104" name="TextBox 39">
            <a:extLst>
              <a:ext uri="{FF2B5EF4-FFF2-40B4-BE49-F238E27FC236}">
                <a16:creationId xmlns:a16="http://schemas.microsoft.com/office/drawing/2014/main" id="{D2BA4E8E-2203-8252-E692-7ECD8D755FE7}"/>
              </a:ext>
            </a:extLst>
          </p:cNvPr>
          <p:cNvSpPr txBox="1"/>
          <p:nvPr/>
        </p:nvSpPr>
        <p:spPr>
          <a:xfrm>
            <a:off x="14875224" y="7267389"/>
            <a:ext cx="2740730"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TİCARİLEŞME POTANSİYELİ VE SÜRDÜRÜLEBİLİRLİK</a:t>
            </a:r>
            <a:endParaRPr lang="en-US" dirty="0"/>
          </a:p>
        </p:txBody>
      </p:sp>
    </p:spTree>
    <p:extLst>
      <p:ext uri="{BB962C8B-B14F-4D97-AF65-F5344CB8AC3E}">
        <p14:creationId xmlns:p14="http://schemas.microsoft.com/office/powerpoint/2010/main" val="3681170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71F58-4EAD-D6C6-D1D2-1CC3ED248536}"/>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1767CCA2-C620-3B93-EC55-720D1532EE96}"/>
              </a:ext>
            </a:extLst>
          </p:cNvPr>
          <p:cNvSpPr txBox="1"/>
          <p:nvPr/>
        </p:nvSpPr>
        <p:spPr>
          <a:xfrm>
            <a:off x="1295400" y="2022762"/>
            <a:ext cx="11631457" cy="5015347"/>
          </a:xfrm>
          <a:prstGeom prst="rect">
            <a:avLst/>
          </a:prstGeom>
          <a:noFill/>
        </p:spPr>
        <p:txBody>
          <a:bodyPr wrap="square">
            <a:spAutoFit/>
          </a:bodyPr>
          <a:lstStyle/>
          <a:p>
            <a:pPr marL="388620" lvl="1" indent="-194310">
              <a:lnSpc>
                <a:spcPts val="2880"/>
              </a:lnSpc>
              <a:buFont typeface="Arial"/>
              <a:buChar char="•"/>
            </a:pPr>
            <a:r>
              <a:rPr lang="en-US" dirty="0" err="1">
                <a:solidFill>
                  <a:srgbClr val="FF0000"/>
                </a:solidFill>
                <a:latin typeface="Aileron Bold"/>
              </a:rPr>
              <a:t>Proje</a:t>
            </a:r>
            <a:r>
              <a:rPr lang="en-US" dirty="0">
                <a:solidFill>
                  <a:srgbClr val="FF0000"/>
                </a:solidFill>
                <a:latin typeface="Aileron Bold"/>
              </a:rPr>
              <a:t>/ </a:t>
            </a:r>
            <a:r>
              <a:rPr lang="en-US" dirty="0" err="1">
                <a:solidFill>
                  <a:srgbClr val="FF0000"/>
                </a:solidFill>
                <a:latin typeface="Aileron Bold"/>
              </a:rPr>
              <a:t>fikre</a:t>
            </a:r>
            <a:r>
              <a:rPr lang="en-US" dirty="0">
                <a:solidFill>
                  <a:srgbClr val="FF0000"/>
                </a:solidFill>
                <a:latin typeface="Aileron Bold"/>
              </a:rPr>
              <a:t> </a:t>
            </a:r>
            <a:r>
              <a:rPr lang="en-US" dirty="0" err="1">
                <a:solidFill>
                  <a:srgbClr val="FF0000"/>
                </a:solidFill>
                <a:latin typeface="Aileron Bold"/>
              </a:rPr>
              <a:t>ait</a:t>
            </a:r>
            <a:r>
              <a:rPr lang="en-US" dirty="0">
                <a:solidFill>
                  <a:srgbClr val="FF0000"/>
                </a:solidFill>
                <a:latin typeface="Aileron Bold"/>
              </a:rPr>
              <a:t> </a:t>
            </a:r>
            <a:r>
              <a:rPr lang="en-US" dirty="0" err="1">
                <a:solidFill>
                  <a:srgbClr val="FF0000"/>
                </a:solidFill>
                <a:latin typeface="Aileron Bold"/>
              </a:rPr>
              <a:t>çözümün</a:t>
            </a:r>
            <a:r>
              <a:rPr lang="en-US" dirty="0">
                <a:solidFill>
                  <a:srgbClr val="FF0000"/>
                </a:solidFill>
                <a:latin typeface="Aileron Bold"/>
              </a:rPr>
              <a:t> </a:t>
            </a:r>
            <a:r>
              <a:rPr lang="en-US" dirty="0" err="1">
                <a:solidFill>
                  <a:srgbClr val="FF0000"/>
                </a:solidFill>
                <a:latin typeface="Aileron Bold"/>
              </a:rPr>
              <a:t>anlatıldığı</a:t>
            </a:r>
            <a:r>
              <a:rPr lang="en-US" dirty="0">
                <a:solidFill>
                  <a:srgbClr val="FF0000"/>
                </a:solidFill>
                <a:latin typeface="Aileron Bold"/>
              </a:rPr>
              <a:t> </a:t>
            </a:r>
            <a:r>
              <a:rPr lang="en-US" dirty="0" err="1">
                <a:solidFill>
                  <a:srgbClr val="FF0000"/>
                </a:solidFill>
                <a:latin typeface="Aileron Bold"/>
              </a:rPr>
              <a:t>sayfadır</a:t>
            </a:r>
            <a:r>
              <a:rPr lang="en-US" dirty="0">
                <a:solidFill>
                  <a:srgbClr val="FF0000"/>
                </a:solidFill>
                <a:latin typeface="Aileron Bold"/>
              </a:rPr>
              <a:t>.</a:t>
            </a:r>
          </a:p>
          <a:p>
            <a:pPr marL="388620" lvl="1" indent="-194310">
              <a:lnSpc>
                <a:spcPts val="2880"/>
              </a:lnSpc>
              <a:buFont typeface="Arial"/>
              <a:buChar char="•"/>
            </a:pPr>
            <a:r>
              <a:rPr lang="en-US" dirty="0" err="1">
                <a:solidFill>
                  <a:srgbClr val="FF0000"/>
                </a:solidFill>
                <a:latin typeface="Aileron Bold"/>
              </a:rPr>
              <a:t>Çözüm</a:t>
            </a:r>
            <a:r>
              <a:rPr lang="en-US" dirty="0">
                <a:solidFill>
                  <a:srgbClr val="FF0000"/>
                </a:solidFill>
                <a:latin typeface="Aileron Bold"/>
              </a:rPr>
              <a:t> </a:t>
            </a:r>
            <a:r>
              <a:rPr lang="en-US" u="sng" dirty="0" err="1">
                <a:solidFill>
                  <a:srgbClr val="FF0000"/>
                </a:solidFill>
                <a:latin typeface="Aileron Bold"/>
              </a:rPr>
              <a:t>en</a:t>
            </a:r>
            <a:r>
              <a:rPr lang="en-US" u="sng" dirty="0">
                <a:solidFill>
                  <a:srgbClr val="FF0000"/>
                </a:solidFill>
                <a:latin typeface="Aileron Bold"/>
              </a:rPr>
              <a:t> </a:t>
            </a:r>
            <a:r>
              <a:rPr lang="en-US" u="sng" dirty="0" err="1">
                <a:solidFill>
                  <a:srgbClr val="FF0000"/>
                </a:solidFill>
                <a:latin typeface="Aileron Bold"/>
              </a:rPr>
              <a:t>fazla</a:t>
            </a:r>
            <a:r>
              <a:rPr lang="en-US" u="sng" dirty="0">
                <a:solidFill>
                  <a:srgbClr val="FF0000"/>
                </a:solidFill>
                <a:latin typeface="Aileron Bold"/>
              </a:rPr>
              <a:t> 2 (</a:t>
            </a:r>
            <a:r>
              <a:rPr lang="en-US" u="sng" dirty="0" err="1">
                <a:solidFill>
                  <a:srgbClr val="FF0000"/>
                </a:solidFill>
                <a:latin typeface="Aileron Bold"/>
              </a:rPr>
              <a:t>iki</a:t>
            </a:r>
            <a:r>
              <a:rPr lang="en-US" u="sng" dirty="0">
                <a:solidFill>
                  <a:srgbClr val="FF0000"/>
                </a:solidFill>
                <a:latin typeface="Aileron Bold"/>
              </a:rPr>
              <a:t>) </a:t>
            </a:r>
            <a:r>
              <a:rPr lang="en-US" u="sng" dirty="0" err="1">
                <a:solidFill>
                  <a:srgbClr val="FF0000"/>
                </a:solidFill>
                <a:latin typeface="Aileron Bold"/>
              </a:rPr>
              <a:t>sayfad</a:t>
            </a:r>
            <a:r>
              <a:rPr lang="tr-TR" u="sng" dirty="0">
                <a:solidFill>
                  <a:srgbClr val="FF0000"/>
                </a:solidFill>
                <a:latin typeface="Aileron Bold"/>
              </a:rPr>
              <a:t>a </a:t>
            </a:r>
            <a:r>
              <a:rPr lang="tr-TR" dirty="0">
                <a:solidFill>
                  <a:srgbClr val="FF0000"/>
                </a:solidFill>
                <a:latin typeface="Aileron Bold"/>
              </a:rPr>
              <a:t>açıklanmalıdır</a:t>
            </a:r>
            <a:r>
              <a:rPr lang="en-US" dirty="0">
                <a:solidFill>
                  <a:srgbClr val="FF0000"/>
                </a:solidFill>
                <a:latin typeface="Aileron Bold"/>
              </a:rPr>
              <a:t>. </a:t>
            </a:r>
            <a:r>
              <a:rPr lang="en-US" dirty="0" err="1">
                <a:solidFill>
                  <a:srgbClr val="FF0000"/>
                </a:solidFill>
                <a:latin typeface="Aileron Bold"/>
              </a:rPr>
              <a:t>Sayfa</a:t>
            </a:r>
            <a:r>
              <a:rPr lang="en-US" dirty="0">
                <a:solidFill>
                  <a:srgbClr val="FF0000"/>
                </a:solidFill>
                <a:latin typeface="Aileron Bold"/>
              </a:rPr>
              <a:t> </a:t>
            </a:r>
            <a:r>
              <a:rPr lang="en-US" dirty="0" err="1">
                <a:solidFill>
                  <a:srgbClr val="FF0000"/>
                </a:solidFill>
                <a:latin typeface="Aileron Bold"/>
              </a:rPr>
              <a:t>sınırı</a:t>
            </a:r>
            <a:r>
              <a:rPr lang="en-US"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1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en-US" dirty="0">
                <a:solidFill>
                  <a:srgbClr val="FF0000"/>
                </a:solidFill>
                <a:latin typeface="Aileron Bold"/>
              </a:rPr>
              <a:t>.</a:t>
            </a:r>
          </a:p>
          <a:p>
            <a:pPr marL="194310" lvl="1">
              <a:lnSpc>
                <a:spcPts val="2880"/>
              </a:lnSpc>
            </a:pPr>
            <a:endParaRPr lang="en-US" dirty="0">
              <a:solidFill>
                <a:srgbClr val="FF0000"/>
              </a:solidFill>
              <a:latin typeface="Aileron Bold"/>
            </a:endParaRPr>
          </a:p>
          <a:p>
            <a:pPr lvl="1" algn="just"/>
            <a:r>
              <a:rPr lang="tr-TR" dirty="0">
                <a:solidFill>
                  <a:srgbClr val="FF0000"/>
                </a:solidFill>
                <a:latin typeface="Aileron Bold"/>
              </a:rPr>
              <a:t>Bu bölümde, tanımlanan probleme yönelik geliştirilen çözüm önerisi sade ve anlaşılır bir anlatımla açıklanmalıdır. Sunulan açıklama, çözümün problemle olan ilişkisini ve temel işleyiş mantığını ortaya koymalıdır.</a:t>
            </a:r>
          </a:p>
          <a:p>
            <a:pPr lvl="1" algn="just"/>
            <a:r>
              <a:rPr lang="tr-TR" dirty="0">
                <a:solidFill>
                  <a:srgbClr val="FF0000"/>
                </a:solidFill>
                <a:latin typeface="Aileron Bold"/>
              </a:rPr>
              <a:t>Bu çerçevede;</a:t>
            </a:r>
          </a:p>
          <a:p>
            <a:pPr lvl="1" algn="just"/>
            <a:r>
              <a:rPr lang="tr-TR" dirty="0">
                <a:solidFill>
                  <a:srgbClr val="FF0000"/>
                </a:solidFill>
                <a:latin typeface="Aileron Bold"/>
              </a:rPr>
              <a:t>•	Projede önerilen çözümün hangi sorunu çözmek için düşünüldüğü,</a:t>
            </a:r>
          </a:p>
          <a:p>
            <a:pPr lvl="1" algn="just"/>
            <a:r>
              <a:rPr lang="tr-TR" dirty="0">
                <a:solidFill>
                  <a:srgbClr val="FF0000"/>
                </a:solidFill>
                <a:latin typeface="Aileron Bold"/>
              </a:rPr>
              <a:t>•	Bu çözümün kısaca nasıl etkili olacağı (adım adım ayrıntı vermeden),</a:t>
            </a:r>
          </a:p>
          <a:p>
            <a:pPr lvl="1" algn="just"/>
            <a:r>
              <a:rPr lang="tr-TR" dirty="0">
                <a:solidFill>
                  <a:srgbClr val="FF0000"/>
                </a:solidFill>
                <a:latin typeface="Aileron Bold"/>
              </a:rPr>
              <a:t>•	Çözümün temel çalışma mantığı,</a:t>
            </a:r>
          </a:p>
          <a:p>
            <a:pPr lvl="1" algn="just"/>
            <a:r>
              <a:rPr lang="tr-TR" dirty="0">
                <a:solidFill>
                  <a:srgbClr val="FF0000"/>
                </a:solidFill>
                <a:latin typeface="Aileron Bold"/>
              </a:rPr>
              <a:t>•	Çözümün günlük hayatta ve tarım hayvancılık sektöründe nasıl kullanılabileceği </a:t>
            </a:r>
          </a:p>
          <a:p>
            <a:pPr lvl="1" algn="just"/>
            <a:r>
              <a:rPr lang="tr-TR" dirty="0">
                <a:solidFill>
                  <a:srgbClr val="FF0000"/>
                </a:solidFill>
                <a:latin typeface="Aileron Bold"/>
              </a:rPr>
              <a:t>belirtilmelidir.</a:t>
            </a:r>
          </a:p>
          <a:p>
            <a:pPr lvl="1" algn="just"/>
            <a:endParaRPr lang="tr-TR" dirty="0">
              <a:solidFill>
                <a:srgbClr val="FF0000"/>
              </a:solidFill>
              <a:latin typeface="Aileron Bold"/>
            </a:endParaRPr>
          </a:p>
          <a:p>
            <a:pPr marL="194310" lvl="1">
              <a:lnSpc>
                <a:spcPts val="2880"/>
              </a:lnSpc>
            </a:pPr>
            <a:endParaRPr lang="tr-TR" dirty="0">
              <a:solidFill>
                <a:srgbClr val="FF0000"/>
              </a:solidFill>
              <a:latin typeface="Aileron Bold"/>
            </a:endParaRPr>
          </a:p>
          <a:p>
            <a:pPr marL="194311" lvl="1">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p:txBody>
      </p:sp>
      <p:sp>
        <p:nvSpPr>
          <p:cNvPr id="24" name="TextBox 8">
            <a:extLst>
              <a:ext uri="{FF2B5EF4-FFF2-40B4-BE49-F238E27FC236}">
                <a16:creationId xmlns:a16="http://schemas.microsoft.com/office/drawing/2014/main" id="{1BA7500B-3F67-CACC-AB60-F7CCC3C327BE}"/>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ÇÖZÜM ÖNERİSİ</a:t>
            </a:r>
            <a:endParaRPr lang="en-US" sz="6399" dirty="0">
              <a:solidFill>
                <a:srgbClr val="1A426A"/>
              </a:solidFill>
              <a:latin typeface="Active Heart"/>
            </a:endParaRPr>
          </a:p>
        </p:txBody>
      </p:sp>
      <p:sp>
        <p:nvSpPr>
          <p:cNvPr id="9" name="TextBox 114">
            <a:extLst>
              <a:ext uri="{FF2B5EF4-FFF2-40B4-BE49-F238E27FC236}">
                <a16:creationId xmlns:a16="http://schemas.microsoft.com/office/drawing/2014/main" id="{19CDD76C-E3DB-42F9-05E4-40DF929A8C71}"/>
              </a:ext>
            </a:extLst>
          </p:cNvPr>
          <p:cNvSpPr txBox="1">
            <a:spLocks/>
          </p:cNvSpPr>
          <p:nvPr/>
        </p:nvSpPr>
        <p:spPr>
          <a:xfrm>
            <a:off x="2438400" y="9486900"/>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a:t>
            </a:r>
            <a:r>
              <a:rPr lang="tr-TR" dirty="0">
                <a:solidFill>
                  <a:srgbClr val="1A426A"/>
                </a:solidFill>
                <a:latin typeface="Active Heart"/>
              </a:rPr>
              <a:t>TARIM TEKNOLOJİLERİ</a:t>
            </a:r>
            <a:r>
              <a:rPr lang="en-US" dirty="0">
                <a:solidFill>
                  <a:srgbClr val="1A426A"/>
                </a:solidFill>
                <a:latin typeface="Active Heart"/>
              </a:rPr>
              <a:t>YARIŞMASI </a:t>
            </a:r>
            <a:endParaRPr lang="tr-TR" dirty="0">
              <a:solidFill>
                <a:srgbClr val="1A426A"/>
              </a:solidFill>
              <a:latin typeface="Active Heart"/>
            </a:endParaRPr>
          </a:p>
          <a:p>
            <a:pPr algn="ctr">
              <a:lnSpc>
                <a:spcPts val="2000"/>
              </a:lnSpc>
              <a:spcBef>
                <a:spcPct val="0"/>
              </a:spcBef>
            </a:pPr>
            <a:r>
              <a:rPr lang="en-US" dirty="0">
                <a:solidFill>
                  <a:srgbClr val="1A426A"/>
                </a:solidFill>
                <a:latin typeface="Active Heart"/>
              </a:rPr>
              <a:t>PROJE SUNUMU</a:t>
            </a:r>
          </a:p>
        </p:txBody>
      </p:sp>
      <p:sp>
        <p:nvSpPr>
          <p:cNvPr id="78" name="TextBox 39">
            <a:extLst>
              <a:ext uri="{FF2B5EF4-FFF2-40B4-BE49-F238E27FC236}">
                <a16:creationId xmlns:a16="http://schemas.microsoft.com/office/drawing/2014/main" id="{697E43DC-A783-AFEC-A18A-F204261EC93C}"/>
              </a:ext>
            </a:extLst>
          </p:cNvPr>
          <p:cNvSpPr txBox="1"/>
          <p:nvPr/>
        </p:nvSpPr>
        <p:spPr>
          <a:xfrm>
            <a:off x="14875224" y="6556090"/>
            <a:ext cx="2740730" cy="539443"/>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MEVCUT ÇÖZÜMLERLE KARŞILAŞTIRMA</a:t>
            </a:r>
            <a:endParaRPr lang="en-US" dirty="0"/>
          </a:p>
        </p:txBody>
      </p:sp>
      <p:sp>
        <p:nvSpPr>
          <p:cNvPr id="79" name="TextBox 34">
            <a:extLst>
              <a:ext uri="{FF2B5EF4-FFF2-40B4-BE49-F238E27FC236}">
                <a16:creationId xmlns:a16="http://schemas.microsoft.com/office/drawing/2014/main" id="{DF1D2366-005A-5E65-899E-80769024A5B6}"/>
              </a:ext>
            </a:extLst>
          </p:cNvPr>
          <p:cNvSpPr txBox="1"/>
          <p:nvPr/>
        </p:nvSpPr>
        <p:spPr>
          <a:xfrm>
            <a:off x="16683289" y="5330207"/>
            <a:ext cx="922351"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YÖNTEM</a:t>
            </a:r>
            <a:endParaRPr lang="en-US" dirty="0"/>
          </a:p>
        </p:txBody>
      </p:sp>
      <p:sp>
        <p:nvSpPr>
          <p:cNvPr id="80" name="TextBox 35">
            <a:extLst>
              <a:ext uri="{FF2B5EF4-FFF2-40B4-BE49-F238E27FC236}">
                <a16:creationId xmlns:a16="http://schemas.microsoft.com/office/drawing/2014/main" id="{EC741AFA-A89D-0631-3980-D299CD1478FB}"/>
              </a:ext>
            </a:extLst>
          </p:cNvPr>
          <p:cNvSpPr txBox="1"/>
          <p:nvPr/>
        </p:nvSpPr>
        <p:spPr>
          <a:xfrm>
            <a:off x="15290180" y="3881113"/>
            <a:ext cx="2332079"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PROBLEMİN TANIMI VE ÖNEMİ</a:t>
            </a:r>
            <a:endParaRPr lang="en-US" dirty="0"/>
          </a:p>
        </p:txBody>
      </p:sp>
      <p:sp>
        <p:nvSpPr>
          <p:cNvPr id="81" name="TextBox 36">
            <a:extLst>
              <a:ext uri="{FF2B5EF4-FFF2-40B4-BE49-F238E27FC236}">
                <a16:creationId xmlns:a16="http://schemas.microsoft.com/office/drawing/2014/main" id="{93782D2E-0C82-C957-8AFB-F699143CEC90}"/>
              </a:ext>
            </a:extLst>
          </p:cNvPr>
          <p:cNvSpPr txBox="1"/>
          <p:nvPr/>
        </p:nvSpPr>
        <p:spPr>
          <a:xfrm>
            <a:off x="15914926" y="4670804"/>
            <a:ext cx="1693724" cy="25859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defPPr>
              <a:defRPr lang="en-US"/>
            </a:defPPr>
            <a:lvl1pPr algn="r">
              <a:lnSpc>
                <a:spcPts val="2232"/>
              </a:lnSpc>
              <a:defRPr sz="1590">
                <a:solidFill>
                  <a:srgbClr val="1C4C61"/>
                </a:solidFill>
                <a:latin typeface="Aileron Bold"/>
              </a:defRPr>
            </a:lvl1pPr>
          </a:lstStyle>
          <a:p>
            <a:r>
              <a:rPr lang="tr-TR" dirty="0"/>
              <a:t>ÇÖZÜM ÖNERİSİ</a:t>
            </a:r>
            <a:endParaRPr lang="en-US" dirty="0"/>
          </a:p>
        </p:txBody>
      </p:sp>
      <p:sp>
        <p:nvSpPr>
          <p:cNvPr id="82" name="TextBox 38">
            <a:extLst>
              <a:ext uri="{FF2B5EF4-FFF2-40B4-BE49-F238E27FC236}">
                <a16:creationId xmlns:a16="http://schemas.microsoft.com/office/drawing/2014/main" id="{1968938D-CE4F-DBFD-50A0-05EAA35C2200}"/>
              </a:ext>
            </a:extLst>
          </p:cNvPr>
          <p:cNvSpPr txBox="1"/>
          <p:nvPr/>
        </p:nvSpPr>
        <p:spPr>
          <a:xfrm>
            <a:off x="15922231" y="8117798"/>
            <a:ext cx="1693723"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TAKVİMİ</a:t>
            </a:r>
            <a:endParaRPr lang="en-US" dirty="0"/>
          </a:p>
        </p:txBody>
      </p:sp>
      <p:sp>
        <p:nvSpPr>
          <p:cNvPr id="83" name="AutoShape 20">
            <a:extLst>
              <a:ext uri="{FF2B5EF4-FFF2-40B4-BE49-F238E27FC236}">
                <a16:creationId xmlns:a16="http://schemas.microsoft.com/office/drawing/2014/main" id="{526180B0-7EE8-2AB1-CD87-846204CEF2BC}"/>
              </a:ext>
            </a:extLst>
          </p:cNvPr>
          <p:cNvSpPr/>
          <p:nvPr/>
        </p:nvSpPr>
        <p:spPr>
          <a:xfrm flipV="1">
            <a:off x="17862002" y="1644769"/>
            <a:ext cx="0" cy="7289230"/>
          </a:xfrm>
          <a:prstGeom prst="line">
            <a:avLst/>
          </a:prstGeom>
          <a:ln w="38100" cap="flat">
            <a:solidFill>
              <a:srgbClr val="344C54"/>
            </a:solidFill>
            <a:prstDash val="solid"/>
            <a:headEnd type="none" w="sm" len="sm"/>
            <a:tailEnd type="none" w="sm" len="sm"/>
          </a:ln>
        </p:spPr>
        <p:txBody>
          <a:bodyPr/>
          <a:lstStyle/>
          <a:p>
            <a:endParaRPr lang="tr-TR"/>
          </a:p>
        </p:txBody>
      </p:sp>
      <p:sp>
        <p:nvSpPr>
          <p:cNvPr id="84" name="TextBox 40">
            <a:extLst>
              <a:ext uri="{FF2B5EF4-FFF2-40B4-BE49-F238E27FC236}">
                <a16:creationId xmlns:a16="http://schemas.microsoft.com/office/drawing/2014/main" id="{8AAD20D6-285F-CEA0-73A5-C6DC4E9AFFB6}"/>
              </a:ext>
            </a:extLst>
          </p:cNvPr>
          <p:cNvSpPr txBox="1"/>
          <p:nvPr/>
        </p:nvSpPr>
        <p:spPr>
          <a:xfrm>
            <a:off x="15099049" y="2568371"/>
            <a:ext cx="2516905"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ÖZETİ, KAPSAMI ve HEDEF KİTLE</a:t>
            </a:r>
            <a:endParaRPr lang="en-US" dirty="0"/>
          </a:p>
        </p:txBody>
      </p:sp>
      <p:sp>
        <p:nvSpPr>
          <p:cNvPr id="85" name="TextBox 42">
            <a:extLst>
              <a:ext uri="{FF2B5EF4-FFF2-40B4-BE49-F238E27FC236}">
                <a16:creationId xmlns:a16="http://schemas.microsoft.com/office/drawing/2014/main" id="{41F84200-6A9C-1B06-8942-D0BCC3C8F10E}"/>
              </a:ext>
            </a:extLst>
          </p:cNvPr>
          <p:cNvSpPr txBox="1"/>
          <p:nvPr/>
        </p:nvSpPr>
        <p:spPr>
          <a:xfrm>
            <a:off x="15435222" y="2092314"/>
            <a:ext cx="2174945"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en-US" dirty="0"/>
              <a:t>T</a:t>
            </a:r>
            <a:r>
              <a:rPr lang="tr-TR" dirty="0"/>
              <a:t>AKIM TANITIM</a:t>
            </a:r>
            <a:endParaRPr lang="en-US" dirty="0"/>
          </a:p>
        </p:txBody>
      </p:sp>
      <p:sp>
        <p:nvSpPr>
          <p:cNvPr id="86" name="Freeform 22">
            <a:extLst>
              <a:ext uri="{FF2B5EF4-FFF2-40B4-BE49-F238E27FC236}">
                <a16:creationId xmlns:a16="http://schemas.microsoft.com/office/drawing/2014/main" id="{C3D08132-C477-25A3-2397-FE242C976168}"/>
              </a:ext>
            </a:extLst>
          </p:cNvPr>
          <p:cNvSpPr/>
          <p:nvPr/>
        </p:nvSpPr>
        <p:spPr>
          <a:xfrm>
            <a:off x="17791146" y="2839736"/>
            <a:ext cx="201784" cy="214667"/>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87" name="TextBox 34">
            <a:extLst>
              <a:ext uri="{FF2B5EF4-FFF2-40B4-BE49-F238E27FC236}">
                <a16:creationId xmlns:a16="http://schemas.microsoft.com/office/drawing/2014/main" id="{AC049EFD-21EC-F32D-380F-96DE212F15D3}"/>
              </a:ext>
            </a:extLst>
          </p:cNvPr>
          <p:cNvSpPr txBox="1"/>
          <p:nvPr/>
        </p:nvSpPr>
        <p:spPr>
          <a:xfrm>
            <a:off x="15103346" y="3206954"/>
            <a:ext cx="2505303"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AMACI VE TOPLUMSAL FAYDASI</a:t>
            </a:r>
            <a:endParaRPr lang="en-US" dirty="0"/>
          </a:p>
        </p:txBody>
      </p:sp>
      <p:sp>
        <p:nvSpPr>
          <p:cNvPr id="88" name="TextBox 39">
            <a:extLst>
              <a:ext uri="{FF2B5EF4-FFF2-40B4-BE49-F238E27FC236}">
                <a16:creationId xmlns:a16="http://schemas.microsoft.com/office/drawing/2014/main" id="{D12FA465-7B9E-0FE5-604F-BAED1F601FBD}"/>
              </a:ext>
            </a:extLst>
          </p:cNvPr>
          <p:cNvSpPr txBox="1"/>
          <p:nvPr/>
        </p:nvSpPr>
        <p:spPr>
          <a:xfrm>
            <a:off x="15204106" y="5878404"/>
            <a:ext cx="2413247"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PROTOTİP / TASARIM VE İŞLEYİŞİ</a:t>
            </a:r>
            <a:endParaRPr lang="en-US" dirty="0"/>
          </a:p>
        </p:txBody>
      </p:sp>
      <p:sp>
        <p:nvSpPr>
          <p:cNvPr id="89" name="Freeform 96">
            <a:extLst>
              <a:ext uri="{FF2B5EF4-FFF2-40B4-BE49-F238E27FC236}">
                <a16:creationId xmlns:a16="http://schemas.microsoft.com/office/drawing/2014/main" id="{408BF469-841C-2739-03F8-21D841F2DF40}"/>
              </a:ext>
            </a:extLst>
          </p:cNvPr>
          <p:cNvSpPr/>
          <p:nvPr/>
        </p:nvSpPr>
        <p:spPr>
          <a:xfrm>
            <a:off x="17389288"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0" name="Freeform 97">
            <a:extLst>
              <a:ext uri="{FF2B5EF4-FFF2-40B4-BE49-F238E27FC236}">
                <a16:creationId xmlns:a16="http://schemas.microsoft.com/office/drawing/2014/main" id="{A2A2DF45-4797-62BA-D89A-729C2BFDA33C}"/>
              </a:ext>
            </a:extLst>
          </p:cNvPr>
          <p:cNvSpPr/>
          <p:nvPr/>
        </p:nvSpPr>
        <p:spPr>
          <a:xfrm>
            <a:off x="17718785"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91" name="Freeform 96">
            <a:extLst>
              <a:ext uri="{FF2B5EF4-FFF2-40B4-BE49-F238E27FC236}">
                <a16:creationId xmlns:a16="http://schemas.microsoft.com/office/drawing/2014/main" id="{31609231-59C0-A4BA-A75B-7017227D2D46}"/>
              </a:ext>
            </a:extLst>
          </p:cNvPr>
          <p:cNvSpPr/>
          <p:nvPr/>
        </p:nvSpPr>
        <p:spPr>
          <a:xfrm>
            <a:off x="17389287" y="8723804"/>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2" name="Freeform 97">
            <a:extLst>
              <a:ext uri="{FF2B5EF4-FFF2-40B4-BE49-F238E27FC236}">
                <a16:creationId xmlns:a16="http://schemas.microsoft.com/office/drawing/2014/main" id="{18E8054A-AFC5-DABF-C113-066D0AB40979}"/>
              </a:ext>
            </a:extLst>
          </p:cNvPr>
          <p:cNvSpPr/>
          <p:nvPr/>
        </p:nvSpPr>
        <p:spPr>
          <a:xfrm>
            <a:off x="17711120" y="8761545"/>
            <a:ext cx="295907" cy="344908"/>
          </a:xfrm>
          <a:prstGeom prst="ellipse">
            <a:avLst/>
          </a:prstGeom>
          <a:solidFill>
            <a:srgbClr val="F3A025"/>
          </a:solidFill>
        </p:spPr>
        <p:txBody>
          <a:bodyPr/>
          <a:lstStyle/>
          <a:p>
            <a:endParaRPr lang="tr-TR"/>
          </a:p>
        </p:txBody>
      </p:sp>
      <p:grpSp>
        <p:nvGrpSpPr>
          <p:cNvPr id="93" name="Grup 92">
            <a:extLst>
              <a:ext uri="{FF2B5EF4-FFF2-40B4-BE49-F238E27FC236}">
                <a16:creationId xmlns:a16="http://schemas.microsoft.com/office/drawing/2014/main" id="{02C31FDD-A418-B864-8ACC-120F5B5F343F}"/>
              </a:ext>
            </a:extLst>
          </p:cNvPr>
          <p:cNvGrpSpPr/>
          <p:nvPr/>
        </p:nvGrpSpPr>
        <p:grpSpPr>
          <a:xfrm>
            <a:off x="17670306" y="2018618"/>
            <a:ext cx="371449" cy="6437321"/>
            <a:chOff x="17566046" y="2111764"/>
            <a:chExt cx="394849" cy="6842841"/>
          </a:xfrm>
        </p:grpSpPr>
        <p:sp>
          <p:nvSpPr>
            <p:cNvPr id="94" name="Freeform 21">
              <a:extLst>
                <a:ext uri="{FF2B5EF4-FFF2-40B4-BE49-F238E27FC236}">
                  <a16:creationId xmlns:a16="http://schemas.microsoft.com/office/drawing/2014/main" id="{D49AE6CC-C69F-82E1-D428-030E1DE17910}"/>
                </a:ext>
              </a:extLst>
            </p:cNvPr>
            <p:cNvSpPr/>
            <p:nvPr/>
          </p:nvSpPr>
          <p:spPr>
            <a:xfrm>
              <a:off x="17577504" y="211176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5" name="Freeform 21">
              <a:extLst>
                <a:ext uri="{FF2B5EF4-FFF2-40B4-BE49-F238E27FC236}">
                  <a16:creationId xmlns:a16="http://schemas.microsoft.com/office/drawing/2014/main" id="{E2235332-65D7-0DF9-9BB4-503778E554AE}"/>
                </a:ext>
              </a:extLst>
            </p:cNvPr>
            <p:cNvSpPr/>
            <p:nvPr/>
          </p:nvSpPr>
          <p:spPr>
            <a:xfrm>
              <a:off x="17577504" y="276608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6" name="Freeform 21">
              <a:extLst>
                <a:ext uri="{FF2B5EF4-FFF2-40B4-BE49-F238E27FC236}">
                  <a16:creationId xmlns:a16="http://schemas.microsoft.com/office/drawing/2014/main" id="{724224CD-F220-C412-6279-DF51C78A614C}"/>
                </a:ext>
              </a:extLst>
            </p:cNvPr>
            <p:cNvSpPr/>
            <p:nvPr/>
          </p:nvSpPr>
          <p:spPr>
            <a:xfrm>
              <a:off x="17577503" y="3443597"/>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7" name="Freeform 21">
              <a:extLst>
                <a:ext uri="{FF2B5EF4-FFF2-40B4-BE49-F238E27FC236}">
                  <a16:creationId xmlns:a16="http://schemas.microsoft.com/office/drawing/2014/main" id="{34A51047-A493-6908-F89E-D4A0D40CDBA1}"/>
                </a:ext>
              </a:extLst>
            </p:cNvPr>
            <p:cNvSpPr/>
            <p:nvPr/>
          </p:nvSpPr>
          <p:spPr>
            <a:xfrm>
              <a:off x="17577502" y="416210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8" name="Freeform 21">
              <a:extLst>
                <a:ext uri="{FF2B5EF4-FFF2-40B4-BE49-F238E27FC236}">
                  <a16:creationId xmlns:a16="http://schemas.microsoft.com/office/drawing/2014/main" id="{62F1B1FF-307E-DE79-86A5-1E35CFB39CEA}"/>
                </a:ext>
              </a:extLst>
            </p:cNvPr>
            <p:cNvSpPr/>
            <p:nvPr/>
          </p:nvSpPr>
          <p:spPr>
            <a:xfrm>
              <a:off x="17577501" y="4857339"/>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99" name="Freeform 21">
              <a:extLst>
                <a:ext uri="{FF2B5EF4-FFF2-40B4-BE49-F238E27FC236}">
                  <a16:creationId xmlns:a16="http://schemas.microsoft.com/office/drawing/2014/main" id="{AAF8EC53-2940-9A5D-FD49-8B883EE1CE5B}"/>
                </a:ext>
              </a:extLst>
            </p:cNvPr>
            <p:cNvSpPr/>
            <p:nvPr/>
          </p:nvSpPr>
          <p:spPr>
            <a:xfrm>
              <a:off x="17577500" y="555606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0" name="Freeform 21">
              <a:extLst>
                <a:ext uri="{FF2B5EF4-FFF2-40B4-BE49-F238E27FC236}">
                  <a16:creationId xmlns:a16="http://schemas.microsoft.com/office/drawing/2014/main" id="{91B0D4DB-0FEA-CE72-6FCF-0C4D5E4FFDF3}"/>
                </a:ext>
              </a:extLst>
            </p:cNvPr>
            <p:cNvSpPr/>
            <p:nvPr/>
          </p:nvSpPr>
          <p:spPr>
            <a:xfrm>
              <a:off x="17577500" y="6278633"/>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1" name="Freeform 21">
              <a:extLst>
                <a:ext uri="{FF2B5EF4-FFF2-40B4-BE49-F238E27FC236}">
                  <a16:creationId xmlns:a16="http://schemas.microsoft.com/office/drawing/2014/main" id="{41B57390-2040-BB62-30BB-4F445F37E68E}"/>
                </a:ext>
              </a:extLst>
            </p:cNvPr>
            <p:cNvSpPr/>
            <p:nvPr/>
          </p:nvSpPr>
          <p:spPr>
            <a:xfrm>
              <a:off x="17575010" y="700119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2" name="Freeform 21">
              <a:extLst>
                <a:ext uri="{FF2B5EF4-FFF2-40B4-BE49-F238E27FC236}">
                  <a16:creationId xmlns:a16="http://schemas.microsoft.com/office/drawing/2014/main" id="{8697C8AE-A682-C2C7-3E8E-5CF5BC529F69}"/>
                </a:ext>
              </a:extLst>
            </p:cNvPr>
            <p:cNvSpPr/>
            <p:nvPr/>
          </p:nvSpPr>
          <p:spPr>
            <a:xfrm>
              <a:off x="17577499" y="775982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03" name="Freeform 21">
              <a:extLst>
                <a:ext uri="{FF2B5EF4-FFF2-40B4-BE49-F238E27FC236}">
                  <a16:creationId xmlns:a16="http://schemas.microsoft.com/office/drawing/2014/main" id="{8EBA92D4-CFF9-0FCC-24D1-488EFDF965DB}"/>
                </a:ext>
              </a:extLst>
            </p:cNvPr>
            <p:cNvSpPr/>
            <p:nvPr/>
          </p:nvSpPr>
          <p:spPr>
            <a:xfrm>
              <a:off x="17566046" y="8520841"/>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grpSp>
      <p:sp>
        <p:nvSpPr>
          <p:cNvPr id="104" name="TextBox 39">
            <a:extLst>
              <a:ext uri="{FF2B5EF4-FFF2-40B4-BE49-F238E27FC236}">
                <a16:creationId xmlns:a16="http://schemas.microsoft.com/office/drawing/2014/main" id="{67B9D39C-5CD5-D87A-7E16-C690F3B51306}"/>
              </a:ext>
            </a:extLst>
          </p:cNvPr>
          <p:cNvSpPr txBox="1"/>
          <p:nvPr/>
        </p:nvSpPr>
        <p:spPr>
          <a:xfrm>
            <a:off x="14875224" y="7267389"/>
            <a:ext cx="2740730"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TİCARİLEŞME POTANSİYELİ VE SÜRDÜRÜLEBİLİRLİK</a:t>
            </a:r>
            <a:endParaRPr lang="en-US" dirty="0"/>
          </a:p>
        </p:txBody>
      </p:sp>
    </p:spTree>
    <p:extLst>
      <p:ext uri="{BB962C8B-B14F-4D97-AF65-F5344CB8AC3E}">
        <p14:creationId xmlns:p14="http://schemas.microsoft.com/office/powerpoint/2010/main" val="1630911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noRot="1" noMove="1" noResize="1" noEditPoints="1" noAdjustHandles="1" noChangeArrowheads="1" noChangeShapeType="1"/>
          </p:cNvSpPr>
          <p:nvPr/>
        </p:nvSpPr>
        <p:spPr>
          <a:xfrm flipV="1">
            <a:off x="620114" y="1287907"/>
            <a:ext cx="16980285" cy="12200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AutoShape 6"/>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sp>
        <p:nvSpPr>
          <p:cNvPr id="7" name="AutoShape 7"/>
          <p:cNvSpPr>
            <a:spLocks noGrp="1" noRot="1" noMove="1" noResize="1" noEditPoints="1" noAdjustHandles="1" noChangeArrowheads="1" noChangeShapeType="1"/>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8"/>
          <p:cNvSpPr txBox="1">
            <a:spLocks noGrp="1" noRot="1" noMove="1" noResize="1" noEditPoints="1" noAdjustHandles="1" noChangeArrowheads="1" noChangeShapeType="1"/>
          </p:cNvSpPr>
          <p:nvPr/>
        </p:nvSpPr>
        <p:spPr>
          <a:xfrm>
            <a:off x="7374307" y="315724"/>
            <a:ext cx="3081858" cy="972034"/>
          </a:xfrm>
          <a:prstGeom prst="rect">
            <a:avLst/>
          </a:prstGeom>
        </p:spPr>
        <p:txBody>
          <a:bodyPr lIns="0" tIns="0" rIns="0" bIns="0" rtlCol="0" anchor="t">
            <a:spAutoFit/>
          </a:bodyPr>
          <a:lstStyle/>
          <a:p>
            <a:pPr algn="ctr">
              <a:lnSpc>
                <a:spcPts val="6399"/>
              </a:lnSpc>
              <a:spcBef>
                <a:spcPct val="0"/>
              </a:spcBef>
            </a:pPr>
            <a:r>
              <a:rPr lang="en-US" sz="6399" dirty="0">
                <a:solidFill>
                  <a:srgbClr val="1A426A"/>
                </a:solidFill>
                <a:latin typeface="Active Heart"/>
              </a:rPr>
              <a:t>YÖNTEM </a:t>
            </a:r>
          </a:p>
        </p:txBody>
      </p:sp>
      <p:sp>
        <p:nvSpPr>
          <p:cNvPr id="9" name="TextBox 9"/>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1" name="Freeform 11"/>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2" name="Freeform 12"/>
          <p:cNvSpPr>
            <a:spLocks noGrp="1" noRot="1" noMove="1" noResize="1" noEditPoints="1" noAdjustHandles="1" noChangeArrowheads="1" noChangeShapeType="1"/>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6"/>
            <a:stretch>
              <a:fillRect/>
            </a:stretch>
          </a:blipFill>
        </p:spPr>
        <p:txBody>
          <a:bodyPr/>
          <a:lstStyle/>
          <a:p>
            <a:endParaRPr lang="tr-TR"/>
          </a:p>
        </p:txBody>
      </p:sp>
      <p:sp>
        <p:nvSpPr>
          <p:cNvPr id="13" name="Freeform 13"/>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sp>
        <p:nvSpPr>
          <p:cNvPr id="14" name="Freeform 14"/>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tr-TR"/>
          </a:p>
        </p:txBody>
      </p:sp>
      <p:sp>
        <p:nvSpPr>
          <p:cNvPr id="15" name="Freeform 15"/>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tr-TR"/>
          </a:p>
        </p:txBody>
      </p:sp>
      <p:sp>
        <p:nvSpPr>
          <p:cNvPr id="16" name="TextBox 16"/>
          <p:cNvSpPr txBox="1">
            <a:spLocks noGrp="1" noRot="1" noMove="1" noResize="1" noEditPoints="1" noAdjustHandles="1" noChangeArrowheads="1" noChangeShapeType="1"/>
          </p:cNvSpPr>
          <p:nvPr/>
        </p:nvSpPr>
        <p:spPr>
          <a:xfrm>
            <a:off x="753578" y="9903396"/>
            <a:ext cx="2110574"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sp>
        <p:nvSpPr>
          <p:cNvPr id="52" name="TextBox 50"/>
          <p:cNvSpPr txBox="1"/>
          <p:nvPr/>
        </p:nvSpPr>
        <p:spPr>
          <a:xfrm>
            <a:off x="1193165" y="2094117"/>
            <a:ext cx="13351022" cy="2217145"/>
          </a:xfrm>
          <a:prstGeom prst="rect">
            <a:avLst/>
          </a:prstGeom>
          <a:noFill/>
        </p:spPr>
        <p:txBody>
          <a:bodyPr wrap="square">
            <a:spAutoFit/>
          </a:bodyPr>
          <a:lstStyle>
            <a:defPPr>
              <a:defRPr lang="en-US"/>
            </a:defPPr>
            <a:lvl2pPr marL="388620" lvl="1" indent="-194310">
              <a:lnSpc>
                <a:spcPts val="2880"/>
              </a:lnSpc>
              <a:buFont typeface="Arial"/>
              <a:buChar char="•"/>
              <a:defRPr>
                <a:solidFill>
                  <a:srgbClr val="FF0000"/>
                </a:solidFill>
                <a:latin typeface="Aileron Bold"/>
              </a:defRPr>
            </a:lvl2pPr>
          </a:lstStyle>
          <a:p>
            <a:pPr lvl="1"/>
            <a:r>
              <a:rPr lang="en-US" dirty="0" err="1"/>
              <a:t>Proje</a:t>
            </a:r>
            <a:r>
              <a:rPr lang="tr-TR" dirty="0"/>
              <a:t>deki verilen fikrin gerçekleştirilmesi için kullanılacak yöntemlerin</a:t>
            </a:r>
            <a:r>
              <a:rPr lang="en-US" dirty="0"/>
              <a:t>, </a:t>
            </a:r>
            <a:r>
              <a:rPr lang="en-US" dirty="0" err="1"/>
              <a:t>ortaya</a:t>
            </a:r>
            <a:r>
              <a:rPr lang="en-US" dirty="0"/>
              <a:t> </a:t>
            </a:r>
            <a:r>
              <a:rPr lang="en-US" dirty="0" err="1"/>
              <a:t>çıkan</a:t>
            </a:r>
            <a:r>
              <a:rPr lang="en-US" dirty="0"/>
              <a:t> </a:t>
            </a:r>
            <a:r>
              <a:rPr lang="en-US" dirty="0" err="1"/>
              <a:t>ürün</a:t>
            </a:r>
            <a:r>
              <a:rPr lang="en-US" dirty="0"/>
              <a:t>/</a:t>
            </a:r>
            <a:r>
              <a:rPr lang="en-US" dirty="0" err="1"/>
              <a:t>projenin</a:t>
            </a:r>
            <a:r>
              <a:rPr lang="en-US" dirty="0"/>
              <a:t> </a:t>
            </a:r>
            <a:r>
              <a:rPr lang="en-US" dirty="0" err="1"/>
              <a:t>anlatıldığı</a:t>
            </a:r>
            <a:r>
              <a:rPr lang="en-US" dirty="0"/>
              <a:t> </a:t>
            </a:r>
            <a:r>
              <a:rPr lang="en-US" dirty="0" err="1"/>
              <a:t>sayfadır</a:t>
            </a:r>
            <a:r>
              <a:rPr lang="en-US" dirty="0"/>
              <a:t>.</a:t>
            </a:r>
          </a:p>
          <a:p>
            <a:pPr lvl="1"/>
            <a:r>
              <a:rPr lang="en-US" dirty="0" err="1"/>
              <a:t>Yöntem</a:t>
            </a:r>
            <a:r>
              <a:rPr lang="en-US" dirty="0"/>
              <a:t> </a:t>
            </a:r>
            <a:r>
              <a:rPr lang="en-US" dirty="0" err="1"/>
              <a:t>en</a:t>
            </a:r>
            <a:r>
              <a:rPr lang="en-US" dirty="0"/>
              <a:t> </a:t>
            </a:r>
            <a:r>
              <a:rPr lang="en-US" dirty="0" err="1"/>
              <a:t>fazla</a:t>
            </a:r>
            <a:r>
              <a:rPr lang="en-US" dirty="0"/>
              <a:t>(2) </a:t>
            </a:r>
            <a:r>
              <a:rPr lang="en-US" dirty="0" err="1"/>
              <a:t>sayfad</a:t>
            </a:r>
            <a:r>
              <a:rPr lang="tr-TR" dirty="0"/>
              <a:t>a açıklanmalıdır</a:t>
            </a:r>
            <a:r>
              <a:rPr lang="en-US" dirty="0"/>
              <a:t>. </a:t>
            </a:r>
            <a:r>
              <a:rPr lang="en-US" dirty="0" err="1"/>
              <a:t>Sayfa</a:t>
            </a:r>
            <a:r>
              <a:rPr lang="en-US" dirty="0"/>
              <a:t> </a:t>
            </a:r>
            <a:r>
              <a:rPr lang="en-US" dirty="0" err="1"/>
              <a:t>sınırı</a:t>
            </a:r>
            <a:r>
              <a:rPr lang="en-US" dirty="0"/>
              <a:t> </a:t>
            </a:r>
            <a:r>
              <a:rPr lang="en-US" dirty="0" err="1"/>
              <a:t>aşılmamalıdır</a:t>
            </a:r>
            <a:r>
              <a:rPr lang="en-US" dirty="0"/>
              <a:t>. </a:t>
            </a:r>
            <a:r>
              <a:rPr lang="en-US" dirty="0" err="1"/>
              <a:t>İsteyen</a:t>
            </a:r>
            <a:r>
              <a:rPr lang="en-US" dirty="0"/>
              <a:t> </a:t>
            </a:r>
            <a:r>
              <a:rPr lang="en-US" dirty="0" err="1"/>
              <a:t>takımlar</a:t>
            </a:r>
            <a:r>
              <a:rPr lang="en-US" dirty="0"/>
              <a:t> </a:t>
            </a:r>
            <a:r>
              <a:rPr lang="en-US" dirty="0" err="1"/>
              <a:t>bir</a:t>
            </a:r>
            <a:r>
              <a:rPr lang="en-US" dirty="0"/>
              <a:t> (1) </a:t>
            </a:r>
            <a:r>
              <a:rPr lang="en-US" dirty="0" err="1"/>
              <a:t>sayfada</a:t>
            </a:r>
            <a:r>
              <a:rPr lang="en-US" dirty="0"/>
              <a:t> </a:t>
            </a:r>
            <a:r>
              <a:rPr lang="en-US" dirty="0" err="1"/>
              <a:t>anlatabilir</a:t>
            </a:r>
            <a:r>
              <a:rPr lang="en-US" dirty="0"/>
              <a:t>.</a:t>
            </a:r>
          </a:p>
          <a:p>
            <a:pPr lvl="1"/>
            <a:r>
              <a:rPr lang="tr-TR" dirty="0"/>
              <a:t>Problem çözümü için seçilen yöntem, izlenecek metot/deney, kullanılacak teknolojiler, analizler ve kullanılacak malzemelerle desteklenerek açıklanmalıdır.</a:t>
            </a:r>
          </a:p>
          <a:p>
            <a:pPr lvl="1"/>
            <a:endParaRPr lang="tr-TR" dirty="0"/>
          </a:p>
          <a:p>
            <a:endParaRPr lang="tr-TR" dirty="0"/>
          </a:p>
          <a:p>
            <a:pPr lvl="1"/>
            <a:r>
              <a:rPr lang="tr-TR" dirty="0"/>
              <a:t>Sayfalarda görsellerden (tablolar, akış diyagramı , infografik vb.) yararlanabilirsiniz.</a:t>
            </a:r>
            <a:endParaRPr lang="en-US" dirty="0"/>
          </a:p>
        </p:txBody>
      </p:sp>
      <p:sp>
        <p:nvSpPr>
          <p:cNvPr id="58" name="TextBox 114">
            <a:extLst>
              <a:ext uri="{FF2B5EF4-FFF2-40B4-BE49-F238E27FC236}">
                <a16:creationId xmlns:a16="http://schemas.microsoft.com/office/drawing/2014/main" id="{0D9E376C-2050-F360-28F6-D2EC8C0F6E2D}"/>
              </a:ext>
            </a:extLst>
          </p:cNvPr>
          <p:cNvSpPr txBox="1">
            <a:spLocks/>
          </p:cNvSpPr>
          <p:nvPr/>
        </p:nvSpPr>
        <p:spPr>
          <a:xfrm>
            <a:off x="2884469" y="9504815"/>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a:t>
            </a:r>
            <a:r>
              <a:rPr lang="tr-TR" dirty="0">
                <a:solidFill>
                  <a:srgbClr val="1A426A"/>
                </a:solidFill>
                <a:latin typeface="Active Heart"/>
              </a:rPr>
              <a:t>TARIM TEKNOLOJİLERİ</a:t>
            </a:r>
            <a:r>
              <a:rPr lang="en-US" dirty="0">
                <a:solidFill>
                  <a:srgbClr val="1A426A"/>
                </a:solidFill>
                <a:latin typeface="Active Heart"/>
              </a:rPr>
              <a:t>YARIŞMASI </a:t>
            </a:r>
            <a:endParaRPr lang="tr-TR" dirty="0">
              <a:solidFill>
                <a:srgbClr val="1A426A"/>
              </a:solidFill>
              <a:latin typeface="Active Heart"/>
            </a:endParaRPr>
          </a:p>
          <a:p>
            <a:pPr algn="ctr">
              <a:lnSpc>
                <a:spcPts val="2000"/>
              </a:lnSpc>
              <a:spcBef>
                <a:spcPct val="0"/>
              </a:spcBef>
            </a:pPr>
            <a:r>
              <a:rPr lang="en-US" dirty="0">
                <a:solidFill>
                  <a:srgbClr val="1A426A"/>
                </a:solidFill>
                <a:latin typeface="Active Heart"/>
              </a:rPr>
              <a:t>PROJE SUNUMU</a:t>
            </a:r>
          </a:p>
        </p:txBody>
      </p:sp>
      <p:sp>
        <p:nvSpPr>
          <p:cNvPr id="114" name="TextBox 39">
            <a:extLst>
              <a:ext uri="{FF2B5EF4-FFF2-40B4-BE49-F238E27FC236}">
                <a16:creationId xmlns:a16="http://schemas.microsoft.com/office/drawing/2014/main" id="{0CB9B0A9-21C3-0290-546A-79C88CCD4627}"/>
              </a:ext>
            </a:extLst>
          </p:cNvPr>
          <p:cNvSpPr txBox="1"/>
          <p:nvPr/>
        </p:nvSpPr>
        <p:spPr>
          <a:xfrm>
            <a:off x="14875224" y="6556090"/>
            <a:ext cx="2740730" cy="539443"/>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MEVCUT ÇÖZÜMLERLE KARŞILAŞTIRMA</a:t>
            </a:r>
            <a:endParaRPr lang="en-US" dirty="0"/>
          </a:p>
        </p:txBody>
      </p:sp>
      <p:sp>
        <p:nvSpPr>
          <p:cNvPr id="115" name="TextBox 34">
            <a:extLst>
              <a:ext uri="{FF2B5EF4-FFF2-40B4-BE49-F238E27FC236}">
                <a16:creationId xmlns:a16="http://schemas.microsoft.com/office/drawing/2014/main" id="{7CA1AB93-8898-B900-BB16-8E077D4FBDBA}"/>
              </a:ext>
            </a:extLst>
          </p:cNvPr>
          <p:cNvSpPr txBox="1"/>
          <p:nvPr/>
        </p:nvSpPr>
        <p:spPr>
          <a:xfrm>
            <a:off x="16683289" y="5330207"/>
            <a:ext cx="922351" cy="25859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defPPr>
              <a:defRPr lang="en-US"/>
            </a:defPPr>
            <a:lvl1pPr algn="r">
              <a:lnSpc>
                <a:spcPts val="2232"/>
              </a:lnSpc>
              <a:defRPr sz="1590">
                <a:solidFill>
                  <a:srgbClr val="1C4C61"/>
                </a:solidFill>
                <a:latin typeface="Aileron Bold"/>
              </a:defRPr>
            </a:lvl1pPr>
          </a:lstStyle>
          <a:p>
            <a:r>
              <a:rPr lang="tr-TR"/>
              <a:t>YÖNTEM</a:t>
            </a:r>
            <a:endParaRPr lang="en-US" dirty="0"/>
          </a:p>
        </p:txBody>
      </p:sp>
      <p:sp>
        <p:nvSpPr>
          <p:cNvPr id="116" name="TextBox 35">
            <a:extLst>
              <a:ext uri="{FF2B5EF4-FFF2-40B4-BE49-F238E27FC236}">
                <a16:creationId xmlns:a16="http://schemas.microsoft.com/office/drawing/2014/main" id="{B42BAC1B-6E54-359B-324E-9A5A1E020491}"/>
              </a:ext>
            </a:extLst>
          </p:cNvPr>
          <p:cNvSpPr txBox="1"/>
          <p:nvPr/>
        </p:nvSpPr>
        <p:spPr>
          <a:xfrm>
            <a:off x="15290180" y="3881113"/>
            <a:ext cx="2332079"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PROBLEMİN TANIMI VE ÖNEMİ</a:t>
            </a:r>
            <a:endParaRPr lang="en-US" dirty="0"/>
          </a:p>
        </p:txBody>
      </p:sp>
      <p:sp>
        <p:nvSpPr>
          <p:cNvPr id="117" name="TextBox 36">
            <a:extLst>
              <a:ext uri="{FF2B5EF4-FFF2-40B4-BE49-F238E27FC236}">
                <a16:creationId xmlns:a16="http://schemas.microsoft.com/office/drawing/2014/main" id="{7B207D9D-00A1-91B0-B1B3-7A68C9656D90}"/>
              </a:ext>
            </a:extLst>
          </p:cNvPr>
          <p:cNvSpPr txBox="1"/>
          <p:nvPr/>
        </p:nvSpPr>
        <p:spPr>
          <a:xfrm>
            <a:off x="15914926" y="4670804"/>
            <a:ext cx="1693724"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ÇÖZÜM ÖNERİSİ</a:t>
            </a:r>
            <a:endParaRPr lang="en-US" dirty="0"/>
          </a:p>
        </p:txBody>
      </p:sp>
      <p:sp>
        <p:nvSpPr>
          <p:cNvPr id="118" name="TextBox 38">
            <a:extLst>
              <a:ext uri="{FF2B5EF4-FFF2-40B4-BE49-F238E27FC236}">
                <a16:creationId xmlns:a16="http://schemas.microsoft.com/office/drawing/2014/main" id="{65C7F9E6-2D91-E7CC-95D1-41A0E352B0C9}"/>
              </a:ext>
            </a:extLst>
          </p:cNvPr>
          <p:cNvSpPr txBox="1"/>
          <p:nvPr/>
        </p:nvSpPr>
        <p:spPr>
          <a:xfrm>
            <a:off x="15922231" y="8117798"/>
            <a:ext cx="1693723"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TAKVİMİ</a:t>
            </a:r>
            <a:endParaRPr lang="en-US" dirty="0"/>
          </a:p>
        </p:txBody>
      </p:sp>
      <p:sp>
        <p:nvSpPr>
          <p:cNvPr id="119" name="AutoShape 20">
            <a:extLst>
              <a:ext uri="{FF2B5EF4-FFF2-40B4-BE49-F238E27FC236}">
                <a16:creationId xmlns:a16="http://schemas.microsoft.com/office/drawing/2014/main" id="{CAB91A26-779F-9FAB-9996-427C42A5E4C3}"/>
              </a:ext>
            </a:extLst>
          </p:cNvPr>
          <p:cNvSpPr/>
          <p:nvPr/>
        </p:nvSpPr>
        <p:spPr>
          <a:xfrm flipV="1">
            <a:off x="17862002" y="1644769"/>
            <a:ext cx="0" cy="7289230"/>
          </a:xfrm>
          <a:prstGeom prst="line">
            <a:avLst/>
          </a:prstGeom>
          <a:ln w="38100" cap="flat">
            <a:solidFill>
              <a:srgbClr val="344C54"/>
            </a:solidFill>
            <a:prstDash val="solid"/>
            <a:headEnd type="none" w="sm" len="sm"/>
            <a:tailEnd type="none" w="sm" len="sm"/>
          </a:ln>
        </p:spPr>
        <p:txBody>
          <a:bodyPr/>
          <a:lstStyle/>
          <a:p>
            <a:endParaRPr lang="tr-TR"/>
          </a:p>
        </p:txBody>
      </p:sp>
      <p:sp>
        <p:nvSpPr>
          <p:cNvPr id="120" name="TextBox 40">
            <a:extLst>
              <a:ext uri="{FF2B5EF4-FFF2-40B4-BE49-F238E27FC236}">
                <a16:creationId xmlns:a16="http://schemas.microsoft.com/office/drawing/2014/main" id="{1B3E4739-7A5D-5274-504B-861E9B886FAD}"/>
              </a:ext>
            </a:extLst>
          </p:cNvPr>
          <p:cNvSpPr txBox="1"/>
          <p:nvPr/>
        </p:nvSpPr>
        <p:spPr>
          <a:xfrm>
            <a:off x="15099049" y="2568371"/>
            <a:ext cx="2516905"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ÖZETİ, KAPSAMI ve HEDEF KİTLE</a:t>
            </a:r>
            <a:endParaRPr lang="en-US" dirty="0"/>
          </a:p>
        </p:txBody>
      </p:sp>
      <p:sp>
        <p:nvSpPr>
          <p:cNvPr id="121" name="TextBox 42">
            <a:extLst>
              <a:ext uri="{FF2B5EF4-FFF2-40B4-BE49-F238E27FC236}">
                <a16:creationId xmlns:a16="http://schemas.microsoft.com/office/drawing/2014/main" id="{63728122-3813-635D-26C6-DFC1C552272C}"/>
              </a:ext>
            </a:extLst>
          </p:cNvPr>
          <p:cNvSpPr txBox="1"/>
          <p:nvPr/>
        </p:nvSpPr>
        <p:spPr>
          <a:xfrm>
            <a:off x="15435222" y="2092314"/>
            <a:ext cx="2174945"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en-US" dirty="0"/>
              <a:t>T</a:t>
            </a:r>
            <a:r>
              <a:rPr lang="tr-TR" dirty="0"/>
              <a:t>AKIM TANITIM</a:t>
            </a:r>
            <a:endParaRPr lang="en-US" dirty="0"/>
          </a:p>
        </p:txBody>
      </p:sp>
      <p:sp>
        <p:nvSpPr>
          <p:cNvPr id="122" name="Freeform 22">
            <a:extLst>
              <a:ext uri="{FF2B5EF4-FFF2-40B4-BE49-F238E27FC236}">
                <a16:creationId xmlns:a16="http://schemas.microsoft.com/office/drawing/2014/main" id="{A352E6ED-E2DC-AD04-4F48-E3F2687CD260}"/>
              </a:ext>
            </a:extLst>
          </p:cNvPr>
          <p:cNvSpPr/>
          <p:nvPr/>
        </p:nvSpPr>
        <p:spPr>
          <a:xfrm>
            <a:off x="17791146" y="2839736"/>
            <a:ext cx="201784" cy="214667"/>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tr-TR"/>
          </a:p>
        </p:txBody>
      </p:sp>
      <p:sp>
        <p:nvSpPr>
          <p:cNvPr id="123" name="TextBox 34">
            <a:extLst>
              <a:ext uri="{FF2B5EF4-FFF2-40B4-BE49-F238E27FC236}">
                <a16:creationId xmlns:a16="http://schemas.microsoft.com/office/drawing/2014/main" id="{37BD8D0F-3FFB-6A77-55A9-A46932489D59}"/>
              </a:ext>
            </a:extLst>
          </p:cNvPr>
          <p:cNvSpPr txBox="1"/>
          <p:nvPr/>
        </p:nvSpPr>
        <p:spPr>
          <a:xfrm>
            <a:off x="15103346" y="3206954"/>
            <a:ext cx="2505303"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AMACI VE TOPLUMSAL FAYDASI</a:t>
            </a:r>
            <a:endParaRPr lang="en-US" dirty="0"/>
          </a:p>
        </p:txBody>
      </p:sp>
      <p:sp>
        <p:nvSpPr>
          <p:cNvPr id="124" name="TextBox 39">
            <a:extLst>
              <a:ext uri="{FF2B5EF4-FFF2-40B4-BE49-F238E27FC236}">
                <a16:creationId xmlns:a16="http://schemas.microsoft.com/office/drawing/2014/main" id="{DC708CA3-4039-DAB9-AE96-D36325958E03}"/>
              </a:ext>
            </a:extLst>
          </p:cNvPr>
          <p:cNvSpPr txBox="1"/>
          <p:nvPr/>
        </p:nvSpPr>
        <p:spPr>
          <a:xfrm>
            <a:off x="15204106" y="5878404"/>
            <a:ext cx="2413247"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PROTOTİP / TASARIM VE İŞLEYİŞİ</a:t>
            </a:r>
            <a:endParaRPr lang="en-US" dirty="0"/>
          </a:p>
        </p:txBody>
      </p:sp>
      <p:sp>
        <p:nvSpPr>
          <p:cNvPr id="125" name="Freeform 96">
            <a:extLst>
              <a:ext uri="{FF2B5EF4-FFF2-40B4-BE49-F238E27FC236}">
                <a16:creationId xmlns:a16="http://schemas.microsoft.com/office/drawing/2014/main" id="{0DD2ACAB-FB90-3362-63B6-7A25F22A197D}"/>
              </a:ext>
            </a:extLst>
          </p:cNvPr>
          <p:cNvSpPr/>
          <p:nvPr/>
        </p:nvSpPr>
        <p:spPr>
          <a:xfrm>
            <a:off x="17389288"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26" name="Freeform 97">
            <a:extLst>
              <a:ext uri="{FF2B5EF4-FFF2-40B4-BE49-F238E27FC236}">
                <a16:creationId xmlns:a16="http://schemas.microsoft.com/office/drawing/2014/main" id="{C2319E21-A53B-4D5B-79BA-5FDF7174D176}"/>
              </a:ext>
            </a:extLst>
          </p:cNvPr>
          <p:cNvSpPr/>
          <p:nvPr/>
        </p:nvSpPr>
        <p:spPr>
          <a:xfrm>
            <a:off x="17718785"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tr-TR"/>
          </a:p>
        </p:txBody>
      </p:sp>
      <p:sp>
        <p:nvSpPr>
          <p:cNvPr id="127" name="Freeform 96">
            <a:extLst>
              <a:ext uri="{FF2B5EF4-FFF2-40B4-BE49-F238E27FC236}">
                <a16:creationId xmlns:a16="http://schemas.microsoft.com/office/drawing/2014/main" id="{A3B6F736-7F02-6F80-A20B-7A92963A0706}"/>
              </a:ext>
            </a:extLst>
          </p:cNvPr>
          <p:cNvSpPr/>
          <p:nvPr/>
        </p:nvSpPr>
        <p:spPr>
          <a:xfrm>
            <a:off x="17389287" y="8723804"/>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28" name="Freeform 97">
            <a:extLst>
              <a:ext uri="{FF2B5EF4-FFF2-40B4-BE49-F238E27FC236}">
                <a16:creationId xmlns:a16="http://schemas.microsoft.com/office/drawing/2014/main" id="{91D062C9-3C1F-7CA5-970D-778078693DC0}"/>
              </a:ext>
            </a:extLst>
          </p:cNvPr>
          <p:cNvSpPr/>
          <p:nvPr/>
        </p:nvSpPr>
        <p:spPr>
          <a:xfrm>
            <a:off x="17711120" y="8761545"/>
            <a:ext cx="295907" cy="344908"/>
          </a:xfrm>
          <a:prstGeom prst="ellipse">
            <a:avLst/>
          </a:prstGeom>
          <a:solidFill>
            <a:srgbClr val="F3A025"/>
          </a:solidFill>
        </p:spPr>
        <p:txBody>
          <a:bodyPr/>
          <a:lstStyle/>
          <a:p>
            <a:endParaRPr lang="tr-TR"/>
          </a:p>
        </p:txBody>
      </p:sp>
      <p:grpSp>
        <p:nvGrpSpPr>
          <p:cNvPr id="129" name="Grup 128">
            <a:extLst>
              <a:ext uri="{FF2B5EF4-FFF2-40B4-BE49-F238E27FC236}">
                <a16:creationId xmlns:a16="http://schemas.microsoft.com/office/drawing/2014/main" id="{8CC890CE-64BC-05C4-CA88-848198B294EC}"/>
              </a:ext>
            </a:extLst>
          </p:cNvPr>
          <p:cNvGrpSpPr/>
          <p:nvPr/>
        </p:nvGrpSpPr>
        <p:grpSpPr>
          <a:xfrm>
            <a:off x="17670306" y="2018618"/>
            <a:ext cx="371449" cy="6437321"/>
            <a:chOff x="17566046" y="2111764"/>
            <a:chExt cx="394849" cy="6842841"/>
          </a:xfrm>
        </p:grpSpPr>
        <p:sp>
          <p:nvSpPr>
            <p:cNvPr id="130" name="Freeform 21">
              <a:extLst>
                <a:ext uri="{FF2B5EF4-FFF2-40B4-BE49-F238E27FC236}">
                  <a16:creationId xmlns:a16="http://schemas.microsoft.com/office/drawing/2014/main" id="{7BB98B0E-CC68-4B8C-F42A-22F6FA1D73D1}"/>
                </a:ext>
              </a:extLst>
            </p:cNvPr>
            <p:cNvSpPr/>
            <p:nvPr/>
          </p:nvSpPr>
          <p:spPr>
            <a:xfrm>
              <a:off x="17577504" y="211176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31" name="Freeform 21">
              <a:extLst>
                <a:ext uri="{FF2B5EF4-FFF2-40B4-BE49-F238E27FC236}">
                  <a16:creationId xmlns:a16="http://schemas.microsoft.com/office/drawing/2014/main" id="{8A6A2FE8-B3AA-BF4F-250E-4C4DECB1F272}"/>
                </a:ext>
              </a:extLst>
            </p:cNvPr>
            <p:cNvSpPr/>
            <p:nvPr/>
          </p:nvSpPr>
          <p:spPr>
            <a:xfrm>
              <a:off x="17577504" y="276608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32" name="Freeform 21">
              <a:extLst>
                <a:ext uri="{FF2B5EF4-FFF2-40B4-BE49-F238E27FC236}">
                  <a16:creationId xmlns:a16="http://schemas.microsoft.com/office/drawing/2014/main" id="{6D4A865C-9ECB-E417-9F76-83E6CE0D36C0}"/>
                </a:ext>
              </a:extLst>
            </p:cNvPr>
            <p:cNvSpPr/>
            <p:nvPr/>
          </p:nvSpPr>
          <p:spPr>
            <a:xfrm>
              <a:off x="17577503" y="3443597"/>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33" name="Freeform 21">
              <a:extLst>
                <a:ext uri="{FF2B5EF4-FFF2-40B4-BE49-F238E27FC236}">
                  <a16:creationId xmlns:a16="http://schemas.microsoft.com/office/drawing/2014/main" id="{44087072-52FE-9D38-B60C-0D51854FC4DD}"/>
                </a:ext>
              </a:extLst>
            </p:cNvPr>
            <p:cNvSpPr/>
            <p:nvPr/>
          </p:nvSpPr>
          <p:spPr>
            <a:xfrm>
              <a:off x="17577502" y="416210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34" name="Freeform 21">
              <a:extLst>
                <a:ext uri="{FF2B5EF4-FFF2-40B4-BE49-F238E27FC236}">
                  <a16:creationId xmlns:a16="http://schemas.microsoft.com/office/drawing/2014/main" id="{4108C190-3F66-ABE5-0282-312DFF70E70D}"/>
                </a:ext>
              </a:extLst>
            </p:cNvPr>
            <p:cNvSpPr/>
            <p:nvPr/>
          </p:nvSpPr>
          <p:spPr>
            <a:xfrm>
              <a:off x="17577501" y="4857339"/>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35" name="Freeform 21">
              <a:extLst>
                <a:ext uri="{FF2B5EF4-FFF2-40B4-BE49-F238E27FC236}">
                  <a16:creationId xmlns:a16="http://schemas.microsoft.com/office/drawing/2014/main" id="{6C82CC01-EB7E-AF9E-4358-A0FB28EFB592}"/>
                </a:ext>
              </a:extLst>
            </p:cNvPr>
            <p:cNvSpPr/>
            <p:nvPr/>
          </p:nvSpPr>
          <p:spPr>
            <a:xfrm>
              <a:off x="17577500" y="555606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36" name="Freeform 21">
              <a:extLst>
                <a:ext uri="{FF2B5EF4-FFF2-40B4-BE49-F238E27FC236}">
                  <a16:creationId xmlns:a16="http://schemas.microsoft.com/office/drawing/2014/main" id="{6D4BC614-14EE-47B0-B121-1C672927AC13}"/>
                </a:ext>
              </a:extLst>
            </p:cNvPr>
            <p:cNvSpPr/>
            <p:nvPr/>
          </p:nvSpPr>
          <p:spPr>
            <a:xfrm>
              <a:off x="17577500" y="6278633"/>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37" name="Freeform 21">
              <a:extLst>
                <a:ext uri="{FF2B5EF4-FFF2-40B4-BE49-F238E27FC236}">
                  <a16:creationId xmlns:a16="http://schemas.microsoft.com/office/drawing/2014/main" id="{F5901CE4-145D-BAB1-3DF4-37482F4C60C4}"/>
                </a:ext>
              </a:extLst>
            </p:cNvPr>
            <p:cNvSpPr/>
            <p:nvPr/>
          </p:nvSpPr>
          <p:spPr>
            <a:xfrm>
              <a:off x="17575010" y="700119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38" name="Freeform 21">
              <a:extLst>
                <a:ext uri="{FF2B5EF4-FFF2-40B4-BE49-F238E27FC236}">
                  <a16:creationId xmlns:a16="http://schemas.microsoft.com/office/drawing/2014/main" id="{1EEDC7B0-1380-C5B3-19C7-B9AAE9292263}"/>
                </a:ext>
              </a:extLst>
            </p:cNvPr>
            <p:cNvSpPr/>
            <p:nvPr/>
          </p:nvSpPr>
          <p:spPr>
            <a:xfrm>
              <a:off x="17577499" y="775982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39" name="Freeform 21">
              <a:extLst>
                <a:ext uri="{FF2B5EF4-FFF2-40B4-BE49-F238E27FC236}">
                  <a16:creationId xmlns:a16="http://schemas.microsoft.com/office/drawing/2014/main" id="{C43D112E-9A4B-FFAA-4F88-BA99220EE233}"/>
                </a:ext>
              </a:extLst>
            </p:cNvPr>
            <p:cNvSpPr/>
            <p:nvPr/>
          </p:nvSpPr>
          <p:spPr>
            <a:xfrm>
              <a:off x="17566046" y="8520841"/>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tr-TR"/>
            </a:p>
          </p:txBody>
        </p:sp>
      </p:grpSp>
      <p:sp>
        <p:nvSpPr>
          <p:cNvPr id="140" name="TextBox 39">
            <a:extLst>
              <a:ext uri="{FF2B5EF4-FFF2-40B4-BE49-F238E27FC236}">
                <a16:creationId xmlns:a16="http://schemas.microsoft.com/office/drawing/2014/main" id="{DD32A934-6EE7-D936-A10F-742627332E01}"/>
              </a:ext>
            </a:extLst>
          </p:cNvPr>
          <p:cNvSpPr txBox="1"/>
          <p:nvPr/>
        </p:nvSpPr>
        <p:spPr>
          <a:xfrm>
            <a:off x="14875224" y="7267389"/>
            <a:ext cx="2740730"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TİCARİLEŞME POTANSİYELİ VE SÜRDÜRÜLEBİLİRLİK</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8">
            <a:extLst>
              <a:ext uri="{FF2B5EF4-FFF2-40B4-BE49-F238E27FC236}">
                <a16:creationId xmlns:a16="http://schemas.microsoft.com/office/drawing/2014/main" id="{36DC1DEB-D353-CC6F-D727-B9E3341FDCDE}"/>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PROTOTİP / TASARIM VE İŞLEYİŞİ</a:t>
            </a:r>
            <a:endParaRPr lang="en-US" sz="6399" dirty="0">
              <a:solidFill>
                <a:srgbClr val="1A426A"/>
              </a:solidFill>
              <a:latin typeface="Active Heart"/>
            </a:endParaRPr>
          </a:p>
        </p:txBody>
      </p:sp>
      <p:sp>
        <p:nvSpPr>
          <p:cNvPr id="5" name="Metin kutusu 4">
            <a:extLst>
              <a:ext uri="{FF2B5EF4-FFF2-40B4-BE49-F238E27FC236}">
                <a16:creationId xmlns:a16="http://schemas.microsoft.com/office/drawing/2014/main" id="{497AE2A3-20D9-5A35-7060-3361272691D0}"/>
              </a:ext>
            </a:extLst>
          </p:cNvPr>
          <p:cNvSpPr txBox="1"/>
          <p:nvPr/>
        </p:nvSpPr>
        <p:spPr>
          <a:xfrm>
            <a:off x="1295400" y="2022762"/>
            <a:ext cx="13100511" cy="6041269"/>
          </a:xfrm>
          <a:prstGeom prst="rect">
            <a:avLst/>
          </a:prstGeom>
          <a:noFill/>
        </p:spPr>
        <p:txBody>
          <a:bodyPr wrap="square">
            <a:spAutoFit/>
          </a:bodyPr>
          <a:lstStyle/>
          <a:p>
            <a:pPr marL="388620" lvl="1" indent="-194310">
              <a:lnSpc>
                <a:spcPts val="2880"/>
              </a:lnSpc>
              <a:buFont typeface="Arial"/>
              <a:buChar char="•"/>
            </a:pPr>
            <a:r>
              <a:rPr lang="en-US" dirty="0" err="1">
                <a:solidFill>
                  <a:srgbClr val="FF0000"/>
                </a:solidFill>
                <a:latin typeface="Aileron Bold"/>
              </a:rPr>
              <a:t>Prototip</a:t>
            </a:r>
            <a:r>
              <a:rPr lang="en-US" dirty="0">
                <a:solidFill>
                  <a:srgbClr val="FF0000"/>
                </a:solidFill>
                <a:latin typeface="Aileron Bold"/>
              </a:rPr>
              <a:t>/</a:t>
            </a:r>
            <a:r>
              <a:rPr lang="en-US" dirty="0" err="1">
                <a:solidFill>
                  <a:srgbClr val="FF0000"/>
                </a:solidFill>
                <a:latin typeface="Aileron Bold"/>
              </a:rPr>
              <a:t>Tasarım</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işleyişi</a:t>
            </a:r>
            <a:r>
              <a:rPr lang="en-US" dirty="0">
                <a:solidFill>
                  <a:srgbClr val="FF0000"/>
                </a:solidFill>
                <a:latin typeface="Aileron Bold"/>
              </a:rPr>
              <a:t> </a:t>
            </a:r>
            <a:r>
              <a:rPr lang="en-US" dirty="0" err="1">
                <a:solidFill>
                  <a:srgbClr val="FF0000"/>
                </a:solidFill>
                <a:latin typeface="Aileron Bold"/>
              </a:rPr>
              <a:t>ile</a:t>
            </a:r>
            <a:r>
              <a:rPr lang="en-US" dirty="0">
                <a:solidFill>
                  <a:srgbClr val="FF0000"/>
                </a:solidFill>
                <a:latin typeface="Aileron Bold"/>
              </a:rPr>
              <a:t> </a:t>
            </a:r>
            <a:r>
              <a:rPr lang="en-US" dirty="0" err="1">
                <a:solidFill>
                  <a:srgbClr val="FF0000"/>
                </a:solidFill>
                <a:latin typeface="Aileron Bold"/>
              </a:rPr>
              <a:t>birlikte</a:t>
            </a:r>
            <a:r>
              <a:rPr lang="en-US" dirty="0">
                <a:solidFill>
                  <a:srgbClr val="FF0000"/>
                </a:solidFill>
                <a:latin typeface="Aileron Bold"/>
              </a:rPr>
              <a:t> </a:t>
            </a:r>
            <a:r>
              <a:rPr lang="en-US" dirty="0" err="1">
                <a:solidFill>
                  <a:srgbClr val="FF0000"/>
                </a:solidFill>
                <a:latin typeface="Aileron Bold"/>
              </a:rPr>
              <a:t>yöntemin</a:t>
            </a:r>
            <a:r>
              <a:rPr lang="en-US" dirty="0">
                <a:solidFill>
                  <a:srgbClr val="FF0000"/>
                </a:solidFill>
                <a:latin typeface="Aileron Bold"/>
              </a:rPr>
              <a:t> </a:t>
            </a:r>
            <a:r>
              <a:rPr lang="en-US" dirty="0" err="1">
                <a:solidFill>
                  <a:srgbClr val="FF0000"/>
                </a:solidFill>
                <a:latin typeface="Aileron Bold"/>
              </a:rPr>
              <a:t>anlatıldığı</a:t>
            </a:r>
            <a:r>
              <a:rPr lang="en-US" dirty="0">
                <a:solidFill>
                  <a:srgbClr val="FF0000"/>
                </a:solidFill>
                <a:latin typeface="Aileron Bold"/>
              </a:rPr>
              <a:t> </a:t>
            </a:r>
            <a:r>
              <a:rPr lang="en-US" dirty="0" err="1">
                <a:solidFill>
                  <a:srgbClr val="FF0000"/>
                </a:solidFill>
                <a:latin typeface="Aileron Bold"/>
              </a:rPr>
              <a:t>sayfadır</a:t>
            </a:r>
            <a:r>
              <a:rPr lang="en-US" dirty="0">
                <a:solidFill>
                  <a:srgbClr val="FF0000"/>
                </a:solidFill>
                <a:latin typeface="Aileron Bold"/>
              </a:rPr>
              <a:t>.</a:t>
            </a:r>
          </a:p>
          <a:p>
            <a:pPr marL="388620" lvl="1" indent="-194310">
              <a:lnSpc>
                <a:spcPts val="2880"/>
              </a:lnSpc>
              <a:buFont typeface="Arial"/>
              <a:buChar char="•"/>
            </a:pPr>
            <a:r>
              <a:rPr lang="en-US" u="sng" dirty="0">
                <a:solidFill>
                  <a:srgbClr val="FF0000"/>
                </a:solidFill>
                <a:latin typeface="Aileron Bold"/>
              </a:rPr>
              <a:t>En </a:t>
            </a:r>
            <a:r>
              <a:rPr lang="en-US" u="sng" dirty="0" err="1">
                <a:solidFill>
                  <a:srgbClr val="FF0000"/>
                </a:solidFill>
                <a:latin typeface="Aileron Bold"/>
              </a:rPr>
              <a:t>fazla</a:t>
            </a:r>
            <a:r>
              <a:rPr lang="en-US" u="sng" dirty="0">
                <a:solidFill>
                  <a:srgbClr val="FF0000"/>
                </a:solidFill>
                <a:latin typeface="Aileron Bold"/>
              </a:rPr>
              <a:t> 2 (</a:t>
            </a:r>
            <a:r>
              <a:rPr lang="en-US" u="sng" dirty="0" err="1">
                <a:solidFill>
                  <a:srgbClr val="FF0000"/>
                </a:solidFill>
                <a:latin typeface="Aileron Bold"/>
              </a:rPr>
              <a:t>iki</a:t>
            </a:r>
            <a:r>
              <a:rPr lang="en-US" u="sng" dirty="0">
                <a:solidFill>
                  <a:srgbClr val="FF0000"/>
                </a:solidFill>
                <a:latin typeface="Aileron Bold"/>
              </a:rPr>
              <a:t>) </a:t>
            </a:r>
            <a:r>
              <a:rPr lang="en-US" u="sng" dirty="0" err="1">
                <a:solidFill>
                  <a:srgbClr val="FF0000"/>
                </a:solidFill>
                <a:latin typeface="Aileron Bold"/>
              </a:rPr>
              <a:t>sayfad</a:t>
            </a:r>
            <a:r>
              <a:rPr lang="tr-TR" u="sng" dirty="0">
                <a:solidFill>
                  <a:srgbClr val="FF0000"/>
                </a:solidFill>
                <a:latin typeface="Aileron Bold"/>
              </a:rPr>
              <a:t>a </a:t>
            </a:r>
            <a:r>
              <a:rPr lang="tr-TR" dirty="0">
                <a:solidFill>
                  <a:srgbClr val="FF0000"/>
                </a:solidFill>
                <a:latin typeface="Aileron Bold"/>
              </a:rPr>
              <a:t>açıklanmalıdır</a:t>
            </a:r>
            <a:r>
              <a:rPr lang="en-US" dirty="0">
                <a:solidFill>
                  <a:srgbClr val="FF0000"/>
                </a:solidFill>
                <a:latin typeface="Aileron Bold"/>
              </a:rPr>
              <a:t>. </a:t>
            </a:r>
            <a:r>
              <a:rPr lang="en-US" dirty="0" err="1">
                <a:solidFill>
                  <a:srgbClr val="FF0000"/>
                </a:solidFill>
                <a:latin typeface="Aileron Bold"/>
              </a:rPr>
              <a:t>Sayfa</a:t>
            </a:r>
            <a:r>
              <a:rPr lang="en-US" dirty="0">
                <a:solidFill>
                  <a:srgbClr val="FF0000"/>
                </a:solidFill>
                <a:latin typeface="Aileron Bold"/>
              </a:rPr>
              <a:t> </a:t>
            </a:r>
            <a:r>
              <a:rPr lang="en-US" dirty="0" err="1">
                <a:solidFill>
                  <a:srgbClr val="FF0000"/>
                </a:solidFill>
                <a:latin typeface="Aileron Bold"/>
              </a:rPr>
              <a:t>sınırı</a:t>
            </a:r>
            <a:r>
              <a:rPr lang="en-US"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1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en-US" dirty="0">
                <a:solidFill>
                  <a:srgbClr val="FF0000"/>
                </a:solidFill>
                <a:latin typeface="Aileron Bold"/>
              </a:rPr>
              <a:t>.</a:t>
            </a:r>
          </a:p>
          <a:p>
            <a:pPr marL="194310" lvl="1">
              <a:lnSpc>
                <a:spcPts val="2880"/>
              </a:lnSpc>
            </a:pPr>
            <a:endParaRPr lang="en-US" dirty="0">
              <a:solidFill>
                <a:srgbClr val="FF0000"/>
              </a:solidFill>
              <a:latin typeface="Aileron Bold"/>
            </a:endParaRPr>
          </a:p>
          <a:p>
            <a:pPr marL="388620" lvl="1" indent="-194310">
              <a:lnSpc>
                <a:spcPts val="2520"/>
              </a:lnSpc>
              <a:buFont typeface="Arial"/>
              <a:buChar char="•"/>
            </a:pPr>
            <a:r>
              <a:rPr lang="tr-TR" dirty="0">
                <a:solidFill>
                  <a:srgbClr val="FF0000"/>
                </a:solidFill>
                <a:latin typeface="Aileron Bold"/>
              </a:rPr>
              <a:t>Problem çözümü için seçilen yöntem, izlenecek metot/deney, kullanılacak teknolojiler, analizler ve kullanılacak malzemelerle desteklenerek açıklanmalıdır.</a:t>
            </a:r>
          </a:p>
          <a:p>
            <a:pPr marL="388620" lvl="1" indent="-194310" algn="just">
              <a:lnSpc>
                <a:spcPts val="2520"/>
              </a:lnSpc>
              <a:buFont typeface="Arial"/>
              <a:buChar char="•"/>
            </a:pPr>
            <a:r>
              <a:rPr lang="tr-TR" dirty="0">
                <a:solidFill>
                  <a:srgbClr val="FF0000"/>
                </a:solidFill>
                <a:latin typeface="Aileron Bold"/>
              </a:rPr>
              <a:t>Proje fikrinizin somut bir ürüne dönüşme süreci detaylı bir şekilde açıklanmalıdır. Proje kapsamında prototip geliştirilip geliştirilmediği belirtilmeli; varsa prototipe ait görseller, prototip yoksa tasarımsal çalışmanızın görselleri ya da demo görselleri sunuma eklenmelidir. </a:t>
            </a:r>
          </a:p>
          <a:p>
            <a:pPr marL="388620" lvl="1" indent="-194310" algn="just">
              <a:lnSpc>
                <a:spcPts val="2520"/>
              </a:lnSpc>
              <a:buFont typeface="Arial"/>
              <a:buChar char="•"/>
            </a:pPr>
            <a:r>
              <a:rPr lang="tr-TR" dirty="0">
                <a:solidFill>
                  <a:srgbClr val="FF0000"/>
                </a:solidFill>
                <a:latin typeface="Aileron Bold"/>
              </a:rPr>
              <a:t>Geliştirilen prototipin ne tür bir sistem ya da ürün olduğu açıklanmalı; çözüm önerinizin donanım temelli mi, yazılım temelli mi yoksa her ikisini içeren hibrit bir yapı mı olduğu açıkça belirtilmelidir. Prototipin oluşturulmasında kullanılan malzeme, araç, yazılım, sensör, sistem bileşenleri gibi teknik detaylar maddeler halinde listelenmelidir.</a:t>
            </a:r>
          </a:p>
          <a:p>
            <a:pPr marL="388620" lvl="1" indent="-194310" algn="just">
              <a:lnSpc>
                <a:spcPts val="2520"/>
              </a:lnSpc>
              <a:buFont typeface="Arial"/>
              <a:buChar char="•"/>
            </a:pPr>
            <a:r>
              <a:rPr lang="tr-TR" dirty="0">
                <a:solidFill>
                  <a:srgbClr val="FF0000"/>
                </a:solidFill>
                <a:latin typeface="Aileron Bold"/>
              </a:rPr>
              <a:t> Prototipin geliştirme süreci; tasarım, üretim, kodlama ve test aşamaları şeklinde açıklanmalı, bu aşamalardan hangilerinin tamamlandığı belirtilmelidir. Henüz tamamlanmamış olan kısımlar varsa, üzerinde çalışılan alanlar açıklanmalıdır. </a:t>
            </a:r>
          </a:p>
          <a:p>
            <a:pPr marL="388620" lvl="1" indent="-194310" algn="just">
              <a:lnSpc>
                <a:spcPts val="2520"/>
              </a:lnSpc>
              <a:buFont typeface="Arial"/>
              <a:buChar char="•"/>
            </a:pPr>
            <a:r>
              <a:rPr lang="tr-TR" dirty="0">
                <a:solidFill>
                  <a:srgbClr val="FF0000"/>
                </a:solidFill>
                <a:latin typeface="Aileron Bold"/>
              </a:rPr>
              <a:t>Prototipin nasıl çalışacağı da bu kısımda belirtilebilir.</a:t>
            </a:r>
          </a:p>
          <a:p>
            <a:pPr marL="388620" lvl="1" indent="-194310">
              <a:lnSpc>
                <a:spcPts val="2520"/>
              </a:lnSpc>
              <a:buFont typeface="Arial"/>
              <a:buChar char="•"/>
            </a:pPr>
            <a:endParaRPr lang="tr-TR" dirty="0">
              <a:solidFill>
                <a:srgbClr val="FF0000"/>
              </a:solidFill>
              <a:latin typeface="Aileron Bold"/>
            </a:endParaRPr>
          </a:p>
          <a:p>
            <a:pPr marL="194310" lvl="1">
              <a:lnSpc>
                <a:spcPts val="2880"/>
              </a:lnSpc>
            </a:pPr>
            <a:endParaRPr lang="tr-TR" dirty="0">
              <a:solidFill>
                <a:srgbClr val="FF0000"/>
              </a:solidFill>
              <a:latin typeface="Aileron Bold"/>
            </a:endParaRPr>
          </a:p>
          <a:p>
            <a:pPr marL="194311" lvl="1">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p:txBody>
      </p:sp>
      <p:sp>
        <p:nvSpPr>
          <p:cNvPr id="92" name="TextBox 39">
            <a:extLst>
              <a:ext uri="{FF2B5EF4-FFF2-40B4-BE49-F238E27FC236}">
                <a16:creationId xmlns:a16="http://schemas.microsoft.com/office/drawing/2014/main" id="{5A56D5DE-FA9F-765C-BE13-50FE1AFCD9FD}"/>
              </a:ext>
            </a:extLst>
          </p:cNvPr>
          <p:cNvSpPr txBox="1"/>
          <p:nvPr/>
        </p:nvSpPr>
        <p:spPr>
          <a:xfrm>
            <a:off x="14875224" y="6556090"/>
            <a:ext cx="2740730" cy="539443"/>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MEVCUT ÇÖZÜMLERLE KARŞILAŞTIRMA</a:t>
            </a:r>
            <a:endParaRPr lang="en-US" dirty="0"/>
          </a:p>
        </p:txBody>
      </p:sp>
      <p:sp>
        <p:nvSpPr>
          <p:cNvPr id="93" name="TextBox 34">
            <a:extLst>
              <a:ext uri="{FF2B5EF4-FFF2-40B4-BE49-F238E27FC236}">
                <a16:creationId xmlns:a16="http://schemas.microsoft.com/office/drawing/2014/main" id="{08001555-B05C-7D49-09B1-222C45F5FEA4}"/>
              </a:ext>
            </a:extLst>
          </p:cNvPr>
          <p:cNvSpPr txBox="1"/>
          <p:nvPr/>
        </p:nvSpPr>
        <p:spPr>
          <a:xfrm>
            <a:off x="16683289" y="5330207"/>
            <a:ext cx="922351"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YÖNTEM</a:t>
            </a:r>
            <a:endParaRPr lang="en-US" dirty="0"/>
          </a:p>
        </p:txBody>
      </p:sp>
      <p:sp>
        <p:nvSpPr>
          <p:cNvPr id="94" name="TextBox 35">
            <a:extLst>
              <a:ext uri="{FF2B5EF4-FFF2-40B4-BE49-F238E27FC236}">
                <a16:creationId xmlns:a16="http://schemas.microsoft.com/office/drawing/2014/main" id="{D5A7B1AD-A98C-0BA4-0F59-93D8EB9B13D0}"/>
              </a:ext>
            </a:extLst>
          </p:cNvPr>
          <p:cNvSpPr txBox="1"/>
          <p:nvPr/>
        </p:nvSpPr>
        <p:spPr>
          <a:xfrm>
            <a:off x="15290180" y="3881113"/>
            <a:ext cx="2332079"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PROBLEMİN TANIMI VE ÖNEMİ</a:t>
            </a:r>
            <a:endParaRPr lang="en-US" dirty="0"/>
          </a:p>
        </p:txBody>
      </p:sp>
      <p:sp>
        <p:nvSpPr>
          <p:cNvPr id="95" name="TextBox 36">
            <a:extLst>
              <a:ext uri="{FF2B5EF4-FFF2-40B4-BE49-F238E27FC236}">
                <a16:creationId xmlns:a16="http://schemas.microsoft.com/office/drawing/2014/main" id="{22B7821F-8D74-EEB1-AB0E-8CEE84F00554}"/>
              </a:ext>
            </a:extLst>
          </p:cNvPr>
          <p:cNvSpPr txBox="1"/>
          <p:nvPr/>
        </p:nvSpPr>
        <p:spPr>
          <a:xfrm>
            <a:off x="15914926" y="4670804"/>
            <a:ext cx="1693724"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ÇÖZÜM ÖNERİSİ</a:t>
            </a:r>
            <a:endParaRPr lang="en-US" dirty="0"/>
          </a:p>
        </p:txBody>
      </p:sp>
      <p:sp>
        <p:nvSpPr>
          <p:cNvPr id="96" name="TextBox 38">
            <a:extLst>
              <a:ext uri="{FF2B5EF4-FFF2-40B4-BE49-F238E27FC236}">
                <a16:creationId xmlns:a16="http://schemas.microsoft.com/office/drawing/2014/main" id="{A8B4E708-640C-9300-EB39-5C24622D0E04}"/>
              </a:ext>
            </a:extLst>
          </p:cNvPr>
          <p:cNvSpPr txBox="1"/>
          <p:nvPr/>
        </p:nvSpPr>
        <p:spPr>
          <a:xfrm>
            <a:off x="15922231" y="8117798"/>
            <a:ext cx="1693723"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TAKVİMİ</a:t>
            </a:r>
            <a:endParaRPr lang="en-US" dirty="0"/>
          </a:p>
        </p:txBody>
      </p:sp>
      <p:sp>
        <p:nvSpPr>
          <p:cNvPr id="97" name="AutoShape 20">
            <a:extLst>
              <a:ext uri="{FF2B5EF4-FFF2-40B4-BE49-F238E27FC236}">
                <a16:creationId xmlns:a16="http://schemas.microsoft.com/office/drawing/2014/main" id="{A0519857-DC51-5ABE-A8A6-AD10A39B12DE}"/>
              </a:ext>
            </a:extLst>
          </p:cNvPr>
          <p:cNvSpPr/>
          <p:nvPr/>
        </p:nvSpPr>
        <p:spPr>
          <a:xfrm flipV="1">
            <a:off x="17862002" y="1644769"/>
            <a:ext cx="0" cy="7289230"/>
          </a:xfrm>
          <a:prstGeom prst="line">
            <a:avLst/>
          </a:prstGeom>
          <a:ln w="38100" cap="flat">
            <a:solidFill>
              <a:srgbClr val="344C54"/>
            </a:solidFill>
            <a:prstDash val="solid"/>
            <a:headEnd type="none" w="sm" len="sm"/>
            <a:tailEnd type="none" w="sm" len="sm"/>
          </a:ln>
        </p:spPr>
        <p:txBody>
          <a:bodyPr/>
          <a:lstStyle/>
          <a:p>
            <a:endParaRPr lang="tr-TR"/>
          </a:p>
        </p:txBody>
      </p:sp>
      <p:sp>
        <p:nvSpPr>
          <p:cNvPr id="98" name="TextBox 40">
            <a:extLst>
              <a:ext uri="{FF2B5EF4-FFF2-40B4-BE49-F238E27FC236}">
                <a16:creationId xmlns:a16="http://schemas.microsoft.com/office/drawing/2014/main" id="{70086C58-671D-1B0F-2CFC-9E44A228C570}"/>
              </a:ext>
            </a:extLst>
          </p:cNvPr>
          <p:cNvSpPr txBox="1"/>
          <p:nvPr/>
        </p:nvSpPr>
        <p:spPr>
          <a:xfrm>
            <a:off x="15099049" y="2568371"/>
            <a:ext cx="2516905"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ÖZETİ, KAPSAMI ve HEDEF KİTLE</a:t>
            </a:r>
            <a:endParaRPr lang="en-US" dirty="0"/>
          </a:p>
        </p:txBody>
      </p:sp>
      <p:sp>
        <p:nvSpPr>
          <p:cNvPr id="99" name="TextBox 42">
            <a:extLst>
              <a:ext uri="{FF2B5EF4-FFF2-40B4-BE49-F238E27FC236}">
                <a16:creationId xmlns:a16="http://schemas.microsoft.com/office/drawing/2014/main" id="{0B63407A-86DC-3050-80D1-90AF577743AA}"/>
              </a:ext>
            </a:extLst>
          </p:cNvPr>
          <p:cNvSpPr txBox="1"/>
          <p:nvPr/>
        </p:nvSpPr>
        <p:spPr>
          <a:xfrm>
            <a:off x="15435222" y="2092314"/>
            <a:ext cx="2174945"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en-US" dirty="0"/>
              <a:t>T</a:t>
            </a:r>
            <a:r>
              <a:rPr lang="tr-TR" dirty="0"/>
              <a:t>AKIM TANITIM</a:t>
            </a:r>
            <a:endParaRPr lang="en-US" dirty="0"/>
          </a:p>
        </p:txBody>
      </p:sp>
      <p:sp>
        <p:nvSpPr>
          <p:cNvPr id="100" name="Freeform 22">
            <a:extLst>
              <a:ext uri="{FF2B5EF4-FFF2-40B4-BE49-F238E27FC236}">
                <a16:creationId xmlns:a16="http://schemas.microsoft.com/office/drawing/2014/main" id="{629EA2AF-B9D5-0438-EE02-569DCB9F45C7}"/>
              </a:ext>
            </a:extLst>
          </p:cNvPr>
          <p:cNvSpPr/>
          <p:nvPr/>
        </p:nvSpPr>
        <p:spPr>
          <a:xfrm>
            <a:off x="17791146" y="2839736"/>
            <a:ext cx="201784" cy="214667"/>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01" name="TextBox 34">
            <a:extLst>
              <a:ext uri="{FF2B5EF4-FFF2-40B4-BE49-F238E27FC236}">
                <a16:creationId xmlns:a16="http://schemas.microsoft.com/office/drawing/2014/main" id="{10542C16-1500-FD3D-1F29-EA9BA417BF27}"/>
              </a:ext>
            </a:extLst>
          </p:cNvPr>
          <p:cNvSpPr txBox="1"/>
          <p:nvPr/>
        </p:nvSpPr>
        <p:spPr>
          <a:xfrm>
            <a:off x="15103346" y="3206954"/>
            <a:ext cx="2505303"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AMACI VE TOPLUMSAL FAYDASI</a:t>
            </a:r>
            <a:endParaRPr lang="en-US" dirty="0"/>
          </a:p>
        </p:txBody>
      </p:sp>
      <p:sp>
        <p:nvSpPr>
          <p:cNvPr id="102" name="TextBox 39">
            <a:extLst>
              <a:ext uri="{FF2B5EF4-FFF2-40B4-BE49-F238E27FC236}">
                <a16:creationId xmlns:a16="http://schemas.microsoft.com/office/drawing/2014/main" id="{8F55FBAB-740A-4C0A-AF28-46F161C2539E}"/>
              </a:ext>
            </a:extLst>
          </p:cNvPr>
          <p:cNvSpPr txBox="1"/>
          <p:nvPr/>
        </p:nvSpPr>
        <p:spPr>
          <a:xfrm>
            <a:off x="15204106" y="5878404"/>
            <a:ext cx="2413247" cy="53719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defPPr>
              <a:defRPr lang="en-US"/>
            </a:defPPr>
            <a:lvl1pPr algn="r">
              <a:lnSpc>
                <a:spcPts val="2232"/>
              </a:lnSpc>
              <a:defRPr sz="1590">
                <a:solidFill>
                  <a:srgbClr val="1C4C61"/>
                </a:solidFill>
                <a:latin typeface="Aileron Bold"/>
              </a:defRPr>
            </a:lvl1pPr>
          </a:lstStyle>
          <a:p>
            <a:r>
              <a:rPr lang="tr-TR" dirty="0"/>
              <a:t>PROTOTİP / TASARIM VE İŞLEYİŞİ</a:t>
            </a:r>
            <a:endParaRPr lang="en-US" dirty="0"/>
          </a:p>
        </p:txBody>
      </p:sp>
      <p:sp>
        <p:nvSpPr>
          <p:cNvPr id="103" name="Freeform 96">
            <a:extLst>
              <a:ext uri="{FF2B5EF4-FFF2-40B4-BE49-F238E27FC236}">
                <a16:creationId xmlns:a16="http://schemas.microsoft.com/office/drawing/2014/main" id="{8D748E13-67A1-0153-A6A1-4171C4862A5D}"/>
              </a:ext>
            </a:extLst>
          </p:cNvPr>
          <p:cNvSpPr/>
          <p:nvPr/>
        </p:nvSpPr>
        <p:spPr>
          <a:xfrm>
            <a:off x="17389288"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04" name="Freeform 97">
            <a:extLst>
              <a:ext uri="{FF2B5EF4-FFF2-40B4-BE49-F238E27FC236}">
                <a16:creationId xmlns:a16="http://schemas.microsoft.com/office/drawing/2014/main" id="{4A8F6670-B5AB-9666-4964-A748C6F62391}"/>
              </a:ext>
            </a:extLst>
          </p:cNvPr>
          <p:cNvSpPr/>
          <p:nvPr/>
        </p:nvSpPr>
        <p:spPr>
          <a:xfrm>
            <a:off x="17718785"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05" name="Freeform 96">
            <a:extLst>
              <a:ext uri="{FF2B5EF4-FFF2-40B4-BE49-F238E27FC236}">
                <a16:creationId xmlns:a16="http://schemas.microsoft.com/office/drawing/2014/main" id="{87260730-B41D-7F1A-8403-8605556CF96C}"/>
              </a:ext>
            </a:extLst>
          </p:cNvPr>
          <p:cNvSpPr/>
          <p:nvPr/>
        </p:nvSpPr>
        <p:spPr>
          <a:xfrm>
            <a:off x="17389287" y="8723804"/>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06" name="Freeform 97">
            <a:extLst>
              <a:ext uri="{FF2B5EF4-FFF2-40B4-BE49-F238E27FC236}">
                <a16:creationId xmlns:a16="http://schemas.microsoft.com/office/drawing/2014/main" id="{4E61B8FF-8643-769F-249F-E7ED2735491E}"/>
              </a:ext>
            </a:extLst>
          </p:cNvPr>
          <p:cNvSpPr/>
          <p:nvPr/>
        </p:nvSpPr>
        <p:spPr>
          <a:xfrm>
            <a:off x="17711120" y="8761545"/>
            <a:ext cx="295907" cy="344908"/>
          </a:xfrm>
          <a:prstGeom prst="ellipse">
            <a:avLst/>
          </a:prstGeom>
          <a:solidFill>
            <a:srgbClr val="F3A025"/>
          </a:solidFill>
        </p:spPr>
        <p:txBody>
          <a:bodyPr/>
          <a:lstStyle/>
          <a:p>
            <a:endParaRPr lang="tr-TR"/>
          </a:p>
        </p:txBody>
      </p:sp>
      <p:grpSp>
        <p:nvGrpSpPr>
          <p:cNvPr id="107" name="Grup 106">
            <a:extLst>
              <a:ext uri="{FF2B5EF4-FFF2-40B4-BE49-F238E27FC236}">
                <a16:creationId xmlns:a16="http://schemas.microsoft.com/office/drawing/2014/main" id="{6FB647CE-DC5A-1F15-7029-4F48EB14657A}"/>
              </a:ext>
            </a:extLst>
          </p:cNvPr>
          <p:cNvGrpSpPr/>
          <p:nvPr/>
        </p:nvGrpSpPr>
        <p:grpSpPr>
          <a:xfrm>
            <a:off x="17670306" y="2018618"/>
            <a:ext cx="371449" cy="6437321"/>
            <a:chOff x="17566046" y="2111764"/>
            <a:chExt cx="394849" cy="6842841"/>
          </a:xfrm>
        </p:grpSpPr>
        <p:sp>
          <p:nvSpPr>
            <p:cNvPr id="108" name="Freeform 21">
              <a:extLst>
                <a:ext uri="{FF2B5EF4-FFF2-40B4-BE49-F238E27FC236}">
                  <a16:creationId xmlns:a16="http://schemas.microsoft.com/office/drawing/2014/main" id="{C5E3A69F-BC4F-1AAC-A706-C355B7123118}"/>
                </a:ext>
              </a:extLst>
            </p:cNvPr>
            <p:cNvSpPr/>
            <p:nvPr/>
          </p:nvSpPr>
          <p:spPr>
            <a:xfrm>
              <a:off x="17577504" y="211176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09" name="Freeform 21">
              <a:extLst>
                <a:ext uri="{FF2B5EF4-FFF2-40B4-BE49-F238E27FC236}">
                  <a16:creationId xmlns:a16="http://schemas.microsoft.com/office/drawing/2014/main" id="{8E5337EC-81C3-DDEE-82BA-1BB028664C4C}"/>
                </a:ext>
              </a:extLst>
            </p:cNvPr>
            <p:cNvSpPr/>
            <p:nvPr/>
          </p:nvSpPr>
          <p:spPr>
            <a:xfrm>
              <a:off x="17577504" y="276608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10" name="Freeform 21">
              <a:extLst>
                <a:ext uri="{FF2B5EF4-FFF2-40B4-BE49-F238E27FC236}">
                  <a16:creationId xmlns:a16="http://schemas.microsoft.com/office/drawing/2014/main" id="{0999EB99-CBB6-50E7-CB31-AE9E987D21D2}"/>
                </a:ext>
              </a:extLst>
            </p:cNvPr>
            <p:cNvSpPr/>
            <p:nvPr/>
          </p:nvSpPr>
          <p:spPr>
            <a:xfrm>
              <a:off x="17577503" y="3443597"/>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11" name="Freeform 21">
              <a:extLst>
                <a:ext uri="{FF2B5EF4-FFF2-40B4-BE49-F238E27FC236}">
                  <a16:creationId xmlns:a16="http://schemas.microsoft.com/office/drawing/2014/main" id="{10488627-CF68-CDB3-BBFA-86976B7AE1C4}"/>
                </a:ext>
              </a:extLst>
            </p:cNvPr>
            <p:cNvSpPr/>
            <p:nvPr/>
          </p:nvSpPr>
          <p:spPr>
            <a:xfrm>
              <a:off x="17577502" y="416210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12" name="Freeform 21">
              <a:extLst>
                <a:ext uri="{FF2B5EF4-FFF2-40B4-BE49-F238E27FC236}">
                  <a16:creationId xmlns:a16="http://schemas.microsoft.com/office/drawing/2014/main" id="{97463DD0-558B-12D1-9D7A-89BC6D93BE27}"/>
                </a:ext>
              </a:extLst>
            </p:cNvPr>
            <p:cNvSpPr/>
            <p:nvPr/>
          </p:nvSpPr>
          <p:spPr>
            <a:xfrm>
              <a:off x="17577501" y="4857339"/>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13" name="Freeform 21">
              <a:extLst>
                <a:ext uri="{FF2B5EF4-FFF2-40B4-BE49-F238E27FC236}">
                  <a16:creationId xmlns:a16="http://schemas.microsoft.com/office/drawing/2014/main" id="{9AF9FBB5-0316-C9C2-DD3D-DEC6B186FDED}"/>
                </a:ext>
              </a:extLst>
            </p:cNvPr>
            <p:cNvSpPr/>
            <p:nvPr/>
          </p:nvSpPr>
          <p:spPr>
            <a:xfrm>
              <a:off x="17577500" y="555606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14" name="Freeform 21">
              <a:extLst>
                <a:ext uri="{FF2B5EF4-FFF2-40B4-BE49-F238E27FC236}">
                  <a16:creationId xmlns:a16="http://schemas.microsoft.com/office/drawing/2014/main" id="{3881B1F6-9B3D-7ED6-FD84-23DD3F5943BA}"/>
                </a:ext>
              </a:extLst>
            </p:cNvPr>
            <p:cNvSpPr/>
            <p:nvPr/>
          </p:nvSpPr>
          <p:spPr>
            <a:xfrm>
              <a:off x="17577500" y="6278633"/>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15" name="Freeform 21">
              <a:extLst>
                <a:ext uri="{FF2B5EF4-FFF2-40B4-BE49-F238E27FC236}">
                  <a16:creationId xmlns:a16="http://schemas.microsoft.com/office/drawing/2014/main" id="{F642D950-00F1-EBFB-43C1-1AF378385FB2}"/>
                </a:ext>
              </a:extLst>
            </p:cNvPr>
            <p:cNvSpPr/>
            <p:nvPr/>
          </p:nvSpPr>
          <p:spPr>
            <a:xfrm>
              <a:off x="17575010" y="700119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16" name="Freeform 21">
              <a:extLst>
                <a:ext uri="{FF2B5EF4-FFF2-40B4-BE49-F238E27FC236}">
                  <a16:creationId xmlns:a16="http://schemas.microsoft.com/office/drawing/2014/main" id="{8C19E66E-6336-6BBF-ED49-DECCBB735C1F}"/>
                </a:ext>
              </a:extLst>
            </p:cNvPr>
            <p:cNvSpPr/>
            <p:nvPr/>
          </p:nvSpPr>
          <p:spPr>
            <a:xfrm>
              <a:off x="17577499" y="775982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17" name="Freeform 21">
              <a:extLst>
                <a:ext uri="{FF2B5EF4-FFF2-40B4-BE49-F238E27FC236}">
                  <a16:creationId xmlns:a16="http://schemas.microsoft.com/office/drawing/2014/main" id="{A3F78E65-7289-2AB2-82A2-AD4C7F211FF3}"/>
                </a:ext>
              </a:extLst>
            </p:cNvPr>
            <p:cNvSpPr/>
            <p:nvPr/>
          </p:nvSpPr>
          <p:spPr>
            <a:xfrm>
              <a:off x="17566046" y="8520841"/>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grpSp>
      <p:sp>
        <p:nvSpPr>
          <p:cNvPr id="118" name="TextBox 39">
            <a:extLst>
              <a:ext uri="{FF2B5EF4-FFF2-40B4-BE49-F238E27FC236}">
                <a16:creationId xmlns:a16="http://schemas.microsoft.com/office/drawing/2014/main" id="{0B32C3FB-8505-4C7B-15AC-5C8238423529}"/>
              </a:ext>
            </a:extLst>
          </p:cNvPr>
          <p:cNvSpPr txBox="1"/>
          <p:nvPr/>
        </p:nvSpPr>
        <p:spPr>
          <a:xfrm>
            <a:off x="14875224" y="7267389"/>
            <a:ext cx="2740730"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TİCARİLEŞME POTANSİYELİ VE SÜRDÜRÜLEBİLİRLİK</a:t>
            </a:r>
            <a:endParaRPr lang="en-US" dirty="0"/>
          </a:p>
        </p:txBody>
      </p:sp>
      <p:sp>
        <p:nvSpPr>
          <p:cNvPr id="2" name="TextBox 114">
            <a:extLst>
              <a:ext uri="{FF2B5EF4-FFF2-40B4-BE49-F238E27FC236}">
                <a16:creationId xmlns:a16="http://schemas.microsoft.com/office/drawing/2014/main" id="{3149A2FA-FFB6-913F-8FEF-3C14D0B2E032}"/>
              </a:ext>
            </a:extLst>
          </p:cNvPr>
          <p:cNvSpPr txBox="1">
            <a:spLocks/>
          </p:cNvSpPr>
          <p:nvPr/>
        </p:nvSpPr>
        <p:spPr>
          <a:xfrm>
            <a:off x="2884469" y="9504815"/>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a:t>
            </a:r>
            <a:r>
              <a:rPr lang="tr-TR" dirty="0">
                <a:solidFill>
                  <a:srgbClr val="1A426A"/>
                </a:solidFill>
                <a:latin typeface="Active Heart"/>
              </a:rPr>
              <a:t>TARIM TEKNOLOJİLERİ</a:t>
            </a:r>
            <a:r>
              <a:rPr lang="en-US" dirty="0">
                <a:solidFill>
                  <a:srgbClr val="1A426A"/>
                </a:solidFill>
                <a:latin typeface="Active Heart"/>
              </a:rPr>
              <a:t>YARIŞMASI </a:t>
            </a:r>
            <a:endParaRPr lang="tr-TR" dirty="0">
              <a:solidFill>
                <a:srgbClr val="1A426A"/>
              </a:solidFill>
              <a:latin typeface="Active Heart"/>
            </a:endParaRPr>
          </a:p>
          <a:p>
            <a:pPr algn="ctr">
              <a:lnSpc>
                <a:spcPts val="2000"/>
              </a:lnSpc>
              <a:spcBef>
                <a:spcPct val="0"/>
              </a:spcBef>
            </a:pPr>
            <a:r>
              <a:rPr lang="en-US" dirty="0">
                <a:solidFill>
                  <a:srgbClr val="1A426A"/>
                </a:solidFill>
                <a:latin typeface="Active Heart"/>
              </a:rPr>
              <a:t>PROJE SUNUMU</a:t>
            </a:r>
          </a:p>
        </p:txBody>
      </p:sp>
    </p:spTree>
    <p:extLst>
      <p:ext uri="{BB962C8B-B14F-4D97-AF65-F5344CB8AC3E}">
        <p14:creationId xmlns:p14="http://schemas.microsoft.com/office/powerpoint/2010/main" val="2049262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9917E-E2B5-6444-9A8A-998310BEF9F4}"/>
            </a:ext>
          </a:extLst>
        </p:cNvPr>
        <p:cNvGrpSpPr/>
        <p:nvPr/>
      </p:nvGrpSpPr>
      <p:grpSpPr>
        <a:xfrm>
          <a:off x="0" y="0"/>
          <a:ext cx="0" cy="0"/>
          <a:chOff x="0" y="0"/>
          <a:chExt cx="0" cy="0"/>
        </a:xfrm>
      </p:grpSpPr>
      <p:sp>
        <p:nvSpPr>
          <p:cNvPr id="48" name="Metin kutusu 47">
            <a:extLst>
              <a:ext uri="{FF2B5EF4-FFF2-40B4-BE49-F238E27FC236}">
                <a16:creationId xmlns:a16="http://schemas.microsoft.com/office/drawing/2014/main" id="{DC6E3004-700F-F1BF-B458-62194549D879}"/>
              </a:ext>
            </a:extLst>
          </p:cNvPr>
          <p:cNvSpPr txBox="1"/>
          <p:nvPr/>
        </p:nvSpPr>
        <p:spPr>
          <a:xfrm>
            <a:off x="1295400" y="2022762"/>
            <a:ext cx="13100511" cy="2630079"/>
          </a:xfrm>
          <a:prstGeom prst="rect">
            <a:avLst/>
          </a:prstGeom>
          <a:noFill/>
        </p:spPr>
        <p:txBody>
          <a:bodyPr wrap="square">
            <a:spAutoFit/>
          </a:bodyPr>
          <a:lstStyle>
            <a:defPPr>
              <a:defRPr lang="en-US"/>
            </a:defPPr>
            <a:lvl2pPr marL="388620" lvl="1" indent="-194310">
              <a:lnSpc>
                <a:spcPts val="2880"/>
              </a:lnSpc>
              <a:buFont typeface="Arial"/>
              <a:buChar char="•"/>
              <a:defRPr>
                <a:solidFill>
                  <a:srgbClr val="FF0000"/>
                </a:solidFill>
                <a:latin typeface="Aileron Bold"/>
              </a:defRPr>
            </a:lvl2pPr>
          </a:lstStyle>
          <a:p>
            <a:pPr lvl="1"/>
            <a:r>
              <a:rPr lang="tr-TR" dirty="0"/>
              <a:t>Mevcut çözümlerle karşılaştırma </a:t>
            </a:r>
            <a:r>
              <a:rPr lang="en-US" dirty="0" err="1"/>
              <a:t>en</a:t>
            </a:r>
            <a:r>
              <a:rPr lang="en-US" dirty="0"/>
              <a:t> </a:t>
            </a:r>
            <a:r>
              <a:rPr lang="en-US" dirty="0" err="1"/>
              <a:t>fazla</a:t>
            </a:r>
            <a:r>
              <a:rPr lang="en-US" dirty="0"/>
              <a:t> </a:t>
            </a:r>
            <a:r>
              <a:rPr lang="tr-TR" dirty="0"/>
              <a:t>bir  (1</a:t>
            </a:r>
            <a:r>
              <a:rPr lang="en-US" dirty="0"/>
              <a:t>) </a:t>
            </a:r>
            <a:r>
              <a:rPr lang="en-US" dirty="0" err="1"/>
              <a:t>sayfad</a:t>
            </a:r>
            <a:r>
              <a:rPr lang="tr-TR" dirty="0"/>
              <a:t>a açıklanmalıdır</a:t>
            </a:r>
            <a:r>
              <a:rPr lang="en-US" dirty="0"/>
              <a:t>. </a:t>
            </a:r>
            <a:r>
              <a:rPr lang="en-US" dirty="0" err="1"/>
              <a:t>Sayfa</a:t>
            </a:r>
            <a:r>
              <a:rPr lang="en-US" dirty="0"/>
              <a:t> </a:t>
            </a:r>
            <a:r>
              <a:rPr lang="en-US" dirty="0" err="1"/>
              <a:t>sınırı</a:t>
            </a:r>
            <a:r>
              <a:rPr lang="en-US" dirty="0"/>
              <a:t> </a:t>
            </a:r>
            <a:r>
              <a:rPr lang="en-US" dirty="0" err="1"/>
              <a:t>aşılmamalıdır</a:t>
            </a:r>
            <a:r>
              <a:rPr lang="en-US" dirty="0"/>
              <a:t>. </a:t>
            </a:r>
            <a:endParaRPr lang="tr-TR" dirty="0"/>
          </a:p>
          <a:p>
            <a:pPr lvl="1"/>
            <a:r>
              <a:rPr lang="en-US" dirty="0" err="1"/>
              <a:t>Projenizin</a:t>
            </a:r>
            <a:r>
              <a:rPr lang="en-US" dirty="0"/>
              <a:t> milli </a:t>
            </a:r>
            <a:r>
              <a:rPr lang="en-US" dirty="0" err="1"/>
              <a:t>ve</a:t>
            </a:r>
            <a:r>
              <a:rPr lang="en-US" dirty="0"/>
              <a:t> </a:t>
            </a:r>
            <a:r>
              <a:rPr lang="en-US" dirty="0" err="1"/>
              <a:t>yerli</a:t>
            </a:r>
            <a:r>
              <a:rPr lang="en-US" dirty="0"/>
              <a:t> </a:t>
            </a:r>
            <a:r>
              <a:rPr lang="en-US" dirty="0" err="1"/>
              <a:t>özelliklerini</a:t>
            </a:r>
            <a:r>
              <a:rPr lang="en-US" dirty="0"/>
              <a:t> </a:t>
            </a:r>
            <a:r>
              <a:rPr lang="en-US" dirty="0" err="1"/>
              <a:t>ortaya</a:t>
            </a:r>
            <a:r>
              <a:rPr lang="en-US" dirty="0"/>
              <a:t> </a:t>
            </a:r>
            <a:r>
              <a:rPr lang="en-US" dirty="0" err="1"/>
              <a:t>çıkaran</a:t>
            </a:r>
            <a:r>
              <a:rPr lang="en-US" dirty="0"/>
              <a:t> </a:t>
            </a:r>
            <a:r>
              <a:rPr lang="en-US" dirty="0" err="1"/>
              <a:t>unsurlar</a:t>
            </a:r>
            <a:r>
              <a:rPr lang="en-US" dirty="0"/>
              <a:t> </a:t>
            </a:r>
            <a:r>
              <a:rPr lang="en-US" dirty="0" err="1"/>
              <a:t>nelerdir</a:t>
            </a:r>
            <a:r>
              <a:rPr lang="en-US" dirty="0"/>
              <a:t>?</a:t>
            </a:r>
          </a:p>
          <a:p>
            <a:pPr lvl="1"/>
            <a:r>
              <a:rPr lang="en-US" dirty="0" err="1"/>
              <a:t>Projeyi</a:t>
            </a:r>
            <a:r>
              <a:rPr lang="en-US" dirty="0"/>
              <a:t>, </a:t>
            </a:r>
            <a:r>
              <a:rPr lang="en-US" dirty="0" err="1"/>
              <a:t>piyasada</a:t>
            </a:r>
            <a:r>
              <a:rPr lang="en-US" dirty="0"/>
              <a:t> </a:t>
            </a:r>
            <a:r>
              <a:rPr lang="en-US" dirty="0" err="1"/>
              <a:t>bulunan</a:t>
            </a:r>
            <a:r>
              <a:rPr lang="en-US" dirty="0"/>
              <a:t> </a:t>
            </a:r>
            <a:r>
              <a:rPr lang="en-US" dirty="0" err="1"/>
              <a:t>benzer</a:t>
            </a:r>
            <a:r>
              <a:rPr lang="en-US" dirty="0"/>
              <a:t> </a:t>
            </a:r>
            <a:r>
              <a:rPr lang="en-US" dirty="0" err="1"/>
              <a:t>çözümlerden</a:t>
            </a:r>
            <a:r>
              <a:rPr lang="en-US" dirty="0"/>
              <a:t> </a:t>
            </a:r>
            <a:r>
              <a:rPr lang="en-US" dirty="0" err="1"/>
              <a:t>ayıran</a:t>
            </a:r>
            <a:r>
              <a:rPr lang="en-US" dirty="0"/>
              <a:t> </a:t>
            </a:r>
            <a:r>
              <a:rPr lang="en-US" dirty="0" err="1"/>
              <a:t>özellik</a:t>
            </a:r>
            <a:r>
              <a:rPr lang="en-US" dirty="0"/>
              <a:t>/</a:t>
            </a:r>
            <a:r>
              <a:rPr lang="en-US" dirty="0" err="1"/>
              <a:t>özelliklerin</a:t>
            </a:r>
            <a:r>
              <a:rPr lang="en-US" dirty="0"/>
              <a:t> </a:t>
            </a:r>
            <a:r>
              <a:rPr lang="en-US" dirty="0" err="1"/>
              <a:t>neler</a:t>
            </a:r>
            <a:r>
              <a:rPr lang="en-US" dirty="0"/>
              <a:t> </a:t>
            </a:r>
            <a:r>
              <a:rPr lang="en-US" dirty="0" err="1"/>
              <a:t>olduğu</a:t>
            </a:r>
            <a:r>
              <a:rPr lang="en-US" dirty="0"/>
              <a:t> </a:t>
            </a:r>
            <a:r>
              <a:rPr lang="en-US" dirty="0" err="1"/>
              <a:t>açıklanır</a:t>
            </a:r>
            <a:r>
              <a:rPr lang="en-US" dirty="0"/>
              <a:t>. </a:t>
            </a:r>
          </a:p>
          <a:p>
            <a:pPr lvl="1"/>
            <a:r>
              <a:rPr lang="tr-TR" dirty="0"/>
              <a:t>M</a:t>
            </a:r>
            <a:r>
              <a:rPr lang="en-US" dirty="0" err="1"/>
              <a:t>evcut</a:t>
            </a:r>
            <a:r>
              <a:rPr lang="en-US" dirty="0"/>
              <a:t> </a:t>
            </a:r>
            <a:r>
              <a:rPr lang="en-US" dirty="0" err="1"/>
              <a:t>çözümlerden</a:t>
            </a:r>
            <a:r>
              <a:rPr lang="en-US" dirty="0"/>
              <a:t> </a:t>
            </a:r>
            <a:r>
              <a:rPr lang="en-US" dirty="0" err="1"/>
              <a:t>farkı</a:t>
            </a:r>
            <a:r>
              <a:rPr lang="en-US" dirty="0"/>
              <a:t> </a:t>
            </a:r>
            <a:r>
              <a:rPr lang="en-US" dirty="0" err="1"/>
              <a:t>bu</a:t>
            </a:r>
            <a:r>
              <a:rPr lang="en-US" dirty="0"/>
              <a:t> </a:t>
            </a:r>
            <a:r>
              <a:rPr lang="en-US" dirty="0" err="1"/>
              <a:t>başlık</a:t>
            </a:r>
            <a:r>
              <a:rPr lang="en-US" dirty="0"/>
              <a:t> </a:t>
            </a:r>
            <a:r>
              <a:rPr lang="en-US" dirty="0" err="1"/>
              <a:t>kapsamında</a:t>
            </a:r>
            <a:r>
              <a:rPr lang="en-US" dirty="0"/>
              <a:t> </a:t>
            </a:r>
            <a:r>
              <a:rPr lang="en-US" dirty="0" err="1"/>
              <a:t>detaylandırılarak</a:t>
            </a:r>
            <a:r>
              <a:rPr lang="en-US" dirty="0"/>
              <a:t> </a:t>
            </a:r>
            <a:r>
              <a:rPr lang="en-US" dirty="0" err="1"/>
              <a:t>ve</a:t>
            </a:r>
            <a:r>
              <a:rPr lang="en-US" dirty="0"/>
              <a:t> </a:t>
            </a:r>
            <a:r>
              <a:rPr lang="en-US" dirty="0" err="1"/>
              <a:t>karşılaştırma</a:t>
            </a:r>
            <a:r>
              <a:rPr lang="en-US" dirty="0"/>
              <a:t> </a:t>
            </a:r>
            <a:r>
              <a:rPr lang="en-US" dirty="0" err="1"/>
              <a:t>yapılarak</a:t>
            </a:r>
            <a:r>
              <a:rPr lang="en-US" dirty="0"/>
              <a:t> </a:t>
            </a:r>
            <a:r>
              <a:rPr lang="en-US" dirty="0" err="1"/>
              <a:t>anlatılmalıdır</a:t>
            </a:r>
            <a:r>
              <a:rPr lang="en-US" dirty="0"/>
              <a:t>.</a:t>
            </a:r>
            <a:endParaRPr lang="tr-TR" dirty="0"/>
          </a:p>
          <a:p>
            <a:pPr lvl="1"/>
            <a:r>
              <a:rPr lang="tr-TR" dirty="0"/>
              <a:t>Bu başlık kapsamında takımın, geliştirdiği çözümün özgün yönlerini ve mevcut yaklaşımlardan ayrışan özelliklerini açıklaması beklenmektedir.</a:t>
            </a:r>
          </a:p>
          <a:p>
            <a:pPr lvl="1"/>
            <a:endParaRPr lang="en-US" dirty="0"/>
          </a:p>
          <a:p>
            <a:pPr lvl="1"/>
            <a:r>
              <a:rPr lang="tr-TR" dirty="0"/>
              <a:t>Sayfalarda görsellerden (tablolar, akış diyagramı , infografik vb.) yararlanabilirsiniz.</a:t>
            </a:r>
            <a:endParaRPr lang="en-US" dirty="0"/>
          </a:p>
        </p:txBody>
      </p:sp>
      <p:sp>
        <p:nvSpPr>
          <p:cNvPr id="24" name="TextBox 8">
            <a:extLst>
              <a:ext uri="{FF2B5EF4-FFF2-40B4-BE49-F238E27FC236}">
                <a16:creationId xmlns:a16="http://schemas.microsoft.com/office/drawing/2014/main" id="{537EAD31-E8DF-949A-01E2-E0CD8835DBAB}"/>
              </a:ext>
            </a:extLst>
          </p:cNvPr>
          <p:cNvSpPr txBox="1">
            <a:spLocks/>
          </p:cNvSpPr>
          <p:nvPr/>
        </p:nvSpPr>
        <p:spPr>
          <a:xfrm>
            <a:off x="2852777" y="309855"/>
            <a:ext cx="12582445" cy="820738"/>
          </a:xfrm>
          <a:prstGeom prst="rect">
            <a:avLst/>
          </a:prstGeom>
        </p:spPr>
        <p:txBody>
          <a:bodyPr wrap="square" lIns="0" tIns="0" rIns="0" bIns="0" rtlCol="0" anchor="t">
            <a:spAutoFit/>
          </a:bodyPr>
          <a:lstStyle/>
          <a:p>
            <a:pPr algn="ctr">
              <a:lnSpc>
                <a:spcPts val="6399"/>
              </a:lnSpc>
              <a:spcBef>
                <a:spcPct val="0"/>
              </a:spcBef>
            </a:pPr>
            <a:r>
              <a:rPr lang="tr-TR" sz="6000" dirty="0">
                <a:solidFill>
                  <a:srgbClr val="1A426A"/>
                </a:solidFill>
                <a:latin typeface="Active Heart"/>
              </a:rPr>
              <a:t>MEVCUT ÇÖZÜMLERLE KARŞILAŞTIRMA</a:t>
            </a:r>
            <a:endParaRPr lang="en-US" sz="6000" dirty="0">
              <a:solidFill>
                <a:srgbClr val="1A426A"/>
              </a:solidFill>
              <a:latin typeface="Active Heart"/>
            </a:endParaRPr>
          </a:p>
        </p:txBody>
      </p:sp>
      <p:sp>
        <p:nvSpPr>
          <p:cNvPr id="115" name="TextBox 39">
            <a:extLst>
              <a:ext uri="{FF2B5EF4-FFF2-40B4-BE49-F238E27FC236}">
                <a16:creationId xmlns:a16="http://schemas.microsoft.com/office/drawing/2014/main" id="{308A2002-7FAA-03BE-DF54-0077EC1D0DB9}"/>
              </a:ext>
            </a:extLst>
          </p:cNvPr>
          <p:cNvSpPr txBox="1"/>
          <p:nvPr/>
        </p:nvSpPr>
        <p:spPr>
          <a:xfrm>
            <a:off x="14875224" y="6556090"/>
            <a:ext cx="2740730" cy="54059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defPPr>
              <a:defRPr lang="en-US"/>
            </a:defPPr>
            <a:lvl1pPr algn="r">
              <a:lnSpc>
                <a:spcPts val="2232"/>
              </a:lnSpc>
              <a:defRPr sz="1590">
                <a:solidFill>
                  <a:srgbClr val="1C4C61"/>
                </a:solidFill>
                <a:latin typeface="Aileron Bold"/>
              </a:defRPr>
            </a:lvl1pPr>
          </a:lstStyle>
          <a:p>
            <a:r>
              <a:rPr lang="tr-TR" dirty="0"/>
              <a:t>MEVCUT ÇÖZÜMLERLE KARŞILAŞTIRMA</a:t>
            </a:r>
            <a:endParaRPr lang="en-US" dirty="0"/>
          </a:p>
        </p:txBody>
      </p:sp>
      <p:sp>
        <p:nvSpPr>
          <p:cNvPr id="116" name="TextBox 34">
            <a:extLst>
              <a:ext uri="{FF2B5EF4-FFF2-40B4-BE49-F238E27FC236}">
                <a16:creationId xmlns:a16="http://schemas.microsoft.com/office/drawing/2014/main" id="{5D3FAFDE-B355-D52A-93D4-1AA33512E099}"/>
              </a:ext>
            </a:extLst>
          </p:cNvPr>
          <p:cNvSpPr txBox="1"/>
          <p:nvPr/>
        </p:nvSpPr>
        <p:spPr>
          <a:xfrm>
            <a:off x="16683289" y="5330207"/>
            <a:ext cx="922351"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YÖNTEM</a:t>
            </a:r>
            <a:endParaRPr lang="en-US" dirty="0"/>
          </a:p>
        </p:txBody>
      </p:sp>
      <p:sp>
        <p:nvSpPr>
          <p:cNvPr id="117" name="TextBox 35">
            <a:extLst>
              <a:ext uri="{FF2B5EF4-FFF2-40B4-BE49-F238E27FC236}">
                <a16:creationId xmlns:a16="http://schemas.microsoft.com/office/drawing/2014/main" id="{E92C18CD-2DA5-39C1-DDD0-439DBA299AC8}"/>
              </a:ext>
            </a:extLst>
          </p:cNvPr>
          <p:cNvSpPr txBox="1"/>
          <p:nvPr/>
        </p:nvSpPr>
        <p:spPr>
          <a:xfrm>
            <a:off x="15290180" y="3881113"/>
            <a:ext cx="2332079"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PROBLEMİN TANIMI VE ÖNEMİ</a:t>
            </a:r>
            <a:endParaRPr lang="en-US" dirty="0"/>
          </a:p>
        </p:txBody>
      </p:sp>
      <p:sp>
        <p:nvSpPr>
          <p:cNvPr id="118" name="TextBox 36">
            <a:extLst>
              <a:ext uri="{FF2B5EF4-FFF2-40B4-BE49-F238E27FC236}">
                <a16:creationId xmlns:a16="http://schemas.microsoft.com/office/drawing/2014/main" id="{E84A0B9B-C6BD-AFC5-98C7-D39B9E4F0AF8}"/>
              </a:ext>
            </a:extLst>
          </p:cNvPr>
          <p:cNvSpPr txBox="1"/>
          <p:nvPr/>
        </p:nvSpPr>
        <p:spPr>
          <a:xfrm>
            <a:off x="15914926" y="4670804"/>
            <a:ext cx="1693724"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ÇÖZÜM ÖNERİSİ</a:t>
            </a:r>
            <a:endParaRPr lang="en-US" dirty="0"/>
          </a:p>
        </p:txBody>
      </p:sp>
      <p:sp>
        <p:nvSpPr>
          <p:cNvPr id="119" name="TextBox 38">
            <a:extLst>
              <a:ext uri="{FF2B5EF4-FFF2-40B4-BE49-F238E27FC236}">
                <a16:creationId xmlns:a16="http://schemas.microsoft.com/office/drawing/2014/main" id="{42F0B219-47BD-D5FF-9868-6C430F24A237}"/>
              </a:ext>
            </a:extLst>
          </p:cNvPr>
          <p:cNvSpPr txBox="1"/>
          <p:nvPr/>
        </p:nvSpPr>
        <p:spPr>
          <a:xfrm>
            <a:off x="15922231" y="8117798"/>
            <a:ext cx="1693723"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TAKVİMİ</a:t>
            </a:r>
            <a:endParaRPr lang="en-US" dirty="0"/>
          </a:p>
        </p:txBody>
      </p:sp>
      <p:sp>
        <p:nvSpPr>
          <p:cNvPr id="120" name="AutoShape 20">
            <a:extLst>
              <a:ext uri="{FF2B5EF4-FFF2-40B4-BE49-F238E27FC236}">
                <a16:creationId xmlns:a16="http://schemas.microsoft.com/office/drawing/2014/main" id="{0BC676CD-1395-6A15-34E4-8E15AC7E9D55}"/>
              </a:ext>
            </a:extLst>
          </p:cNvPr>
          <p:cNvSpPr/>
          <p:nvPr/>
        </p:nvSpPr>
        <p:spPr>
          <a:xfrm flipV="1">
            <a:off x="17862002" y="1644769"/>
            <a:ext cx="0" cy="7289230"/>
          </a:xfrm>
          <a:prstGeom prst="line">
            <a:avLst/>
          </a:prstGeom>
          <a:ln w="38100" cap="flat">
            <a:solidFill>
              <a:srgbClr val="344C54"/>
            </a:solidFill>
            <a:prstDash val="solid"/>
            <a:headEnd type="none" w="sm" len="sm"/>
            <a:tailEnd type="none" w="sm" len="sm"/>
          </a:ln>
        </p:spPr>
        <p:txBody>
          <a:bodyPr/>
          <a:lstStyle/>
          <a:p>
            <a:endParaRPr lang="tr-TR"/>
          </a:p>
        </p:txBody>
      </p:sp>
      <p:sp>
        <p:nvSpPr>
          <p:cNvPr id="121" name="TextBox 40">
            <a:extLst>
              <a:ext uri="{FF2B5EF4-FFF2-40B4-BE49-F238E27FC236}">
                <a16:creationId xmlns:a16="http://schemas.microsoft.com/office/drawing/2014/main" id="{E6F8574F-3CDE-E552-A0E1-26D270A0684E}"/>
              </a:ext>
            </a:extLst>
          </p:cNvPr>
          <p:cNvSpPr txBox="1"/>
          <p:nvPr/>
        </p:nvSpPr>
        <p:spPr>
          <a:xfrm>
            <a:off x="15099049" y="2568371"/>
            <a:ext cx="2516905"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ÖZETİ, KAPSAMI ve HEDEF KİTLE</a:t>
            </a:r>
            <a:endParaRPr lang="en-US" dirty="0"/>
          </a:p>
        </p:txBody>
      </p:sp>
      <p:sp>
        <p:nvSpPr>
          <p:cNvPr id="122" name="TextBox 42">
            <a:extLst>
              <a:ext uri="{FF2B5EF4-FFF2-40B4-BE49-F238E27FC236}">
                <a16:creationId xmlns:a16="http://schemas.microsoft.com/office/drawing/2014/main" id="{C2A6C62B-AE64-A050-B708-8629D47260B1}"/>
              </a:ext>
            </a:extLst>
          </p:cNvPr>
          <p:cNvSpPr txBox="1"/>
          <p:nvPr/>
        </p:nvSpPr>
        <p:spPr>
          <a:xfrm>
            <a:off x="15435222" y="2092314"/>
            <a:ext cx="2174945"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en-US" dirty="0"/>
              <a:t>T</a:t>
            </a:r>
            <a:r>
              <a:rPr lang="tr-TR" dirty="0"/>
              <a:t>AKIM TANITIM</a:t>
            </a:r>
            <a:endParaRPr lang="en-US" dirty="0"/>
          </a:p>
        </p:txBody>
      </p:sp>
      <p:sp>
        <p:nvSpPr>
          <p:cNvPr id="123" name="Freeform 22">
            <a:extLst>
              <a:ext uri="{FF2B5EF4-FFF2-40B4-BE49-F238E27FC236}">
                <a16:creationId xmlns:a16="http://schemas.microsoft.com/office/drawing/2014/main" id="{6AB4F83C-463B-A337-AAE4-E15D09E2F8E3}"/>
              </a:ext>
            </a:extLst>
          </p:cNvPr>
          <p:cNvSpPr/>
          <p:nvPr/>
        </p:nvSpPr>
        <p:spPr>
          <a:xfrm>
            <a:off x="17791146" y="2839736"/>
            <a:ext cx="201784" cy="214667"/>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4" name="TextBox 34">
            <a:extLst>
              <a:ext uri="{FF2B5EF4-FFF2-40B4-BE49-F238E27FC236}">
                <a16:creationId xmlns:a16="http://schemas.microsoft.com/office/drawing/2014/main" id="{43289370-FEA6-57EA-364E-2DCBA1B3084A}"/>
              </a:ext>
            </a:extLst>
          </p:cNvPr>
          <p:cNvSpPr txBox="1"/>
          <p:nvPr/>
        </p:nvSpPr>
        <p:spPr>
          <a:xfrm>
            <a:off x="15103346" y="3206954"/>
            <a:ext cx="2505303"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AMACI VE TOPLUMSAL FAYDASI</a:t>
            </a:r>
            <a:endParaRPr lang="en-US" dirty="0"/>
          </a:p>
        </p:txBody>
      </p:sp>
      <p:sp>
        <p:nvSpPr>
          <p:cNvPr id="125" name="TextBox 39">
            <a:extLst>
              <a:ext uri="{FF2B5EF4-FFF2-40B4-BE49-F238E27FC236}">
                <a16:creationId xmlns:a16="http://schemas.microsoft.com/office/drawing/2014/main" id="{84A81F51-25CA-DF4B-F0B7-D3FC4E837202}"/>
              </a:ext>
            </a:extLst>
          </p:cNvPr>
          <p:cNvSpPr txBox="1"/>
          <p:nvPr/>
        </p:nvSpPr>
        <p:spPr>
          <a:xfrm>
            <a:off x="15204106" y="5878404"/>
            <a:ext cx="2413247"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PROTOTİP / TASARIM VE İŞLEYİŞİ</a:t>
            </a:r>
            <a:endParaRPr lang="en-US" dirty="0"/>
          </a:p>
        </p:txBody>
      </p:sp>
      <p:sp>
        <p:nvSpPr>
          <p:cNvPr id="126" name="Freeform 96">
            <a:extLst>
              <a:ext uri="{FF2B5EF4-FFF2-40B4-BE49-F238E27FC236}">
                <a16:creationId xmlns:a16="http://schemas.microsoft.com/office/drawing/2014/main" id="{22C91505-39DE-ED26-AB20-9F6CF67D4867}"/>
              </a:ext>
            </a:extLst>
          </p:cNvPr>
          <p:cNvSpPr/>
          <p:nvPr/>
        </p:nvSpPr>
        <p:spPr>
          <a:xfrm>
            <a:off x="17389288"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27" name="Freeform 97">
            <a:extLst>
              <a:ext uri="{FF2B5EF4-FFF2-40B4-BE49-F238E27FC236}">
                <a16:creationId xmlns:a16="http://schemas.microsoft.com/office/drawing/2014/main" id="{D8FB26E0-78EA-4C9A-03EC-447014A531C1}"/>
              </a:ext>
            </a:extLst>
          </p:cNvPr>
          <p:cNvSpPr/>
          <p:nvPr/>
        </p:nvSpPr>
        <p:spPr>
          <a:xfrm>
            <a:off x="17718785"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28" name="Freeform 96">
            <a:extLst>
              <a:ext uri="{FF2B5EF4-FFF2-40B4-BE49-F238E27FC236}">
                <a16:creationId xmlns:a16="http://schemas.microsoft.com/office/drawing/2014/main" id="{579C8857-A02D-7EE5-D69C-8C2EFC985066}"/>
              </a:ext>
            </a:extLst>
          </p:cNvPr>
          <p:cNvSpPr/>
          <p:nvPr/>
        </p:nvSpPr>
        <p:spPr>
          <a:xfrm>
            <a:off x="17389287" y="8723804"/>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29" name="Freeform 97">
            <a:extLst>
              <a:ext uri="{FF2B5EF4-FFF2-40B4-BE49-F238E27FC236}">
                <a16:creationId xmlns:a16="http://schemas.microsoft.com/office/drawing/2014/main" id="{FA30CB8E-CEDA-4868-BEE8-5E1F09548A6E}"/>
              </a:ext>
            </a:extLst>
          </p:cNvPr>
          <p:cNvSpPr/>
          <p:nvPr/>
        </p:nvSpPr>
        <p:spPr>
          <a:xfrm>
            <a:off x="17711120" y="8761545"/>
            <a:ext cx="295907" cy="344908"/>
          </a:xfrm>
          <a:prstGeom prst="ellipse">
            <a:avLst/>
          </a:prstGeom>
          <a:solidFill>
            <a:srgbClr val="F3A025"/>
          </a:solidFill>
        </p:spPr>
        <p:txBody>
          <a:bodyPr/>
          <a:lstStyle/>
          <a:p>
            <a:endParaRPr lang="tr-TR"/>
          </a:p>
        </p:txBody>
      </p:sp>
      <p:grpSp>
        <p:nvGrpSpPr>
          <p:cNvPr id="130" name="Grup 129">
            <a:extLst>
              <a:ext uri="{FF2B5EF4-FFF2-40B4-BE49-F238E27FC236}">
                <a16:creationId xmlns:a16="http://schemas.microsoft.com/office/drawing/2014/main" id="{4B9567AC-7688-1F23-83E8-377F3A963974}"/>
              </a:ext>
            </a:extLst>
          </p:cNvPr>
          <p:cNvGrpSpPr/>
          <p:nvPr/>
        </p:nvGrpSpPr>
        <p:grpSpPr>
          <a:xfrm>
            <a:off x="17670306" y="2018618"/>
            <a:ext cx="371449" cy="6437321"/>
            <a:chOff x="17566046" y="2111764"/>
            <a:chExt cx="394849" cy="6842841"/>
          </a:xfrm>
        </p:grpSpPr>
        <p:sp>
          <p:nvSpPr>
            <p:cNvPr id="131" name="Freeform 21">
              <a:extLst>
                <a:ext uri="{FF2B5EF4-FFF2-40B4-BE49-F238E27FC236}">
                  <a16:creationId xmlns:a16="http://schemas.microsoft.com/office/drawing/2014/main" id="{F6991F8A-499F-1F20-6BE9-403A38E1C8C4}"/>
                </a:ext>
              </a:extLst>
            </p:cNvPr>
            <p:cNvSpPr/>
            <p:nvPr/>
          </p:nvSpPr>
          <p:spPr>
            <a:xfrm>
              <a:off x="17577504" y="211176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2" name="Freeform 21">
              <a:extLst>
                <a:ext uri="{FF2B5EF4-FFF2-40B4-BE49-F238E27FC236}">
                  <a16:creationId xmlns:a16="http://schemas.microsoft.com/office/drawing/2014/main" id="{CC3E4340-58BE-429F-AAFF-06A162EEBB55}"/>
                </a:ext>
              </a:extLst>
            </p:cNvPr>
            <p:cNvSpPr/>
            <p:nvPr/>
          </p:nvSpPr>
          <p:spPr>
            <a:xfrm>
              <a:off x="17577504" y="276608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3" name="Freeform 21">
              <a:extLst>
                <a:ext uri="{FF2B5EF4-FFF2-40B4-BE49-F238E27FC236}">
                  <a16:creationId xmlns:a16="http://schemas.microsoft.com/office/drawing/2014/main" id="{FB1965AA-F610-84E4-F8FD-532269CADDC7}"/>
                </a:ext>
              </a:extLst>
            </p:cNvPr>
            <p:cNvSpPr/>
            <p:nvPr/>
          </p:nvSpPr>
          <p:spPr>
            <a:xfrm>
              <a:off x="17577503" y="3443597"/>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4" name="Freeform 21">
              <a:extLst>
                <a:ext uri="{FF2B5EF4-FFF2-40B4-BE49-F238E27FC236}">
                  <a16:creationId xmlns:a16="http://schemas.microsoft.com/office/drawing/2014/main" id="{63875501-315C-DBB4-5680-FB7913F2EDEC}"/>
                </a:ext>
              </a:extLst>
            </p:cNvPr>
            <p:cNvSpPr/>
            <p:nvPr/>
          </p:nvSpPr>
          <p:spPr>
            <a:xfrm>
              <a:off x="17577502" y="416210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5" name="Freeform 21">
              <a:extLst>
                <a:ext uri="{FF2B5EF4-FFF2-40B4-BE49-F238E27FC236}">
                  <a16:creationId xmlns:a16="http://schemas.microsoft.com/office/drawing/2014/main" id="{3DE02DC6-1A2A-569B-7E0F-679CFD0DFBF0}"/>
                </a:ext>
              </a:extLst>
            </p:cNvPr>
            <p:cNvSpPr/>
            <p:nvPr/>
          </p:nvSpPr>
          <p:spPr>
            <a:xfrm>
              <a:off x="17577501" y="4857339"/>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6" name="Freeform 21">
              <a:extLst>
                <a:ext uri="{FF2B5EF4-FFF2-40B4-BE49-F238E27FC236}">
                  <a16:creationId xmlns:a16="http://schemas.microsoft.com/office/drawing/2014/main" id="{B6D2AB7F-F6B3-78F6-C57A-2BC0625B0849}"/>
                </a:ext>
              </a:extLst>
            </p:cNvPr>
            <p:cNvSpPr/>
            <p:nvPr/>
          </p:nvSpPr>
          <p:spPr>
            <a:xfrm>
              <a:off x="17577500" y="555606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7" name="Freeform 21">
              <a:extLst>
                <a:ext uri="{FF2B5EF4-FFF2-40B4-BE49-F238E27FC236}">
                  <a16:creationId xmlns:a16="http://schemas.microsoft.com/office/drawing/2014/main" id="{7FD5FED3-7EA1-8D24-98D0-A424E8D5CA96}"/>
                </a:ext>
              </a:extLst>
            </p:cNvPr>
            <p:cNvSpPr/>
            <p:nvPr/>
          </p:nvSpPr>
          <p:spPr>
            <a:xfrm>
              <a:off x="17577500" y="6278633"/>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8" name="Freeform 21">
              <a:extLst>
                <a:ext uri="{FF2B5EF4-FFF2-40B4-BE49-F238E27FC236}">
                  <a16:creationId xmlns:a16="http://schemas.microsoft.com/office/drawing/2014/main" id="{1CCBC3A8-A9E7-2E53-4DB1-C5CE4F46A644}"/>
                </a:ext>
              </a:extLst>
            </p:cNvPr>
            <p:cNvSpPr/>
            <p:nvPr/>
          </p:nvSpPr>
          <p:spPr>
            <a:xfrm>
              <a:off x="17575010" y="700119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9" name="Freeform 21">
              <a:extLst>
                <a:ext uri="{FF2B5EF4-FFF2-40B4-BE49-F238E27FC236}">
                  <a16:creationId xmlns:a16="http://schemas.microsoft.com/office/drawing/2014/main" id="{B8EC6945-E505-9D7E-C6C7-6917F6332D03}"/>
                </a:ext>
              </a:extLst>
            </p:cNvPr>
            <p:cNvSpPr/>
            <p:nvPr/>
          </p:nvSpPr>
          <p:spPr>
            <a:xfrm>
              <a:off x="17577499" y="775982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40" name="Freeform 21">
              <a:extLst>
                <a:ext uri="{FF2B5EF4-FFF2-40B4-BE49-F238E27FC236}">
                  <a16:creationId xmlns:a16="http://schemas.microsoft.com/office/drawing/2014/main" id="{EF8CA026-160B-9869-9B2E-1AD601E647C1}"/>
                </a:ext>
              </a:extLst>
            </p:cNvPr>
            <p:cNvSpPr/>
            <p:nvPr/>
          </p:nvSpPr>
          <p:spPr>
            <a:xfrm>
              <a:off x="17566046" y="8520841"/>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grpSp>
      <p:sp>
        <p:nvSpPr>
          <p:cNvPr id="141" name="TextBox 39">
            <a:extLst>
              <a:ext uri="{FF2B5EF4-FFF2-40B4-BE49-F238E27FC236}">
                <a16:creationId xmlns:a16="http://schemas.microsoft.com/office/drawing/2014/main" id="{899D6632-F8A6-7E56-25D4-5488E086F721}"/>
              </a:ext>
            </a:extLst>
          </p:cNvPr>
          <p:cNvSpPr txBox="1"/>
          <p:nvPr/>
        </p:nvSpPr>
        <p:spPr>
          <a:xfrm>
            <a:off x="14875224" y="7267389"/>
            <a:ext cx="2740730"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TİCARİLEŞME POTANSİYELİ VE SÜRDÜRÜLEBİLİRLİK</a:t>
            </a:r>
            <a:endParaRPr lang="en-US" dirty="0"/>
          </a:p>
        </p:txBody>
      </p:sp>
      <p:sp>
        <p:nvSpPr>
          <p:cNvPr id="2" name="TextBox 114">
            <a:extLst>
              <a:ext uri="{FF2B5EF4-FFF2-40B4-BE49-F238E27FC236}">
                <a16:creationId xmlns:a16="http://schemas.microsoft.com/office/drawing/2014/main" id="{4A9B3734-D35A-3749-9815-B57030B1F106}"/>
              </a:ext>
            </a:extLst>
          </p:cNvPr>
          <p:cNvSpPr txBox="1">
            <a:spLocks/>
          </p:cNvSpPr>
          <p:nvPr/>
        </p:nvSpPr>
        <p:spPr>
          <a:xfrm>
            <a:off x="2884469" y="9504815"/>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a:t>
            </a:r>
            <a:r>
              <a:rPr lang="tr-TR" dirty="0">
                <a:solidFill>
                  <a:srgbClr val="1A426A"/>
                </a:solidFill>
                <a:latin typeface="Active Heart"/>
              </a:rPr>
              <a:t>TARIM TEKNOLOJİLERİ</a:t>
            </a:r>
            <a:r>
              <a:rPr lang="en-US" dirty="0">
                <a:solidFill>
                  <a:srgbClr val="1A426A"/>
                </a:solidFill>
                <a:latin typeface="Active Heart"/>
              </a:rPr>
              <a:t>YARIŞMASI </a:t>
            </a:r>
            <a:endParaRPr lang="tr-TR" dirty="0">
              <a:solidFill>
                <a:srgbClr val="1A426A"/>
              </a:solidFill>
              <a:latin typeface="Active Heart"/>
            </a:endParaRPr>
          </a:p>
          <a:p>
            <a:pPr algn="ctr">
              <a:lnSpc>
                <a:spcPts val="2000"/>
              </a:lnSpc>
              <a:spcBef>
                <a:spcPct val="0"/>
              </a:spcBef>
            </a:pPr>
            <a:r>
              <a:rPr lang="en-US" dirty="0">
                <a:solidFill>
                  <a:srgbClr val="1A426A"/>
                </a:solidFill>
                <a:latin typeface="Active Heart"/>
              </a:rPr>
              <a:t>PROJE SUNUMU</a:t>
            </a:r>
          </a:p>
        </p:txBody>
      </p:sp>
    </p:spTree>
    <p:extLst>
      <p:ext uri="{BB962C8B-B14F-4D97-AF65-F5344CB8AC3E}">
        <p14:creationId xmlns:p14="http://schemas.microsoft.com/office/powerpoint/2010/main" val="3208363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F7BD3-347A-A759-B861-2EA2AD1BF5C2}"/>
            </a:ext>
          </a:extLst>
        </p:cNvPr>
        <p:cNvGrpSpPr/>
        <p:nvPr/>
      </p:nvGrpSpPr>
      <p:grpSpPr>
        <a:xfrm>
          <a:off x="0" y="0"/>
          <a:ext cx="0" cy="0"/>
          <a:chOff x="0" y="0"/>
          <a:chExt cx="0" cy="0"/>
        </a:xfrm>
      </p:grpSpPr>
      <p:sp>
        <p:nvSpPr>
          <p:cNvPr id="24" name="TextBox 8">
            <a:extLst>
              <a:ext uri="{FF2B5EF4-FFF2-40B4-BE49-F238E27FC236}">
                <a16:creationId xmlns:a16="http://schemas.microsoft.com/office/drawing/2014/main" id="{C548A043-98F1-88E7-A5AC-2E573D2DCACA}"/>
              </a:ext>
            </a:extLst>
          </p:cNvPr>
          <p:cNvSpPr txBox="1">
            <a:spLocks/>
          </p:cNvSpPr>
          <p:nvPr/>
        </p:nvSpPr>
        <p:spPr>
          <a:xfrm>
            <a:off x="1153397" y="156238"/>
            <a:ext cx="15620296" cy="820738"/>
          </a:xfrm>
          <a:prstGeom prst="rect">
            <a:avLst/>
          </a:prstGeom>
        </p:spPr>
        <p:txBody>
          <a:bodyPr wrap="square" lIns="0" tIns="0" rIns="0" bIns="0" rtlCol="0" anchor="t">
            <a:spAutoFit/>
          </a:bodyPr>
          <a:lstStyle/>
          <a:p>
            <a:pPr algn="ctr">
              <a:lnSpc>
                <a:spcPts val="6399"/>
              </a:lnSpc>
              <a:spcBef>
                <a:spcPct val="0"/>
              </a:spcBef>
            </a:pPr>
            <a:r>
              <a:rPr lang="tr-TR" sz="5400" dirty="0">
                <a:solidFill>
                  <a:srgbClr val="1A426A"/>
                </a:solidFill>
                <a:latin typeface="Active Heart"/>
              </a:rPr>
              <a:t>TİCARİLEŞME POTANSİYELİ VE SÜRDÜRÜLEBİLİRLİK</a:t>
            </a:r>
            <a:endParaRPr lang="en-US" sz="5400" dirty="0">
              <a:solidFill>
                <a:srgbClr val="1A426A"/>
              </a:solidFill>
              <a:latin typeface="Active Heart"/>
            </a:endParaRPr>
          </a:p>
        </p:txBody>
      </p:sp>
      <p:sp>
        <p:nvSpPr>
          <p:cNvPr id="4" name="Metin kutusu 3">
            <a:extLst>
              <a:ext uri="{FF2B5EF4-FFF2-40B4-BE49-F238E27FC236}">
                <a16:creationId xmlns:a16="http://schemas.microsoft.com/office/drawing/2014/main" id="{4C8FD4C5-075D-CA5A-16B5-1330D4055D16}"/>
              </a:ext>
            </a:extLst>
          </p:cNvPr>
          <p:cNvSpPr txBox="1"/>
          <p:nvPr/>
        </p:nvSpPr>
        <p:spPr>
          <a:xfrm>
            <a:off x="1295400" y="2022762"/>
            <a:ext cx="13100511" cy="3643177"/>
          </a:xfrm>
          <a:prstGeom prst="rect">
            <a:avLst/>
          </a:prstGeom>
          <a:noFill/>
        </p:spPr>
        <p:txBody>
          <a:bodyPr wrap="square">
            <a:spAutoFit/>
          </a:bodyPr>
          <a:lstStyle/>
          <a:p>
            <a:pPr marL="388620" lvl="1" indent="-194310">
              <a:lnSpc>
                <a:spcPts val="2520"/>
              </a:lnSpc>
              <a:buFont typeface="Arial"/>
              <a:buChar char="•"/>
            </a:pPr>
            <a:r>
              <a:rPr lang="tr-TR" dirty="0">
                <a:solidFill>
                  <a:srgbClr val="FF0000"/>
                </a:solidFill>
                <a:latin typeface="Aileron Bold"/>
              </a:rPr>
              <a:t>Ticarileşme Potansiyeli ve Sürdürülebilirlik </a:t>
            </a:r>
            <a:r>
              <a:rPr lang="en-US" u="sng" dirty="0" err="1">
                <a:solidFill>
                  <a:srgbClr val="FF0000"/>
                </a:solidFill>
                <a:latin typeface="Aileron Bold Italics"/>
              </a:rPr>
              <a:t>en</a:t>
            </a:r>
            <a:r>
              <a:rPr lang="en-US" u="sng" dirty="0">
                <a:solidFill>
                  <a:srgbClr val="FF0000"/>
                </a:solidFill>
                <a:latin typeface="Aileron Bold Italics"/>
              </a:rPr>
              <a:t> </a:t>
            </a:r>
            <a:r>
              <a:rPr lang="en-US" u="sng" dirty="0" err="1">
                <a:solidFill>
                  <a:srgbClr val="FF0000"/>
                </a:solidFill>
                <a:latin typeface="Aileron Bold Italics"/>
              </a:rPr>
              <a:t>fazla</a:t>
            </a:r>
            <a:r>
              <a:rPr lang="en-US" u="sng" dirty="0">
                <a:solidFill>
                  <a:srgbClr val="FF0000"/>
                </a:solidFill>
                <a:latin typeface="Aileron Bold Italics"/>
              </a:rPr>
              <a:t> </a:t>
            </a:r>
            <a:r>
              <a:rPr lang="tr-TR" u="sng" dirty="0">
                <a:solidFill>
                  <a:srgbClr val="FF0000"/>
                </a:solidFill>
                <a:latin typeface="Aileron Bold"/>
              </a:rPr>
              <a:t>2</a:t>
            </a:r>
            <a:r>
              <a:rPr lang="tr-TR" dirty="0">
                <a:solidFill>
                  <a:srgbClr val="FF0000"/>
                </a:solidFill>
                <a:latin typeface="Aileron Bold"/>
              </a:rPr>
              <a:t> </a:t>
            </a:r>
            <a:r>
              <a:rPr lang="en-US" dirty="0">
                <a:solidFill>
                  <a:srgbClr val="FF0000"/>
                </a:solidFill>
                <a:latin typeface="Aileron Bold"/>
              </a:rPr>
              <a:t>(</a:t>
            </a:r>
            <a:r>
              <a:rPr lang="tr-TR" dirty="0">
                <a:solidFill>
                  <a:srgbClr val="FF0000"/>
                </a:solidFill>
                <a:latin typeface="Aileron Bold"/>
              </a:rPr>
              <a:t>iki</a:t>
            </a:r>
            <a:r>
              <a:rPr lang="en-US" dirty="0">
                <a:solidFill>
                  <a:srgbClr val="FF0000"/>
                </a:solidFill>
                <a:latin typeface="Aileron Bold"/>
              </a:rPr>
              <a:t>) </a:t>
            </a:r>
            <a:r>
              <a:rPr lang="en-US" dirty="0" err="1">
                <a:solidFill>
                  <a:srgbClr val="FF0000"/>
                </a:solidFill>
                <a:latin typeface="Aileron Bold"/>
              </a:rPr>
              <a:t>sayfad</a:t>
            </a:r>
            <a:r>
              <a:rPr lang="tr-TR" dirty="0">
                <a:solidFill>
                  <a:srgbClr val="FF0000"/>
                </a:solidFill>
                <a:latin typeface="Aileron Bold"/>
              </a:rPr>
              <a:t>a 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u="sng"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1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en-US" dirty="0">
                <a:solidFill>
                  <a:srgbClr val="FF0000"/>
                </a:solidFill>
                <a:latin typeface="Aileron Bold"/>
              </a:rPr>
              <a:t>. </a:t>
            </a:r>
          </a:p>
          <a:p>
            <a:pPr marL="194310" lvl="1">
              <a:lnSpc>
                <a:spcPts val="2880"/>
              </a:lnSpc>
            </a:pPr>
            <a:endParaRPr lang="en-US" dirty="0">
              <a:solidFill>
                <a:srgbClr val="FF0000"/>
              </a:solidFill>
              <a:latin typeface="Aileron Bold"/>
            </a:endParaRPr>
          </a:p>
          <a:p>
            <a:pPr marL="388620" lvl="1" indent="-194310">
              <a:lnSpc>
                <a:spcPts val="2520"/>
              </a:lnSpc>
              <a:buFont typeface="Arial"/>
              <a:buChar char="•"/>
            </a:pPr>
            <a:r>
              <a:rPr lang="en-US" dirty="0" err="1">
                <a:solidFill>
                  <a:srgbClr val="FF0000"/>
                </a:solidFill>
                <a:latin typeface="Aileron Bold"/>
              </a:rPr>
              <a:t>Ürün</a:t>
            </a:r>
            <a:r>
              <a:rPr lang="en-US" dirty="0">
                <a:solidFill>
                  <a:srgbClr val="FF0000"/>
                </a:solidFill>
                <a:latin typeface="Aileron Bold"/>
              </a:rPr>
              <a:t>/</a:t>
            </a:r>
            <a:r>
              <a:rPr lang="en-US" dirty="0" err="1">
                <a:solidFill>
                  <a:srgbClr val="FF0000"/>
                </a:solidFill>
                <a:latin typeface="Aileron Bold"/>
              </a:rPr>
              <a:t>proje</a:t>
            </a:r>
            <a:r>
              <a:rPr lang="en-US" dirty="0">
                <a:solidFill>
                  <a:srgbClr val="FF0000"/>
                </a:solidFill>
                <a:latin typeface="Aileron Bold"/>
              </a:rPr>
              <a:t> </a:t>
            </a:r>
            <a:r>
              <a:rPr lang="en-US" dirty="0" err="1">
                <a:solidFill>
                  <a:srgbClr val="FF0000"/>
                </a:solidFill>
                <a:latin typeface="Aileron Bold"/>
              </a:rPr>
              <a:t>hakkında</a:t>
            </a:r>
            <a:r>
              <a:rPr lang="en-US" dirty="0">
                <a:solidFill>
                  <a:srgbClr val="FF0000"/>
                </a:solidFill>
                <a:latin typeface="Aileron Bold"/>
              </a:rPr>
              <a:t> </a:t>
            </a:r>
            <a:r>
              <a:rPr lang="en-US" dirty="0" err="1">
                <a:solidFill>
                  <a:srgbClr val="FF0000"/>
                </a:solidFill>
                <a:latin typeface="Aileron Bold"/>
              </a:rPr>
              <a:t>detaylı</a:t>
            </a:r>
            <a:r>
              <a:rPr lang="en-US" dirty="0">
                <a:solidFill>
                  <a:srgbClr val="FF0000"/>
                </a:solidFill>
                <a:latin typeface="Aileron Bold"/>
              </a:rPr>
              <a:t> </a:t>
            </a:r>
            <a:r>
              <a:rPr lang="en-US" dirty="0" err="1">
                <a:solidFill>
                  <a:srgbClr val="FF0000"/>
                </a:solidFill>
                <a:latin typeface="Aileron Bold"/>
              </a:rPr>
              <a:t>bilgi</a:t>
            </a:r>
            <a:r>
              <a:rPr lang="en-US" dirty="0">
                <a:solidFill>
                  <a:srgbClr val="FF0000"/>
                </a:solidFill>
                <a:latin typeface="Aileron Bold"/>
              </a:rPr>
              <a:t> </a:t>
            </a:r>
            <a:r>
              <a:rPr lang="en-US" dirty="0" err="1">
                <a:solidFill>
                  <a:srgbClr val="FF0000"/>
                </a:solidFill>
                <a:latin typeface="Aileron Bold"/>
              </a:rPr>
              <a:t>içermelidir</a:t>
            </a:r>
            <a:r>
              <a:rPr lang="en-US" dirty="0">
                <a:solidFill>
                  <a:srgbClr val="FF0000"/>
                </a:solidFill>
                <a:latin typeface="Aileron Bold"/>
              </a:rPr>
              <a:t>.</a:t>
            </a:r>
            <a:endParaRPr lang="tr-TR" dirty="0">
              <a:solidFill>
                <a:srgbClr val="FF0000"/>
              </a:solidFill>
              <a:latin typeface="Aileron Bold"/>
            </a:endParaRPr>
          </a:p>
          <a:p>
            <a:pPr marL="388620" lvl="1" indent="-194310">
              <a:lnSpc>
                <a:spcPts val="2520"/>
              </a:lnSpc>
              <a:buFont typeface="Arial"/>
              <a:buChar char="•"/>
            </a:pPr>
            <a:r>
              <a:rPr lang="en-US" dirty="0" err="1">
                <a:solidFill>
                  <a:srgbClr val="FF0000"/>
                </a:solidFill>
                <a:latin typeface="Aileron Bold"/>
              </a:rPr>
              <a:t>Ürün</a:t>
            </a:r>
            <a:r>
              <a:rPr lang="en-US" dirty="0">
                <a:solidFill>
                  <a:srgbClr val="FF0000"/>
                </a:solidFill>
                <a:latin typeface="Aileron Bold"/>
              </a:rPr>
              <a:t> </a:t>
            </a:r>
            <a:r>
              <a:rPr lang="en-US" dirty="0" err="1">
                <a:solidFill>
                  <a:srgbClr val="FF0000"/>
                </a:solidFill>
                <a:latin typeface="Aileron Bold"/>
              </a:rPr>
              <a:t>ticarileşme</a:t>
            </a:r>
            <a:r>
              <a:rPr lang="en-US" dirty="0">
                <a:solidFill>
                  <a:srgbClr val="FF0000"/>
                </a:solidFill>
                <a:latin typeface="Aileron Bold"/>
              </a:rPr>
              <a:t> </a:t>
            </a:r>
            <a:r>
              <a:rPr lang="en-US" dirty="0" err="1">
                <a:solidFill>
                  <a:srgbClr val="FF0000"/>
                </a:solidFill>
                <a:latin typeface="Aileron Bold"/>
              </a:rPr>
              <a:t>potansiyeline</a:t>
            </a:r>
            <a:r>
              <a:rPr lang="en-US" dirty="0">
                <a:solidFill>
                  <a:srgbClr val="FF0000"/>
                </a:solidFill>
                <a:latin typeface="Aileron Bold"/>
              </a:rPr>
              <a:t>, </a:t>
            </a:r>
            <a:r>
              <a:rPr lang="en-US" dirty="0" err="1">
                <a:solidFill>
                  <a:srgbClr val="FF0000"/>
                </a:solidFill>
                <a:latin typeface="Aileron Bold"/>
              </a:rPr>
              <a:t>ileri</a:t>
            </a:r>
            <a:r>
              <a:rPr lang="en-US" dirty="0">
                <a:solidFill>
                  <a:srgbClr val="FF0000"/>
                </a:solidFill>
                <a:latin typeface="Aileron Bold"/>
              </a:rPr>
              <a:t> </a:t>
            </a:r>
            <a:r>
              <a:rPr lang="en-US" dirty="0" err="1">
                <a:solidFill>
                  <a:srgbClr val="FF0000"/>
                </a:solidFill>
                <a:latin typeface="Aileron Bold"/>
              </a:rPr>
              <a:t>teknoloji</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katma</a:t>
            </a:r>
            <a:r>
              <a:rPr lang="en-US" dirty="0">
                <a:solidFill>
                  <a:srgbClr val="FF0000"/>
                </a:solidFill>
                <a:latin typeface="Aileron Bold"/>
              </a:rPr>
              <a:t> </a:t>
            </a:r>
            <a:r>
              <a:rPr lang="en-US" dirty="0" err="1">
                <a:solidFill>
                  <a:srgbClr val="FF0000"/>
                </a:solidFill>
                <a:latin typeface="Aileron Bold"/>
              </a:rPr>
              <a:t>değerine</a:t>
            </a:r>
            <a:r>
              <a:rPr lang="en-US" dirty="0">
                <a:solidFill>
                  <a:srgbClr val="FF0000"/>
                </a:solidFill>
                <a:latin typeface="Aileron Bold"/>
              </a:rPr>
              <a:t> </a:t>
            </a:r>
            <a:r>
              <a:rPr lang="en-US" dirty="0" err="1">
                <a:solidFill>
                  <a:srgbClr val="FF0000"/>
                </a:solidFill>
                <a:latin typeface="Aileron Bold"/>
              </a:rPr>
              <a:t>yer</a:t>
            </a:r>
            <a:r>
              <a:rPr lang="en-US" dirty="0">
                <a:solidFill>
                  <a:srgbClr val="FF0000"/>
                </a:solidFill>
                <a:latin typeface="Aileron Bold"/>
              </a:rPr>
              <a:t> </a:t>
            </a:r>
            <a:r>
              <a:rPr lang="en-US" dirty="0" err="1">
                <a:solidFill>
                  <a:srgbClr val="FF0000"/>
                </a:solidFill>
                <a:latin typeface="Aileron Bold"/>
              </a:rPr>
              <a:t>verilmelidir</a:t>
            </a:r>
            <a:r>
              <a:rPr lang="en-US" dirty="0">
                <a:solidFill>
                  <a:srgbClr val="FF0000"/>
                </a:solidFill>
                <a:latin typeface="Aileron Bold"/>
              </a:rPr>
              <a:t>. </a:t>
            </a:r>
            <a:r>
              <a:rPr lang="en-US" dirty="0" err="1">
                <a:solidFill>
                  <a:srgbClr val="FF0000"/>
                </a:solidFill>
                <a:latin typeface="Aileron Bold"/>
              </a:rPr>
              <a:t>Projede</a:t>
            </a:r>
            <a:r>
              <a:rPr lang="en-US" dirty="0">
                <a:solidFill>
                  <a:srgbClr val="FF0000"/>
                </a:solidFill>
                <a:latin typeface="Aileron Bold"/>
              </a:rPr>
              <a:t> </a:t>
            </a:r>
            <a:r>
              <a:rPr lang="en-US" dirty="0" err="1">
                <a:solidFill>
                  <a:srgbClr val="FF0000"/>
                </a:solidFill>
                <a:latin typeface="Aileron Bold"/>
              </a:rPr>
              <a:t>elde</a:t>
            </a:r>
            <a:r>
              <a:rPr lang="en-US" dirty="0">
                <a:solidFill>
                  <a:srgbClr val="FF0000"/>
                </a:solidFill>
                <a:latin typeface="Aileron Bold"/>
              </a:rPr>
              <a:t> </a:t>
            </a:r>
            <a:r>
              <a:rPr lang="en-US" dirty="0" err="1">
                <a:solidFill>
                  <a:srgbClr val="FF0000"/>
                </a:solidFill>
                <a:latin typeface="Aileron Bold"/>
              </a:rPr>
              <a:t>edilen</a:t>
            </a:r>
            <a:r>
              <a:rPr lang="en-US" dirty="0">
                <a:solidFill>
                  <a:srgbClr val="FF0000"/>
                </a:solidFill>
                <a:latin typeface="Aileron Bold"/>
              </a:rPr>
              <a:t> </a:t>
            </a:r>
            <a:r>
              <a:rPr lang="en-US" dirty="0" err="1">
                <a:solidFill>
                  <a:srgbClr val="FF0000"/>
                </a:solidFill>
                <a:latin typeface="Aileron Bold"/>
              </a:rPr>
              <a:t>çözüm</a:t>
            </a:r>
            <a:r>
              <a:rPr lang="en-US" dirty="0">
                <a:solidFill>
                  <a:srgbClr val="FF0000"/>
                </a:solidFill>
                <a:latin typeface="Aileron Bold"/>
              </a:rPr>
              <a:t> </a:t>
            </a:r>
            <a:r>
              <a:rPr lang="en-US" dirty="0" err="1">
                <a:solidFill>
                  <a:srgbClr val="FF0000"/>
                </a:solidFill>
                <a:latin typeface="Aileron Bold"/>
              </a:rPr>
              <a:t>mevcut</a:t>
            </a:r>
            <a:r>
              <a:rPr lang="en-US" dirty="0">
                <a:solidFill>
                  <a:srgbClr val="FF0000"/>
                </a:solidFill>
                <a:latin typeface="Aileron Bold"/>
              </a:rPr>
              <a:t> </a:t>
            </a:r>
            <a:r>
              <a:rPr lang="en-US" dirty="0" err="1">
                <a:solidFill>
                  <a:srgbClr val="FF0000"/>
                </a:solidFill>
                <a:latin typeface="Aileron Bold"/>
              </a:rPr>
              <a:t>şartlarda</a:t>
            </a:r>
            <a:r>
              <a:rPr lang="en-US" dirty="0">
                <a:solidFill>
                  <a:srgbClr val="FF0000"/>
                </a:solidFill>
                <a:latin typeface="Aileron Bold"/>
              </a:rPr>
              <a:t> </a:t>
            </a:r>
            <a:r>
              <a:rPr lang="en-US" dirty="0" err="1">
                <a:solidFill>
                  <a:srgbClr val="FF0000"/>
                </a:solidFill>
                <a:latin typeface="Aileron Bold"/>
              </a:rPr>
              <a:t>uygulanabiliyor</a:t>
            </a:r>
            <a:r>
              <a:rPr lang="en-US" dirty="0">
                <a:solidFill>
                  <a:srgbClr val="FF0000"/>
                </a:solidFill>
                <a:latin typeface="Aileron Bold"/>
              </a:rPr>
              <a:t> </a:t>
            </a:r>
            <a:r>
              <a:rPr lang="en-US" dirty="0" err="1">
                <a:solidFill>
                  <a:srgbClr val="FF0000"/>
                </a:solidFill>
                <a:latin typeface="Aileron Bold"/>
              </a:rPr>
              <a:t>olmalı</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üretilebilmelidir</a:t>
            </a:r>
            <a:r>
              <a:rPr lang="en-US" dirty="0">
                <a:solidFill>
                  <a:srgbClr val="FF0000"/>
                </a:solidFill>
                <a:latin typeface="Aileron Bold"/>
              </a:rPr>
              <a:t>. </a:t>
            </a:r>
            <a:r>
              <a:rPr lang="en-US" dirty="0" err="1">
                <a:solidFill>
                  <a:srgbClr val="FF0000"/>
                </a:solidFill>
                <a:latin typeface="Aileron Bold"/>
              </a:rPr>
              <a:t>Projenin</a:t>
            </a:r>
            <a:r>
              <a:rPr lang="en-US" dirty="0">
                <a:solidFill>
                  <a:srgbClr val="FF0000"/>
                </a:solidFill>
                <a:latin typeface="Aileron Bold"/>
              </a:rPr>
              <a:t> yeni </a:t>
            </a:r>
            <a:r>
              <a:rPr lang="en-US" dirty="0" err="1">
                <a:solidFill>
                  <a:srgbClr val="FF0000"/>
                </a:solidFill>
                <a:latin typeface="Aileron Bold"/>
              </a:rPr>
              <a:t>projeler</a:t>
            </a:r>
            <a:r>
              <a:rPr lang="en-US" dirty="0">
                <a:solidFill>
                  <a:srgbClr val="FF0000"/>
                </a:solidFill>
                <a:latin typeface="Aileron Bold"/>
              </a:rPr>
              <a:t>, </a:t>
            </a:r>
            <a:r>
              <a:rPr lang="en-US" dirty="0" err="1">
                <a:solidFill>
                  <a:srgbClr val="FF0000"/>
                </a:solidFill>
                <a:latin typeface="Aileron Bold"/>
              </a:rPr>
              <a:t>iş</a:t>
            </a:r>
            <a:r>
              <a:rPr lang="en-US" dirty="0">
                <a:solidFill>
                  <a:srgbClr val="FF0000"/>
                </a:solidFill>
                <a:latin typeface="Aileron Bold"/>
              </a:rPr>
              <a:t> </a:t>
            </a:r>
            <a:r>
              <a:rPr lang="en-US" dirty="0" err="1">
                <a:solidFill>
                  <a:srgbClr val="FF0000"/>
                </a:solidFill>
                <a:latin typeface="Aileron Bold"/>
              </a:rPr>
              <a:t>ortaklıkları</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iş</a:t>
            </a:r>
            <a:r>
              <a:rPr lang="en-US" dirty="0">
                <a:solidFill>
                  <a:srgbClr val="FF0000"/>
                </a:solidFill>
                <a:latin typeface="Aileron Bold"/>
              </a:rPr>
              <a:t> </a:t>
            </a:r>
            <a:r>
              <a:rPr lang="en-US" dirty="0" err="1">
                <a:solidFill>
                  <a:srgbClr val="FF0000"/>
                </a:solidFill>
                <a:latin typeface="Aileron Bold"/>
              </a:rPr>
              <a:t>birlikleri</a:t>
            </a:r>
            <a:r>
              <a:rPr lang="en-US" dirty="0">
                <a:solidFill>
                  <a:srgbClr val="FF0000"/>
                </a:solidFill>
                <a:latin typeface="Aileron Bold"/>
              </a:rPr>
              <a:t> </a:t>
            </a:r>
            <a:r>
              <a:rPr lang="en-US" dirty="0" err="1">
                <a:solidFill>
                  <a:srgbClr val="FF0000"/>
                </a:solidFill>
                <a:latin typeface="Aileron Bold"/>
              </a:rPr>
              <a:t>oluşturma</a:t>
            </a:r>
            <a:r>
              <a:rPr lang="en-US" dirty="0">
                <a:solidFill>
                  <a:srgbClr val="FF0000"/>
                </a:solidFill>
                <a:latin typeface="Aileron Bold"/>
              </a:rPr>
              <a:t> </a:t>
            </a:r>
            <a:r>
              <a:rPr lang="en-US" dirty="0" err="1">
                <a:solidFill>
                  <a:srgbClr val="FF0000"/>
                </a:solidFill>
                <a:latin typeface="Aileron Bold"/>
              </a:rPr>
              <a:t>potansiyeline</a:t>
            </a:r>
            <a:r>
              <a:rPr lang="en-US" dirty="0">
                <a:solidFill>
                  <a:srgbClr val="FF0000"/>
                </a:solidFill>
                <a:latin typeface="Aileron Bold"/>
              </a:rPr>
              <a:t> </a:t>
            </a:r>
            <a:r>
              <a:rPr lang="en-US" dirty="0" err="1">
                <a:solidFill>
                  <a:srgbClr val="FF0000"/>
                </a:solidFill>
                <a:latin typeface="Aileron Bold"/>
              </a:rPr>
              <a:t>sahip</a:t>
            </a:r>
            <a:r>
              <a:rPr lang="en-US" dirty="0">
                <a:solidFill>
                  <a:srgbClr val="FF0000"/>
                </a:solidFill>
                <a:latin typeface="Aileron Bold"/>
              </a:rPr>
              <a:t> </a:t>
            </a:r>
            <a:r>
              <a:rPr lang="en-US" dirty="0" err="1">
                <a:solidFill>
                  <a:srgbClr val="FF0000"/>
                </a:solidFill>
                <a:latin typeface="Aileron Bold"/>
              </a:rPr>
              <a:t>olduğu</a:t>
            </a:r>
            <a:r>
              <a:rPr lang="en-US" dirty="0">
                <a:solidFill>
                  <a:srgbClr val="FF0000"/>
                </a:solidFill>
                <a:latin typeface="Aileron Bold"/>
              </a:rPr>
              <a:t> </a:t>
            </a:r>
            <a:r>
              <a:rPr lang="en-US" dirty="0" err="1">
                <a:solidFill>
                  <a:srgbClr val="FF0000"/>
                </a:solidFill>
                <a:latin typeface="Aileron Bold"/>
              </a:rPr>
              <a:t>gösterilmelidir</a:t>
            </a:r>
            <a:r>
              <a:rPr lang="en-US" dirty="0">
                <a:solidFill>
                  <a:srgbClr val="FF0000"/>
                </a:solidFill>
                <a:latin typeface="Aileron Bold"/>
              </a:rPr>
              <a:t>. </a:t>
            </a:r>
            <a:endParaRPr lang="tr-TR" dirty="0">
              <a:solidFill>
                <a:srgbClr val="FF0000"/>
              </a:solidFill>
              <a:latin typeface="Aileron Bold"/>
            </a:endParaRPr>
          </a:p>
          <a:p>
            <a:pPr marL="388620" lvl="1" indent="-194310">
              <a:lnSpc>
                <a:spcPts val="2520"/>
              </a:lnSpc>
              <a:buFont typeface="Arial"/>
              <a:buChar char="•"/>
            </a:pPr>
            <a:r>
              <a:rPr lang="tr-TR" dirty="0">
                <a:solidFill>
                  <a:srgbClr val="FF0000"/>
                </a:solidFill>
                <a:latin typeface="Aileron Bold"/>
              </a:rPr>
              <a:t>S</a:t>
            </a:r>
            <a:r>
              <a:rPr lang="en-US" dirty="0" err="1">
                <a:solidFill>
                  <a:srgbClr val="FF0000"/>
                </a:solidFill>
                <a:latin typeface="Aileron Bold"/>
              </a:rPr>
              <a:t>ürdürülebilirlik</a:t>
            </a:r>
            <a:r>
              <a:rPr lang="en-US" dirty="0">
                <a:solidFill>
                  <a:srgbClr val="FF0000"/>
                </a:solidFill>
                <a:latin typeface="Aileron Bold"/>
              </a:rPr>
              <a:t> </a:t>
            </a:r>
            <a:r>
              <a:rPr lang="en-US" dirty="0" err="1">
                <a:solidFill>
                  <a:srgbClr val="FF0000"/>
                </a:solidFill>
                <a:latin typeface="Aileron Bold"/>
              </a:rPr>
              <a:t>başlığı</a:t>
            </a:r>
            <a:r>
              <a:rPr lang="en-US" dirty="0">
                <a:solidFill>
                  <a:srgbClr val="FF0000"/>
                </a:solidFill>
                <a:latin typeface="Aileron Bold"/>
              </a:rPr>
              <a:t> </a:t>
            </a:r>
            <a:r>
              <a:rPr lang="en-US" dirty="0" err="1">
                <a:solidFill>
                  <a:srgbClr val="FF0000"/>
                </a:solidFill>
                <a:latin typeface="Aileron Bold"/>
              </a:rPr>
              <a:t>için</a:t>
            </a:r>
            <a:r>
              <a:rPr lang="en-US" dirty="0">
                <a:solidFill>
                  <a:srgbClr val="FF0000"/>
                </a:solidFill>
                <a:latin typeface="Aileron Bold"/>
              </a:rPr>
              <a:t> </a:t>
            </a:r>
            <a:r>
              <a:rPr lang="en-US" dirty="0" err="1">
                <a:solidFill>
                  <a:srgbClr val="FF0000"/>
                </a:solidFill>
                <a:latin typeface="Aileron Bold"/>
              </a:rPr>
              <a:t>ise</a:t>
            </a:r>
            <a:r>
              <a:rPr lang="en-US" dirty="0">
                <a:solidFill>
                  <a:srgbClr val="FF0000"/>
                </a:solidFill>
                <a:latin typeface="Aileron Bold"/>
              </a:rPr>
              <a:t> </a:t>
            </a:r>
            <a:r>
              <a:rPr lang="en-US" dirty="0" err="1">
                <a:solidFill>
                  <a:srgbClr val="FF0000"/>
                </a:solidFill>
                <a:latin typeface="Aileron Bold"/>
              </a:rPr>
              <a:t>projenin</a:t>
            </a:r>
            <a:r>
              <a:rPr lang="en-US" dirty="0">
                <a:solidFill>
                  <a:srgbClr val="FF0000"/>
                </a:solidFill>
                <a:latin typeface="Aileron Bold"/>
              </a:rPr>
              <a:t> </a:t>
            </a:r>
            <a:r>
              <a:rPr lang="en-US" dirty="0" err="1">
                <a:solidFill>
                  <a:srgbClr val="FF0000"/>
                </a:solidFill>
                <a:latin typeface="Aileron Bold"/>
              </a:rPr>
              <a:t>başarıyla</a:t>
            </a:r>
            <a:r>
              <a:rPr lang="en-US" dirty="0">
                <a:solidFill>
                  <a:srgbClr val="FF0000"/>
                </a:solidFill>
                <a:latin typeface="Aileron Bold"/>
              </a:rPr>
              <a:t> </a:t>
            </a:r>
            <a:r>
              <a:rPr lang="en-US" dirty="0" err="1">
                <a:solidFill>
                  <a:srgbClr val="FF0000"/>
                </a:solidFill>
                <a:latin typeface="Aileron Bold"/>
              </a:rPr>
              <a:t>tamamlanmasının</a:t>
            </a:r>
            <a:r>
              <a:rPr lang="en-US" dirty="0">
                <a:solidFill>
                  <a:srgbClr val="FF0000"/>
                </a:solidFill>
                <a:latin typeface="Aileron Bold"/>
              </a:rPr>
              <a:t> </a:t>
            </a:r>
            <a:r>
              <a:rPr lang="en-US" dirty="0" err="1">
                <a:solidFill>
                  <a:srgbClr val="FF0000"/>
                </a:solidFill>
                <a:latin typeface="Aileron Bold"/>
              </a:rPr>
              <a:t>ardından</a:t>
            </a:r>
            <a:r>
              <a:rPr lang="en-US" dirty="0">
                <a:solidFill>
                  <a:srgbClr val="FF0000"/>
                </a:solidFill>
                <a:latin typeface="Aileron Bold"/>
              </a:rPr>
              <a:t> </a:t>
            </a:r>
            <a:r>
              <a:rPr lang="en-US" dirty="0" err="1">
                <a:solidFill>
                  <a:srgbClr val="FF0000"/>
                </a:solidFill>
                <a:latin typeface="Aileron Bold"/>
              </a:rPr>
              <a:t>uzun</a:t>
            </a:r>
            <a:r>
              <a:rPr lang="en-US" dirty="0">
                <a:solidFill>
                  <a:srgbClr val="FF0000"/>
                </a:solidFill>
                <a:latin typeface="Aileron Bold"/>
              </a:rPr>
              <a:t> </a:t>
            </a:r>
            <a:r>
              <a:rPr lang="en-US" dirty="0" err="1">
                <a:solidFill>
                  <a:srgbClr val="FF0000"/>
                </a:solidFill>
                <a:latin typeface="Aileron Bold"/>
              </a:rPr>
              <a:t>vadede</a:t>
            </a:r>
            <a:r>
              <a:rPr lang="en-US" dirty="0">
                <a:solidFill>
                  <a:srgbClr val="FF0000"/>
                </a:solidFill>
                <a:latin typeface="Aileron Bold"/>
              </a:rPr>
              <a:t> </a:t>
            </a:r>
            <a:r>
              <a:rPr lang="en-US" dirty="0" err="1">
                <a:solidFill>
                  <a:srgbClr val="FF0000"/>
                </a:solidFill>
                <a:latin typeface="Aileron Bold"/>
              </a:rPr>
              <a:t>devamlılığının</a:t>
            </a:r>
            <a:r>
              <a:rPr lang="en-US" dirty="0">
                <a:solidFill>
                  <a:srgbClr val="FF0000"/>
                </a:solidFill>
                <a:latin typeface="Aileron Bold"/>
              </a:rPr>
              <a:t> </a:t>
            </a:r>
            <a:r>
              <a:rPr lang="en-US" dirty="0" err="1">
                <a:solidFill>
                  <a:srgbClr val="FF0000"/>
                </a:solidFill>
                <a:latin typeface="Aileron Bold"/>
              </a:rPr>
              <a:t>nasıl</a:t>
            </a:r>
            <a:r>
              <a:rPr lang="en-US" dirty="0">
                <a:solidFill>
                  <a:srgbClr val="FF0000"/>
                </a:solidFill>
                <a:latin typeface="Aileron Bold"/>
              </a:rPr>
              <a:t> </a:t>
            </a:r>
            <a:r>
              <a:rPr lang="en-US" dirty="0" err="1">
                <a:solidFill>
                  <a:srgbClr val="FF0000"/>
                </a:solidFill>
                <a:latin typeface="Aileron Bold"/>
              </a:rPr>
              <a:t>sağlanacağı</a:t>
            </a:r>
            <a:r>
              <a:rPr lang="en-US" dirty="0">
                <a:solidFill>
                  <a:srgbClr val="FF0000"/>
                </a:solidFill>
                <a:latin typeface="Aileron Bold"/>
              </a:rPr>
              <a:t> </a:t>
            </a:r>
            <a:r>
              <a:rPr lang="en-US" dirty="0" err="1">
                <a:solidFill>
                  <a:srgbClr val="FF0000"/>
                </a:solidFill>
                <a:latin typeface="Aileron Bold"/>
              </a:rPr>
              <a:t>açıklanmalıdır</a:t>
            </a:r>
            <a:r>
              <a:rPr lang="en-US" dirty="0">
                <a:solidFill>
                  <a:srgbClr val="FF0000"/>
                </a:solidFill>
                <a:latin typeface="Aileron Bold"/>
              </a:rPr>
              <a:t>. </a:t>
            </a:r>
            <a:endParaRPr lang="tr-TR" dirty="0">
              <a:solidFill>
                <a:srgbClr val="FF0000"/>
              </a:solidFill>
              <a:latin typeface="Aileron Bold"/>
            </a:endParaRPr>
          </a:p>
          <a:p>
            <a:pPr marL="194310" lvl="1">
              <a:lnSpc>
                <a:spcPts val="2520"/>
              </a:lnSpc>
            </a:pPr>
            <a:endParaRPr lang="en-US" dirty="0">
              <a:solidFill>
                <a:srgbClr val="FF0000"/>
              </a:solidFill>
              <a:latin typeface="Aileron Bold"/>
            </a:endParaRPr>
          </a:p>
          <a:p>
            <a:pPr marL="194310" lvl="1">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p:txBody>
      </p:sp>
      <p:sp>
        <p:nvSpPr>
          <p:cNvPr id="111" name="TextBox 39">
            <a:extLst>
              <a:ext uri="{FF2B5EF4-FFF2-40B4-BE49-F238E27FC236}">
                <a16:creationId xmlns:a16="http://schemas.microsoft.com/office/drawing/2014/main" id="{73423445-763A-9966-D5F0-797B36933A21}"/>
              </a:ext>
            </a:extLst>
          </p:cNvPr>
          <p:cNvSpPr txBox="1"/>
          <p:nvPr/>
        </p:nvSpPr>
        <p:spPr>
          <a:xfrm>
            <a:off x="14875224" y="6556090"/>
            <a:ext cx="2740730" cy="539443"/>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MEVCUT ÇÖZÜMLERLE KARŞILAŞTIRMA</a:t>
            </a:r>
            <a:endParaRPr lang="en-US" dirty="0"/>
          </a:p>
        </p:txBody>
      </p:sp>
      <p:sp>
        <p:nvSpPr>
          <p:cNvPr id="112" name="TextBox 34">
            <a:extLst>
              <a:ext uri="{FF2B5EF4-FFF2-40B4-BE49-F238E27FC236}">
                <a16:creationId xmlns:a16="http://schemas.microsoft.com/office/drawing/2014/main" id="{E0C9AE53-3512-44E0-63B7-D9BCECAFAD18}"/>
              </a:ext>
            </a:extLst>
          </p:cNvPr>
          <p:cNvSpPr txBox="1"/>
          <p:nvPr/>
        </p:nvSpPr>
        <p:spPr>
          <a:xfrm>
            <a:off x="16683289" y="5330207"/>
            <a:ext cx="922351"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YÖNTEM</a:t>
            </a:r>
            <a:endParaRPr lang="en-US" dirty="0"/>
          </a:p>
        </p:txBody>
      </p:sp>
      <p:sp>
        <p:nvSpPr>
          <p:cNvPr id="113" name="TextBox 35">
            <a:extLst>
              <a:ext uri="{FF2B5EF4-FFF2-40B4-BE49-F238E27FC236}">
                <a16:creationId xmlns:a16="http://schemas.microsoft.com/office/drawing/2014/main" id="{5352CFA1-C94B-FDE1-8AEB-35A37BE6AEC2}"/>
              </a:ext>
            </a:extLst>
          </p:cNvPr>
          <p:cNvSpPr txBox="1"/>
          <p:nvPr/>
        </p:nvSpPr>
        <p:spPr>
          <a:xfrm>
            <a:off x="15290180" y="3881113"/>
            <a:ext cx="2332079"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PROBLEMİN TANIMI VE ÖNEMİ</a:t>
            </a:r>
            <a:endParaRPr lang="en-US" dirty="0"/>
          </a:p>
        </p:txBody>
      </p:sp>
      <p:sp>
        <p:nvSpPr>
          <p:cNvPr id="114" name="TextBox 36">
            <a:extLst>
              <a:ext uri="{FF2B5EF4-FFF2-40B4-BE49-F238E27FC236}">
                <a16:creationId xmlns:a16="http://schemas.microsoft.com/office/drawing/2014/main" id="{399FA36D-8454-9543-EE4D-25F5B8169514}"/>
              </a:ext>
            </a:extLst>
          </p:cNvPr>
          <p:cNvSpPr txBox="1"/>
          <p:nvPr/>
        </p:nvSpPr>
        <p:spPr>
          <a:xfrm>
            <a:off x="15914926" y="4670804"/>
            <a:ext cx="1693724"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ÇÖZÜM ÖNERİSİ</a:t>
            </a:r>
            <a:endParaRPr lang="en-US" dirty="0"/>
          </a:p>
        </p:txBody>
      </p:sp>
      <p:sp>
        <p:nvSpPr>
          <p:cNvPr id="115" name="TextBox 38">
            <a:extLst>
              <a:ext uri="{FF2B5EF4-FFF2-40B4-BE49-F238E27FC236}">
                <a16:creationId xmlns:a16="http://schemas.microsoft.com/office/drawing/2014/main" id="{D445E01E-99AD-A7EF-45B2-6B453345C6E6}"/>
              </a:ext>
            </a:extLst>
          </p:cNvPr>
          <p:cNvSpPr txBox="1"/>
          <p:nvPr/>
        </p:nvSpPr>
        <p:spPr>
          <a:xfrm>
            <a:off x="15922231" y="8117798"/>
            <a:ext cx="1693723"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TAKVİMİ</a:t>
            </a:r>
            <a:endParaRPr lang="en-US" dirty="0"/>
          </a:p>
        </p:txBody>
      </p:sp>
      <p:sp>
        <p:nvSpPr>
          <p:cNvPr id="116" name="AutoShape 20">
            <a:extLst>
              <a:ext uri="{FF2B5EF4-FFF2-40B4-BE49-F238E27FC236}">
                <a16:creationId xmlns:a16="http://schemas.microsoft.com/office/drawing/2014/main" id="{9FE28B31-FDA5-A9F5-1D56-06F116F200EF}"/>
              </a:ext>
            </a:extLst>
          </p:cNvPr>
          <p:cNvSpPr/>
          <p:nvPr/>
        </p:nvSpPr>
        <p:spPr>
          <a:xfrm flipV="1">
            <a:off x="17862002" y="1644769"/>
            <a:ext cx="0" cy="7289230"/>
          </a:xfrm>
          <a:prstGeom prst="line">
            <a:avLst/>
          </a:prstGeom>
          <a:ln w="38100" cap="flat">
            <a:solidFill>
              <a:srgbClr val="344C54"/>
            </a:solidFill>
            <a:prstDash val="solid"/>
            <a:headEnd type="none" w="sm" len="sm"/>
            <a:tailEnd type="none" w="sm" len="sm"/>
          </a:ln>
        </p:spPr>
        <p:txBody>
          <a:bodyPr/>
          <a:lstStyle/>
          <a:p>
            <a:endParaRPr lang="tr-TR"/>
          </a:p>
        </p:txBody>
      </p:sp>
      <p:sp>
        <p:nvSpPr>
          <p:cNvPr id="117" name="TextBox 40">
            <a:extLst>
              <a:ext uri="{FF2B5EF4-FFF2-40B4-BE49-F238E27FC236}">
                <a16:creationId xmlns:a16="http://schemas.microsoft.com/office/drawing/2014/main" id="{973320ED-8E40-5A91-0F78-90796BCA6632}"/>
              </a:ext>
            </a:extLst>
          </p:cNvPr>
          <p:cNvSpPr txBox="1"/>
          <p:nvPr/>
        </p:nvSpPr>
        <p:spPr>
          <a:xfrm>
            <a:off x="15099049" y="2568371"/>
            <a:ext cx="2516905"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ÖZETİ, KAPSAMI ve HEDEF KİTLE</a:t>
            </a:r>
            <a:endParaRPr lang="en-US" dirty="0"/>
          </a:p>
        </p:txBody>
      </p:sp>
      <p:sp>
        <p:nvSpPr>
          <p:cNvPr id="118" name="TextBox 42">
            <a:extLst>
              <a:ext uri="{FF2B5EF4-FFF2-40B4-BE49-F238E27FC236}">
                <a16:creationId xmlns:a16="http://schemas.microsoft.com/office/drawing/2014/main" id="{D441E73A-409C-34B6-4F80-378DC64E1604}"/>
              </a:ext>
            </a:extLst>
          </p:cNvPr>
          <p:cNvSpPr txBox="1"/>
          <p:nvPr/>
        </p:nvSpPr>
        <p:spPr>
          <a:xfrm>
            <a:off x="15435222" y="2092314"/>
            <a:ext cx="2174945"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en-US" dirty="0"/>
              <a:t>T</a:t>
            </a:r>
            <a:r>
              <a:rPr lang="tr-TR" dirty="0"/>
              <a:t>AKIM TANITIM</a:t>
            </a:r>
            <a:endParaRPr lang="en-US" dirty="0"/>
          </a:p>
        </p:txBody>
      </p:sp>
      <p:sp>
        <p:nvSpPr>
          <p:cNvPr id="119" name="Freeform 22">
            <a:extLst>
              <a:ext uri="{FF2B5EF4-FFF2-40B4-BE49-F238E27FC236}">
                <a16:creationId xmlns:a16="http://schemas.microsoft.com/office/drawing/2014/main" id="{BFB97ECB-0462-F858-690E-B451D9AE83D0}"/>
              </a:ext>
            </a:extLst>
          </p:cNvPr>
          <p:cNvSpPr/>
          <p:nvPr/>
        </p:nvSpPr>
        <p:spPr>
          <a:xfrm>
            <a:off x="17791146" y="2839736"/>
            <a:ext cx="201784" cy="214667"/>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0" name="TextBox 34">
            <a:extLst>
              <a:ext uri="{FF2B5EF4-FFF2-40B4-BE49-F238E27FC236}">
                <a16:creationId xmlns:a16="http://schemas.microsoft.com/office/drawing/2014/main" id="{CBE7F1B6-2479-25CD-4317-6AB8CC73D000}"/>
              </a:ext>
            </a:extLst>
          </p:cNvPr>
          <p:cNvSpPr txBox="1"/>
          <p:nvPr/>
        </p:nvSpPr>
        <p:spPr>
          <a:xfrm>
            <a:off x="15103346" y="3206954"/>
            <a:ext cx="2505303"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AMACI VE TOPLUMSAL FAYDASI</a:t>
            </a:r>
            <a:endParaRPr lang="en-US" dirty="0"/>
          </a:p>
        </p:txBody>
      </p:sp>
      <p:sp>
        <p:nvSpPr>
          <p:cNvPr id="121" name="TextBox 39">
            <a:extLst>
              <a:ext uri="{FF2B5EF4-FFF2-40B4-BE49-F238E27FC236}">
                <a16:creationId xmlns:a16="http://schemas.microsoft.com/office/drawing/2014/main" id="{490AC814-D77C-A293-C9ED-394B2BA7C1EA}"/>
              </a:ext>
            </a:extLst>
          </p:cNvPr>
          <p:cNvSpPr txBox="1"/>
          <p:nvPr/>
        </p:nvSpPr>
        <p:spPr>
          <a:xfrm>
            <a:off x="15204106" y="5878404"/>
            <a:ext cx="2413247"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PROTOTİP / TASARIM VE İŞLEYİŞİ</a:t>
            </a:r>
            <a:endParaRPr lang="en-US" dirty="0"/>
          </a:p>
        </p:txBody>
      </p:sp>
      <p:sp>
        <p:nvSpPr>
          <p:cNvPr id="122" name="Freeform 96">
            <a:extLst>
              <a:ext uri="{FF2B5EF4-FFF2-40B4-BE49-F238E27FC236}">
                <a16:creationId xmlns:a16="http://schemas.microsoft.com/office/drawing/2014/main" id="{BEA91414-C93E-8991-8C71-1A399B70FA67}"/>
              </a:ext>
            </a:extLst>
          </p:cNvPr>
          <p:cNvSpPr/>
          <p:nvPr/>
        </p:nvSpPr>
        <p:spPr>
          <a:xfrm>
            <a:off x="17389288"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23" name="Freeform 97">
            <a:extLst>
              <a:ext uri="{FF2B5EF4-FFF2-40B4-BE49-F238E27FC236}">
                <a16:creationId xmlns:a16="http://schemas.microsoft.com/office/drawing/2014/main" id="{7C25B3AA-042A-2CB8-AE69-B1DB3E5CEEDD}"/>
              </a:ext>
            </a:extLst>
          </p:cNvPr>
          <p:cNvSpPr/>
          <p:nvPr/>
        </p:nvSpPr>
        <p:spPr>
          <a:xfrm>
            <a:off x="17718785"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24" name="Freeform 96">
            <a:extLst>
              <a:ext uri="{FF2B5EF4-FFF2-40B4-BE49-F238E27FC236}">
                <a16:creationId xmlns:a16="http://schemas.microsoft.com/office/drawing/2014/main" id="{2BE7FCE3-B693-1B4B-7466-11821351D3D5}"/>
              </a:ext>
            </a:extLst>
          </p:cNvPr>
          <p:cNvSpPr/>
          <p:nvPr/>
        </p:nvSpPr>
        <p:spPr>
          <a:xfrm>
            <a:off x="17389287" y="8723804"/>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25" name="Freeform 97">
            <a:extLst>
              <a:ext uri="{FF2B5EF4-FFF2-40B4-BE49-F238E27FC236}">
                <a16:creationId xmlns:a16="http://schemas.microsoft.com/office/drawing/2014/main" id="{E460E7D9-D45F-6240-8C8E-E8E80C5DFC49}"/>
              </a:ext>
            </a:extLst>
          </p:cNvPr>
          <p:cNvSpPr/>
          <p:nvPr/>
        </p:nvSpPr>
        <p:spPr>
          <a:xfrm>
            <a:off x="17711120" y="8761545"/>
            <a:ext cx="295907" cy="344908"/>
          </a:xfrm>
          <a:prstGeom prst="ellipse">
            <a:avLst/>
          </a:prstGeom>
          <a:solidFill>
            <a:srgbClr val="F3A025"/>
          </a:solidFill>
        </p:spPr>
        <p:txBody>
          <a:bodyPr/>
          <a:lstStyle/>
          <a:p>
            <a:endParaRPr lang="tr-TR"/>
          </a:p>
        </p:txBody>
      </p:sp>
      <p:grpSp>
        <p:nvGrpSpPr>
          <p:cNvPr id="126" name="Grup 125">
            <a:extLst>
              <a:ext uri="{FF2B5EF4-FFF2-40B4-BE49-F238E27FC236}">
                <a16:creationId xmlns:a16="http://schemas.microsoft.com/office/drawing/2014/main" id="{1C23F37D-A27B-63C7-C1F7-ADD6579FBBE2}"/>
              </a:ext>
            </a:extLst>
          </p:cNvPr>
          <p:cNvGrpSpPr/>
          <p:nvPr/>
        </p:nvGrpSpPr>
        <p:grpSpPr>
          <a:xfrm>
            <a:off x="17670306" y="2018618"/>
            <a:ext cx="371449" cy="6437321"/>
            <a:chOff x="17566046" y="2111764"/>
            <a:chExt cx="394849" cy="6842841"/>
          </a:xfrm>
        </p:grpSpPr>
        <p:sp>
          <p:nvSpPr>
            <p:cNvPr id="127" name="Freeform 21">
              <a:extLst>
                <a:ext uri="{FF2B5EF4-FFF2-40B4-BE49-F238E27FC236}">
                  <a16:creationId xmlns:a16="http://schemas.microsoft.com/office/drawing/2014/main" id="{023E635D-E00E-C3C8-E656-13E997BE81AD}"/>
                </a:ext>
              </a:extLst>
            </p:cNvPr>
            <p:cNvSpPr/>
            <p:nvPr/>
          </p:nvSpPr>
          <p:spPr>
            <a:xfrm>
              <a:off x="17577504" y="211176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28" name="Freeform 21">
              <a:extLst>
                <a:ext uri="{FF2B5EF4-FFF2-40B4-BE49-F238E27FC236}">
                  <a16:creationId xmlns:a16="http://schemas.microsoft.com/office/drawing/2014/main" id="{1C852CC1-8DFD-2567-D424-4DD39C54A61A}"/>
                </a:ext>
              </a:extLst>
            </p:cNvPr>
            <p:cNvSpPr/>
            <p:nvPr/>
          </p:nvSpPr>
          <p:spPr>
            <a:xfrm>
              <a:off x="17577504" y="276608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29" name="Freeform 21">
              <a:extLst>
                <a:ext uri="{FF2B5EF4-FFF2-40B4-BE49-F238E27FC236}">
                  <a16:creationId xmlns:a16="http://schemas.microsoft.com/office/drawing/2014/main" id="{471E4E46-6F88-8BD4-699B-1F2C57415F9D}"/>
                </a:ext>
              </a:extLst>
            </p:cNvPr>
            <p:cNvSpPr/>
            <p:nvPr/>
          </p:nvSpPr>
          <p:spPr>
            <a:xfrm>
              <a:off x="17577503" y="3443597"/>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0" name="Freeform 21">
              <a:extLst>
                <a:ext uri="{FF2B5EF4-FFF2-40B4-BE49-F238E27FC236}">
                  <a16:creationId xmlns:a16="http://schemas.microsoft.com/office/drawing/2014/main" id="{D35055DA-EE4F-584A-2D71-5A7DD339CEF8}"/>
                </a:ext>
              </a:extLst>
            </p:cNvPr>
            <p:cNvSpPr/>
            <p:nvPr/>
          </p:nvSpPr>
          <p:spPr>
            <a:xfrm>
              <a:off x="17577502" y="416210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1" name="Freeform 21">
              <a:extLst>
                <a:ext uri="{FF2B5EF4-FFF2-40B4-BE49-F238E27FC236}">
                  <a16:creationId xmlns:a16="http://schemas.microsoft.com/office/drawing/2014/main" id="{8EE30D1E-EAC3-E356-E0E8-F32915F47772}"/>
                </a:ext>
              </a:extLst>
            </p:cNvPr>
            <p:cNvSpPr/>
            <p:nvPr/>
          </p:nvSpPr>
          <p:spPr>
            <a:xfrm>
              <a:off x="17577501" y="4857339"/>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2" name="Freeform 21">
              <a:extLst>
                <a:ext uri="{FF2B5EF4-FFF2-40B4-BE49-F238E27FC236}">
                  <a16:creationId xmlns:a16="http://schemas.microsoft.com/office/drawing/2014/main" id="{F5D3A4F7-8116-74A4-FF82-72DC1BB1766C}"/>
                </a:ext>
              </a:extLst>
            </p:cNvPr>
            <p:cNvSpPr/>
            <p:nvPr/>
          </p:nvSpPr>
          <p:spPr>
            <a:xfrm>
              <a:off x="17577500" y="555606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3" name="Freeform 21">
              <a:extLst>
                <a:ext uri="{FF2B5EF4-FFF2-40B4-BE49-F238E27FC236}">
                  <a16:creationId xmlns:a16="http://schemas.microsoft.com/office/drawing/2014/main" id="{226E9458-B86C-EEED-B643-BC653A830CB4}"/>
                </a:ext>
              </a:extLst>
            </p:cNvPr>
            <p:cNvSpPr/>
            <p:nvPr/>
          </p:nvSpPr>
          <p:spPr>
            <a:xfrm>
              <a:off x="17577500" y="6278633"/>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4" name="Freeform 21">
              <a:extLst>
                <a:ext uri="{FF2B5EF4-FFF2-40B4-BE49-F238E27FC236}">
                  <a16:creationId xmlns:a16="http://schemas.microsoft.com/office/drawing/2014/main" id="{834EE046-9472-FC79-0F03-1918F1523F47}"/>
                </a:ext>
              </a:extLst>
            </p:cNvPr>
            <p:cNvSpPr/>
            <p:nvPr/>
          </p:nvSpPr>
          <p:spPr>
            <a:xfrm>
              <a:off x="17575010" y="700119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5" name="Freeform 21">
              <a:extLst>
                <a:ext uri="{FF2B5EF4-FFF2-40B4-BE49-F238E27FC236}">
                  <a16:creationId xmlns:a16="http://schemas.microsoft.com/office/drawing/2014/main" id="{F33D10DE-87F3-8C33-C76E-C6119906B02C}"/>
                </a:ext>
              </a:extLst>
            </p:cNvPr>
            <p:cNvSpPr/>
            <p:nvPr/>
          </p:nvSpPr>
          <p:spPr>
            <a:xfrm>
              <a:off x="17577499" y="775982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6" name="Freeform 21">
              <a:extLst>
                <a:ext uri="{FF2B5EF4-FFF2-40B4-BE49-F238E27FC236}">
                  <a16:creationId xmlns:a16="http://schemas.microsoft.com/office/drawing/2014/main" id="{481321AB-D8EC-DE28-D4D0-23DA86F4C860}"/>
                </a:ext>
              </a:extLst>
            </p:cNvPr>
            <p:cNvSpPr/>
            <p:nvPr/>
          </p:nvSpPr>
          <p:spPr>
            <a:xfrm>
              <a:off x="17566046" y="8520841"/>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grpSp>
      <p:sp>
        <p:nvSpPr>
          <p:cNvPr id="137" name="TextBox 39">
            <a:extLst>
              <a:ext uri="{FF2B5EF4-FFF2-40B4-BE49-F238E27FC236}">
                <a16:creationId xmlns:a16="http://schemas.microsoft.com/office/drawing/2014/main" id="{A89A2FE0-34CA-C54E-7C2C-40B0D9868B55}"/>
              </a:ext>
            </a:extLst>
          </p:cNvPr>
          <p:cNvSpPr txBox="1"/>
          <p:nvPr/>
        </p:nvSpPr>
        <p:spPr>
          <a:xfrm>
            <a:off x="14875224" y="7267389"/>
            <a:ext cx="2740730" cy="53719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defPPr>
              <a:defRPr lang="en-US"/>
            </a:defPPr>
            <a:lvl1pPr algn="r">
              <a:lnSpc>
                <a:spcPts val="2232"/>
              </a:lnSpc>
              <a:defRPr sz="1590">
                <a:solidFill>
                  <a:srgbClr val="1C4C61"/>
                </a:solidFill>
                <a:latin typeface="Aileron Bold"/>
              </a:defRPr>
            </a:lvl1pPr>
          </a:lstStyle>
          <a:p>
            <a:r>
              <a:rPr lang="tr-TR" dirty="0"/>
              <a:t>TİCARİLEŞME POTANSİYELİ VE SÜRDÜRÜLEBİLİRLİK</a:t>
            </a:r>
            <a:endParaRPr lang="en-US" dirty="0"/>
          </a:p>
        </p:txBody>
      </p:sp>
      <p:sp>
        <p:nvSpPr>
          <p:cNvPr id="2" name="TextBox 114">
            <a:extLst>
              <a:ext uri="{FF2B5EF4-FFF2-40B4-BE49-F238E27FC236}">
                <a16:creationId xmlns:a16="http://schemas.microsoft.com/office/drawing/2014/main" id="{0FB12D2E-F5A3-2792-638A-9C6D8F37221C}"/>
              </a:ext>
            </a:extLst>
          </p:cNvPr>
          <p:cNvSpPr txBox="1">
            <a:spLocks/>
          </p:cNvSpPr>
          <p:nvPr/>
        </p:nvSpPr>
        <p:spPr>
          <a:xfrm>
            <a:off x="2884469" y="9504815"/>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a:t>
            </a:r>
            <a:r>
              <a:rPr lang="tr-TR" dirty="0">
                <a:solidFill>
                  <a:srgbClr val="1A426A"/>
                </a:solidFill>
                <a:latin typeface="Active Heart"/>
              </a:rPr>
              <a:t>TARIM TEKNOLOJİLERİ</a:t>
            </a:r>
            <a:r>
              <a:rPr lang="en-US" dirty="0">
                <a:solidFill>
                  <a:srgbClr val="1A426A"/>
                </a:solidFill>
                <a:latin typeface="Active Heart"/>
              </a:rPr>
              <a:t>YARIŞMASI </a:t>
            </a:r>
            <a:endParaRPr lang="tr-TR" dirty="0">
              <a:solidFill>
                <a:srgbClr val="1A426A"/>
              </a:solidFill>
              <a:latin typeface="Active Heart"/>
            </a:endParaRPr>
          </a:p>
          <a:p>
            <a:pPr algn="ctr">
              <a:lnSpc>
                <a:spcPts val="2000"/>
              </a:lnSpc>
              <a:spcBef>
                <a:spcPct val="0"/>
              </a:spcBef>
            </a:pPr>
            <a:r>
              <a:rPr lang="en-US" dirty="0">
                <a:solidFill>
                  <a:srgbClr val="1A426A"/>
                </a:solidFill>
                <a:latin typeface="Active Heart"/>
              </a:rPr>
              <a:t>PROJE SUNUMU</a:t>
            </a:r>
          </a:p>
        </p:txBody>
      </p:sp>
    </p:spTree>
    <p:extLst>
      <p:ext uri="{BB962C8B-B14F-4D97-AF65-F5344CB8AC3E}">
        <p14:creationId xmlns:p14="http://schemas.microsoft.com/office/powerpoint/2010/main" val="2929108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DF2B1-00AC-2B9B-4BEA-5136ACA4440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F523B62-9630-2191-4042-855E790C2C70}"/>
              </a:ext>
            </a:extLst>
          </p:cNvPr>
          <p:cNvSpPr txBox="1">
            <a:spLocks/>
          </p:cNvSpPr>
          <p:nvPr/>
        </p:nvSpPr>
        <p:spPr>
          <a:xfrm>
            <a:off x="2670313" y="251629"/>
            <a:ext cx="12458770"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PROJE TAKVİMİ</a:t>
            </a:r>
            <a:endParaRPr lang="en-US" sz="6399" dirty="0">
              <a:solidFill>
                <a:srgbClr val="1A426A"/>
              </a:solidFill>
              <a:latin typeface="Active Heart"/>
            </a:endParaRPr>
          </a:p>
        </p:txBody>
      </p:sp>
      <p:graphicFrame>
        <p:nvGraphicFramePr>
          <p:cNvPr id="2" name="Tablo 1">
            <a:extLst>
              <a:ext uri="{FF2B5EF4-FFF2-40B4-BE49-F238E27FC236}">
                <a16:creationId xmlns:a16="http://schemas.microsoft.com/office/drawing/2014/main" id="{3A55117C-9F53-93C9-5A96-83A2898FF161}"/>
              </a:ext>
            </a:extLst>
          </p:cNvPr>
          <p:cNvGraphicFramePr>
            <a:graphicFrameLocks noGrp="1"/>
          </p:cNvGraphicFramePr>
          <p:nvPr>
            <p:extLst>
              <p:ext uri="{D42A27DB-BD31-4B8C-83A1-F6EECF244321}">
                <p14:modId xmlns:p14="http://schemas.microsoft.com/office/powerpoint/2010/main" val="3670759993"/>
              </p:ext>
            </p:extLst>
          </p:nvPr>
        </p:nvGraphicFramePr>
        <p:xfrm>
          <a:off x="1903779" y="1740851"/>
          <a:ext cx="13194263" cy="3450290"/>
        </p:xfrm>
        <a:graphic>
          <a:graphicData uri="http://schemas.openxmlformats.org/drawingml/2006/table">
            <a:tbl>
              <a:tblPr firstRow="1" firstCol="1" bandRow="1">
                <a:tableStyleId>{5C22544A-7EE6-4342-B048-85BDC9FD1C3A}</a:tableStyleId>
              </a:tblPr>
              <a:tblGrid>
                <a:gridCol w="1419904">
                  <a:extLst>
                    <a:ext uri="{9D8B030D-6E8A-4147-A177-3AD203B41FA5}">
                      <a16:colId xmlns:a16="http://schemas.microsoft.com/office/drawing/2014/main" val="3651232533"/>
                    </a:ext>
                  </a:extLst>
                </a:gridCol>
                <a:gridCol w="3480614">
                  <a:extLst>
                    <a:ext uri="{9D8B030D-6E8A-4147-A177-3AD203B41FA5}">
                      <a16:colId xmlns:a16="http://schemas.microsoft.com/office/drawing/2014/main" val="286275402"/>
                    </a:ext>
                  </a:extLst>
                </a:gridCol>
                <a:gridCol w="3451480">
                  <a:extLst>
                    <a:ext uri="{9D8B030D-6E8A-4147-A177-3AD203B41FA5}">
                      <a16:colId xmlns:a16="http://schemas.microsoft.com/office/drawing/2014/main" val="1308968788"/>
                    </a:ext>
                  </a:extLst>
                </a:gridCol>
                <a:gridCol w="2392734">
                  <a:extLst>
                    <a:ext uri="{9D8B030D-6E8A-4147-A177-3AD203B41FA5}">
                      <a16:colId xmlns:a16="http://schemas.microsoft.com/office/drawing/2014/main" val="3301012220"/>
                    </a:ext>
                  </a:extLst>
                </a:gridCol>
                <a:gridCol w="2449531">
                  <a:extLst>
                    <a:ext uri="{9D8B030D-6E8A-4147-A177-3AD203B41FA5}">
                      <a16:colId xmlns:a16="http://schemas.microsoft.com/office/drawing/2014/main" val="642288747"/>
                    </a:ext>
                  </a:extLst>
                </a:gridCol>
              </a:tblGrid>
              <a:tr h="819116">
                <a:tc>
                  <a:txBody>
                    <a:bodyPr/>
                    <a:lstStyle/>
                    <a:p>
                      <a:pPr algn="ctr">
                        <a:lnSpc>
                          <a:spcPct val="107000"/>
                        </a:lnSpc>
                        <a:spcAft>
                          <a:spcPts val="800"/>
                        </a:spcAft>
                      </a:pPr>
                      <a:r>
                        <a:rPr lang="tr-TR" sz="1800" kern="100" dirty="0">
                          <a:effectLst/>
                        </a:rPr>
                        <a:t>İş Paketi No</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İŞ PAKETİ ADI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ALT FAALİYETLER</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BAŞLANGIÇ TARİHİ</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BİTİŞ TARİHİ</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extLst>
                  <a:ext uri="{0D108BD9-81ED-4DB2-BD59-A6C34878D82A}">
                    <a16:rowId xmlns:a16="http://schemas.microsoft.com/office/drawing/2014/main" val="40059261"/>
                  </a:ext>
                </a:extLst>
              </a:tr>
              <a:tr h="375882">
                <a:tc>
                  <a:txBody>
                    <a:bodyPr/>
                    <a:lstStyle/>
                    <a:p>
                      <a:pPr algn="ctr">
                        <a:lnSpc>
                          <a:spcPct val="107000"/>
                        </a:lnSpc>
                        <a:spcAft>
                          <a:spcPts val="800"/>
                        </a:spcAft>
                      </a:pPr>
                      <a:r>
                        <a:rPr lang="tr-TR" sz="1800" kern="100" dirty="0">
                          <a:effectLst/>
                        </a:rPr>
                        <a:t>1</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3403083039"/>
                  </a:ext>
                </a:extLst>
              </a:tr>
              <a:tr h="375882">
                <a:tc>
                  <a:txBody>
                    <a:bodyPr/>
                    <a:lstStyle/>
                    <a:p>
                      <a:pPr algn="ctr">
                        <a:lnSpc>
                          <a:spcPct val="107000"/>
                        </a:lnSpc>
                        <a:spcAft>
                          <a:spcPts val="800"/>
                        </a:spcAft>
                      </a:pPr>
                      <a:r>
                        <a:rPr lang="tr-TR" sz="1800" kern="100" dirty="0">
                          <a:effectLst/>
                        </a:rPr>
                        <a:t>2</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08245559"/>
                  </a:ext>
                </a:extLst>
              </a:tr>
              <a:tr h="375882">
                <a:tc>
                  <a:txBody>
                    <a:bodyPr/>
                    <a:lstStyle/>
                    <a:p>
                      <a:pPr algn="ctr">
                        <a:lnSpc>
                          <a:spcPct val="107000"/>
                        </a:lnSpc>
                        <a:spcAft>
                          <a:spcPts val="800"/>
                        </a:spcAft>
                      </a:pPr>
                      <a:r>
                        <a:rPr lang="tr-TR" sz="1800" kern="100" dirty="0">
                          <a:effectLst/>
                        </a:rPr>
                        <a:t>3</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889250296"/>
                  </a:ext>
                </a:extLst>
              </a:tr>
              <a:tr h="375882">
                <a:tc>
                  <a:txBody>
                    <a:bodyPr/>
                    <a:lstStyle/>
                    <a:p>
                      <a:pPr algn="ctr">
                        <a:lnSpc>
                          <a:spcPct val="107000"/>
                        </a:lnSpc>
                        <a:spcAft>
                          <a:spcPts val="800"/>
                        </a:spcAft>
                      </a:pPr>
                      <a:r>
                        <a:rPr lang="tr-TR" sz="1800" kern="100" dirty="0">
                          <a:effectLst/>
                        </a:rPr>
                        <a:t>4</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2101133"/>
                  </a:ext>
                </a:extLst>
              </a:tr>
              <a:tr h="375882">
                <a:tc>
                  <a:txBody>
                    <a:bodyPr/>
                    <a:lstStyle/>
                    <a:p>
                      <a:pPr algn="ctr">
                        <a:lnSpc>
                          <a:spcPct val="107000"/>
                        </a:lnSpc>
                        <a:spcAft>
                          <a:spcPts val="800"/>
                        </a:spcAft>
                      </a:pPr>
                      <a:r>
                        <a:rPr lang="tr-TR" sz="1800" kern="100" dirty="0">
                          <a:effectLst/>
                        </a:rPr>
                        <a:t>5</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159154711"/>
                  </a:ext>
                </a:extLst>
              </a:tr>
              <a:tr h="375882">
                <a:tc>
                  <a:txBody>
                    <a:bodyPr/>
                    <a:lstStyle/>
                    <a:p>
                      <a:pPr algn="ctr">
                        <a:lnSpc>
                          <a:spcPct val="107000"/>
                        </a:lnSpc>
                        <a:spcAft>
                          <a:spcPts val="800"/>
                        </a:spcAft>
                      </a:pPr>
                      <a:r>
                        <a:rPr lang="tr-TR" sz="1800" kern="100" dirty="0">
                          <a:effectLst/>
                        </a:rPr>
                        <a:t>6</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9381981"/>
                  </a:ext>
                </a:extLst>
              </a:tr>
              <a:tr h="375882">
                <a:tc>
                  <a:txBody>
                    <a:bodyPr/>
                    <a:lstStyle/>
                    <a:p>
                      <a:pPr algn="ctr">
                        <a:lnSpc>
                          <a:spcPct val="107000"/>
                        </a:lnSpc>
                        <a:spcAft>
                          <a:spcPts val="800"/>
                        </a:spcAft>
                      </a:pPr>
                      <a:r>
                        <a:rPr lang="tr-TR" sz="1800" kern="100" dirty="0">
                          <a:effectLst/>
                        </a:rPr>
                        <a:t>7</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1602613127"/>
                  </a:ext>
                </a:extLst>
              </a:tr>
            </a:tbl>
          </a:graphicData>
        </a:graphic>
      </p:graphicFrame>
      <p:sp>
        <p:nvSpPr>
          <p:cNvPr id="3" name="Metin kutusu 2">
            <a:extLst>
              <a:ext uri="{FF2B5EF4-FFF2-40B4-BE49-F238E27FC236}">
                <a16:creationId xmlns:a16="http://schemas.microsoft.com/office/drawing/2014/main" id="{BF6B0DCC-A007-45D8-663A-A1D498CB3377}"/>
              </a:ext>
            </a:extLst>
          </p:cNvPr>
          <p:cNvSpPr txBox="1"/>
          <p:nvPr/>
        </p:nvSpPr>
        <p:spPr>
          <a:xfrm>
            <a:off x="1509729" y="5820370"/>
            <a:ext cx="12886166" cy="923330"/>
          </a:xfrm>
          <a:prstGeom prst="rect">
            <a:avLst/>
          </a:prstGeom>
          <a:noFill/>
        </p:spPr>
        <p:txBody>
          <a:bodyPr wrap="square">
            <a:spAutoFit/>
          </a:bodyPr>
          <a:lstStyle/>
          <a:p>
            <a:r>
              <a:rPr lang="tr-TR" sz="1800" dirty="0">
                <a:solidFill>
                  <a:srgbClr val="EE0000"/>
                </a:solidFill>
                <a:effectLst/>
                <a:latin typeface="Arial" panose="020B0604020202020204" pitchFamily="34" charset="0"/>
                <a:ea typeface="Aptos" panose="020B0004020202020204" pitchFamily="34" charset="0"/>
              </a:rPr>
              <a:t>Proje kapsamında iş paketleri alt faaliyetleri ile birlikte detaylı, açık belirlenmiş ve gerçekçi olmalıdır. Görsel açıdan anlaşılır ve düzenli bir tablo kullanılmalıdır, örnek tablo yukarıda yer almaktadır. Paylaşılacak bilgiler yalnızca iş paketi detaylarına ve proje içeriğine odaklanmalı ve gerçekçi olmalıdır. </a:t>
            </a:r>
            <a:endParaRPr lang="tr-TR" dirty="0">
              <a:solidFill>
                <a:srgbClr val="EE0000"/>
              </a:solidFill>
            </a:endParaRPr>
          </a:p>
        </p:txBody>
      </p:sp>
      <p:sp>
        <p:nvSpPr>
          <p:cNvPr id="4" name="Metin kutusu 3">
            <a:extLst>
              <a:ext uri="{FF2B5EF4-FFF2-40B4-BE49-F238E27FC236}">
                <a16:creationId xmlns:a16="http://schemas.microsoft.com/office/drawing/2014/main" id="{AD2D56BF-FB7D-5941-C02C-497AB3C6CB30}"/>
              </a:ext>
            </a:extLst>
          </p:cNvPr>
          <p:cNvSpPr txBox="1"/>
          <p:nvPr/>
        </p:nvSpPr>
        <p:spPr>
          <a:xfrm>
            <a:off x="1471059" y="6812851"/>
            <a:ext cx="12886166" cy="1766702"/>
          </a:xfrm>
          <a:prstGeom prst="rect">
            <a:avLst/>
          </a:prstGeom>
          <a:noFill/>
        </p:spPr>
        <p:txBody>
          <a:bodyPr wrap="square">
            <a:spAutoFit/>
          </a:bodyPr>
          <a:lstStyle/>
          <a:p>
            <a:pPr algn="just">
              <a:lnSpc>
                <a:spcPct val="107000"/>
              </a:lnSpc>
              <a:spcAft>
                <a:spcPts val="800"/>
              </a:spcAft>
            </a:pP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Tabloda yer alan </a:t>
            </a: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iş paketi</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 ve </a:t>
            </a: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alt faaliyetlerin </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tanımı;</a:t>
            </a:r>
            <a:endParaRPr lang="tr-TR" sz="1600"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İş Paketi:</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 Bir projede belirli bir hedefe ulaşmak için yapılan, tamamlandığında net bir sonuç ortaya koyan ve genellikle belirli bir zaman, bütçe ve kaynakla sınırlı olan bağımsız bir görevler grubudur.</a:t>
            </a:r>
            <a:endParaRPr lang="tr-TR" sz="1600"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Alt Faaliyet:</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 İş paketine bağlı daha küçük, daha detaylı görevler veya aktiviteler olarak tanımlanır. Alt faaliyetler, iş paketini tamamlamak için gereken adımların alt kırılımlarıdır ve genellikle daha kısa süreli ve daha spesifik görevlerdir.</a:t>
            </a:r>
            <a:endParaRPr lang="tr-TR" sz="1600"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Metin kutusu 4">
            <a:extLst>
              <a:ext uri="{FF2B5EF4-FFF2-40B4-BE49-F238E27FC236}">
                <a16:creationId xmlns:a16="http://schemas.microsoft.com/office/drawing/2014/main" id="{AA2D619B-C5D8-E82E-AD33-72CCFBF61F41}"/>
              </a:ext>
            </a:extLst>
          </p:cNvPr>
          <p:cNvSpPr txBox="1"/>
          <p:nvPr/>
        </p:nvSpPr>
        <p:spPr>
          <a:xfrm>
            <a:off x="1461091" y="5357628"/>
            <a:ext cx="9198590" cy="385875"/>
          </a:xfrm>
          <a:prstGeom prst="rect">
            <a:avLst/>
          </a:prstGeom>
          <a:noFill/>
        </p:spPr>
        <p:txBody>
          <a:bodyPr wrap="square">
            <a:spAutoFit/>
          </a:bodyPr>
          <a:lstStyle/>
          <a:p>
            <a:pPr marL="388620" lvl="1" indent="-194310" algn="l">
              <a:lnSpc>
                <a:spcPts val="2520"/>
              </a:lnSpc>
              <a:buFont typeface="Arial"/>
              <a:buChar char="•"/>
            </a:pPr>
            <a:r>
              <a:rPr lang="tr-TR" sz="1800" dirty="0">
                <a:solidFill>
                  <a:srgbClr val="FF0000"/>
                </a:solidFill>
                <a:latin typeface="Aileron Bold Italics"/>
              </a:rPr>
              <a:t>Proje Takvimi </a:t>
            </a:r>
            <a:r>
              <a:rPr lang="en-US" sz="1800" u="sng" dirty="0" err="1">
                <a:solidFill>
                  <a:srgbClr val="FF0000"/>
                </a:solidFill>
                <a:latin typeface="Aileron Bold Italics"/>
              </a:rPr>
              <a:t>en</a:t>
            </a:r>
            <a:r>
              <a:rPr lang="en-US" sz="1800" u="sng" dirty="0">
                <a:solidFill>
                  <a:srgbClr val="FF0000"/>
                </a:solidFill>
                <a:latin typeface="Aileron Bold Italics"/>
              </a:rPr>
              <a:t> </a:t>
            </a:r>
            <a:r>
              <a:rPr lang="en-US" sz="1800" u="sng" dirty="0" err="1">
                <a:solidFill>
                  <a:srgbClr val="FF0000"/>
                </a:solidFill>
                <a:latin typeface="Aileron Bold Italics"/>
              </a:rPr>
              <a:t>fazla</a:t>
            </a:r>
            <a:r>
              <a:rPr lang="en-US" sz="1800" u="sng" dirty="0">
                <a:solidFill>
                  <a:srgbClr val="FF0000"/>
                </a:solidFill>
                <a:latin typeface="Aileron Bold Italics"/>
              </a:rPr>
              <a:t> </a:t>
            </a:r>
            <a:r>
              <a:rPr lang="tr-TR" u="sng" dirty="0">
                <a:solidFill>
                  <a:srgbClr val="FF0000"/>
                </a:solidFill>
                <a:latin typeface="Aileron Bold"/>
              </a:rPr>
              <a:t>1</a:t>
            </a:r>
            <a:r>
              <a:rPr lang="tr-TR" sz="1800" dirty="0">
                <a:solidFill>
                  <a:srgbClr val="FF0000"/>
                </a:solidFill>
                <a:latin typeface="Aileron Bold"/>
              </a:rPr>
              <a:t> </a:t>
            </a:r>
            <a:r>
              <a:rPr lang="en-US" sz="1800" dirty="0">
                <a:solidFill>
                  <a:srgbClr val="FF0000"/>
                </a:solidFill>
                <a:latin typeface="Aileron Bold"/>
              </a:rPr>
              <a:t>(</a:t>
            </a:r>
            <a:r>
              <a:rPr lang="tr-TR" sz="1800" dirty="0">
                <a:solidFill>
                  <a:srgbClr val="FF0000"/>
                </a:solidFill>
                <a:latin typeface="Aileron Bold"/>
              </a:rPr>
              <a:t>bir</a:t>
            </a:r>
            <a:r>
              <a:rPr lang="en-US" sz="1800" dirty="0">
                <a:solidFill>
                  <a:srgbClr val="FF0000"/>
                </a:solidFill>
                <a:latin typeface="Aileron Bold"/>
              </a:rPr>
              <a:t>) </a:t>
            </a:r>
            <a:r>
              <a:rPr lang="en-US" sz="1800" dirty="0" err="1">
                <a:solidFill>
                  <a:srgbClr val="FF0000"/>
                </a:solidFill>
                <a:latin typeface="Aileron Bold"/>
              </a:rPr>
              <a:t>sayfad</a:t>
            </a:r>
            <a:r>
              <a:rPr lang="tr-TR" sz="1800" dirty="0">
                <a:solidFill>
                  <a:srgbClr val="FF0000"/>
                </a:solidFill>
                <a:latin typeface="Aileron Bold"/>
              </a:rPr>
              <a:t>a açıklanmalıdır</a:t>
            </a:r>
            <a:r>
              <a:rPr lang="en-US" sz="1800" dirty="0">
                <a:solidFill>
                  <a:srgbClr val="FF0000"/>
                </a:solidFill>
                <a:latin typeface="Aileron Bold"/>
              </a:rPr>
              <a:t>. </a:t>
            </a:r>
            <a:r>
              <a:rPr lang="en-US" sz="1800" u="sng" dirty="0" err="1">
                <a:solidFill>
                  <a:srgbClr val="FF0000"/>
                </a:solidFill>
                <a:latin typeface="Aileron Bold"/>
              </a:rPr>
              <a:t>Sayfa</a:t>
            </a:r>
            <a:r>
              <a:rPr lang="en-US" sz="1800" u="sng" dirty="0">
                <a:solidFill>
                  <a:srgbClr val="FF0000"/>
                </a:solidFill>
                <a:latin typeface="Aileron Bold"/>
              </a:rPr>
              <a:t> </a:t>
            </a:r>
            <a:r>
              <a:rPr lang="en-US" sz="1800" u="sng" dirty="0" err="1">
                <a:solidFill>
                  <a:srgbClr val="FF0000"/>
                </a:solidFill>
                <a:latin typeface="Aileron Bold"/>
              </a:rPr>
              <a:t>sınırı</a:t>
            </a:r>
            <a:r>
              <a:rPr lang="en-US" sz="1800" u="sng" dirty="0">
                <a:solidFill>
                  <a:srgbClr val="FF0000"/>
                </a:solidFill>
                <a:latin typeface="Aileron Bold"/>
              </a:rPr>
              <a:t> </a:t>
            </a:r>
            <a:r>
              <a:rPr lang="en-US" sz="1800" dirty="0" err="1">
                <a:solidFill>
                  <a:srgbClr val="FF0000"/>
                </a:solidFill>
                <a:latin typeface="Aileron Bold"/>
              </a:rPr>
              <a:t>aşılmamalıdır</a:t>
            </a:r>
            <a:r>
              <a:rPr lang="en-US" sz="1800" dirty="0">
                <a:solidFill>
                  <a:srgbClr val="FF0000"/>
                </a:solidFill>
                <a:latin typeface="Aileron Bold"/>
              </a:rPr>
              <a:t>. </a:t>
            </a:r>
          </a:p>
        </p:txBody>
      </p:sp>
      <p:sp>
        <p:nvSpPr>
          <p:cNvPr id="129" name="TextBox 39">
            <a:extLst>
              <a:ext uri="{FF2B5EF4-FFF2-40B4-BE49-F238E27FC236}">
                <a16:creationId xmlns:a16="http://schemas.microsoft.com/office/drawing/2014/main" id="{CB521DD3-A055-6EC9-F61E-6E92D0782ABF}"/>
              </a:ext>
            </a:extLst>
          </p:cNvPr>
          <p:cNvSpPr txBox="1"/>
          <p:nvPr/>
        </p:nvSpPr>
        <p:spPr>
          <a:xfrm>
            <a:off x="14875224" y="6556090"/>
            <a:ext cx="2740730" cy="539443"/>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MEVCUT ÇÖZÜMLERLE KARŞILAŞTIRMA</a:t>
            </a:r>
            <a:endParaRPr lang="en-US" dirty="0"/>
          </a:p>
        </p:txBody>
      </p:sp>
      <p:sp>
        <p:nvSpPr>
          <p:cNvPr id="130" name="TextBox 34">
            <a:extLst>
              <a:ext uri="{FF2B5EF4-FFF2-40B4-BE49-F238E27FC236}">
                <a16:creationId xmlns:a16="http://schemas.microsoft.com/office/drawing/2014/main" id="{C37C50C9-8A3F-914D-727E-7288FBB668BE}"/>
              </a:ext>
            </a:extLst>
          </p:cNvPr>
          <p:cNvSpPr txBox="1"/>
          <p:nvPr/>
        </p:nvSpPr>
        <p:spPr>
          <a:xfrm>
            <a:off x="16683289" y="5330207"/>
            <a:ext cx="922351"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YÖNTEM</a:t>
            </a:r>
            <a:endParaRPr lang="en-US" dirty="0"/>
          </a:p>
        </p:txBody>
      </p:sp>
      <p:sp>
        <p:nvSpPr>
          <p:cNvPr id="131" name="TextBox 35">
            <a:extLst>
              <a:ext uri="{FF2B5EF4-FFF2-40B4-BE49-F238E27FC236}">
                <a16:creationId xmlns:a16="http://schemas.microsoft.com/office/drawing/2014/main" id="{C1D0092F-61C4-AA63-7D3D-4D671E4C9F2B}"/>
              </a:ext>
            </a:extLst>
          </p:cNvPr>
          <p:cNvSpPr txBox="1"/>
          <p:nvPr/>
        </p:nvSpPr>
        <p:spPr>
          <a:xfrm>
            <a:off x="15290180" y="3881113"/>
            <a:ext cx="2332079"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PROBLEMİN TANIMI VE ÖNEMİ</a:t>
            </a:r>
            <a:endParaRPr lang="en-US" dirty="0"/>
          </a:p>
        </p:txBody>
      </p:sp>
      <p:sp>
        <p:nvSpPr>
          <p:cNvPr id="132" name="TextBox 36">
            <a:extLst>
              <a:ext uri="{FF2B5EF4-FFF2-40B4-BE49-F238E27FC236}">
                <a16:creationId xmlns:a16="http://schemas.microsoft.com/office/drawing/2014/main" id="{BEEBC917-FEDA-FCE4-73BC-231420BBF134}"/>
              </a:ext>
            </a:extLst>
          </p:cNvPr>
          <p:cNvSpPr txBox="1"/>
          <p:nvPr/>
        </p:nvSpPr>
        <p:spPr>
          <a:xfrm>
            <a:off x="15914926" y="4670804"/>
            <a:ext cx="1693724"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ÇÖZÜM ÖNERİSİ</a:t>
            </a:r>
            <a:endParaRPr lang="en-US" dirty="0"/>
          </a:p>
        </p:txBody>
      </p:sp>
      <p:sp>
        <p:nvSpPr>
          <p:cNvPr id="133" name="TextBox 38">
            <a:extLst>
              <a:ext uri="{FF2B5EF4-FFF2-40B4-BE49-F238E27FC236}">
                <a16:creationId xmlns:a16="http://schemas.microsoft.com/office/drawing/2014/main" id="{98E166B2-4269-E4D8-A7A8-5B4726F5B73F}"/>
              </a:ext>
            </a:extLst>
          </p:cNvPr>
          <p:cNvSpPr txBox="1"/>
          <p:nvPr/>
        </p:nvSpPr>
        <p:spPr>
          <a:xfrm>
            <a:off x="15922231" y="8117798"/>
            <a:ext cx="1693723" cy="25859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defPPr>
              <a:defRPr lang="en-US"/>
            </a:defPPr>
            <a:lvl1pPr algn="r">
              <a:lnSpc>
                <a:spcPts val="2232"/>
              </a:lnSpc>
              <a:defRPr sz="1590">
                <a:solidFill>
                  <a:srgbClr val="1C4C61"/>
                </a:solidFill>
                <a:latin typeface="Aileron Bold"/>
              </a:defRPr>
            </a:lvl1pPr>
          </a:lstStyle>
          <a:p>
            <a:r>
              <a:rPr lang="tr-TR"/>
              <a:t>PROJE TAKVİMİ</a:t>
            </a:r>
            <a:endParaRPr lang="en-US" dirty="0"/>
          </a:p>
        </p:txBody>
      </p:sp>
      <p:sp>
        <p:nvSpPr>
          <p:cNvPr id="134" name="AutoShape 20">
            <a:extLst>
              <a:ext uri="{FF2B5EF4-FFF2-40B4-BE49-F238E27FC236}">
                <a16:creationId xmlns:a16="http://schemas.microsoft.com/office/drawing/2014/main" id="{5DF85938-9FF7-365E-DB22-4E39EB0F0951}"/>
              </a:ext>
            </a:extLst>
          </p:cNvPr>
          <p:cNvSpPr/>
          <p:nvPr/>
        </p:nvSpPr>
        <p:spPr>
          <a:xfrm flipV="1">
            <a:off x="17862002" y="1644769"/>
            <a:ext cx="0" cy="7289230"/>
          </a:xfrm>
          <a:prstGeom prst="line">
            <a:avLst/>
          </a:prstGeom>
          <a:ln w="38100" cap="flat">
            <a:solidFill>
              <a:srgbClr val="344C54"/>
            </a:solidFill>
            <a:prstDash val="solid"/>
            <a:headEnd type="none" w="sm" len="sm"/>
            <a:tailEnd type="none" w="sm" len="sm"/>
          </a:ln>
        </p:spPr>
        <p:txBody>
          <a:bodyPr/>
          <a:lstStyle/>
          <a:p>
            <a:endParaRPr lang="tr-TR"/>
          </a:p>
        </p:txBody>
      </p:sp>
      <p:sp>
        <p:nvSpPr>
          <p:cNvPr id="135" name="TextBox 40">
            <a:extLst>
              <a:ext uri="{FF2B5EF4-FFF2-40B4-BE49-F238E27FC236}">
                <a16:creationId xmlns:a16="http://schemas.microsoft.com/office/drawing/2014/main" id="{BD0B25D8-B864-700E-75BA-8665A53F5287}"/>
              </a:ext>
            </a:extLst>
          </p:cNvPr>
          <p:cNvSpPr txBox="1"/>
          <p:nvPr/>
        </p:nvSpPr>
        <p:spPr>
          <a:xfrm>
            <a:off x="15099049" y="2568371"/>
            <a:ext cx="2516905" cy="540725"/>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ÖZETİ, KAPSAMI ve HEDEF KİTLE</a:t>
            </a:r>
            <a:endParaRPr lang="en-US" dirty="0"/>
          </a:p>
        </p:txBody>
      </p:sp>
      <p:sp>
        <p:nvSpPr>
          <p:cNvPr id="136" name="TextBox 42">
            <a:extLst>
              <a:ext uri="{FF2B5EF4-FFF2-40B4-BE49-F238E27FC236}">
                <a16:creationId xmlns:a16="http://schemas.microsoft.com/office/drawing/2014/main" id="{31552E00-35AB-90CD-4F30-755880F704A6}"/>
              </a:ext>
            </a:extLst>
          </p:cNvPr>
          <p:cNvSpPr txBox="1"/>
          <p:nvPr/>
        </p:nvSpPr>
        <p:spPr>
          <a:xfrm>
            <a:off x="15435222" y="2092314"/>
            <a:ext cx="2174945" cy="258597"/>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en-US" dirty="0"/>
              <a:t>T</a:t>
            </a:r>
            <a:r>
              <a:rPr lang="tr-TR" dirty="0"/>
              <a:t>AKIM TANITIM</a:t>
            </a:r>
            <a:endParaRPr lang="en-US" dirty="0"/>
          </a:p>
        </p:txBody>
      </p:sp>
      <p:sp>
        <p:nvSpPr>
          <p:cNvPr id="137" name="Freeform 22">
            <a:extLst>
              <a:ext uri="{FF2B5EF4-FFF2-40B4-BE49-F238E27FC236}">
                <a16:creationId xmlns:a16="http://schemas.microsoft.com/office/drawing/2014/main" id="{68CC6E93-B036-9292-A6E7-BC9451EF297E}"/>
              </a:ext>
            </a:extLst>
          </p:cNvPr>
          <p:cNvSpPr/>
          <p:nvPr/>
        </p:nvSpPr>
        <p:spPr>
          <a:xfrm>
            <a:off x="17791146" y="2839736"/>
            <a:ext cx="201784" cy="214667"/>
          </a:xfrm>
          <a:custGeom>
            <a:avLst/>
            <a:gdLst/>
            <a:ahLst/>
            <a:cxnLst/>
            <a:rect l="l" t="t" r="r" b="b"/>
            <a:pathLst>
              <a:path w="194553" h="194553">
                <a:moveTo>
                  <a:pt x="0" y="0"/>
                </a:moveTo>
                <a:lnTo>
                  <a:pt x="194553" y="0"/>
                </a:lnTo>
                <a:lnTo>
                  <a:pt x="194553" y="194554"/>
                </a:lnTo>
                <a:lnTo>
                  <a:pt x="0" y="1945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138" name="TextBox 34">
            <a:extLst>
              <a:ext uri="{FF2B5EF4-FFF2-40B4-BE49-F238E27FC236}">
                <a16:creationId xmlns:a16="http://schemas.microsoft.com/office/drawing/2014/main" id="{21CB1B20-1404-16BA-5260-9CBA5F7E63B1}"/>
              </a:ext>
            </a:extLst>
          </p:cNvPr>
          <p:cNvSpPr txBox="1"/>
          <p:nvPr/>
        </p:nvSpPr>
        <p:spPr>
          <a:xfrm>
            <a:off x="15103346" y="3206954"/>
            <a:ext cx="2505303"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PROJE AMACI VE TOPLUMSAL FAYDASI</a:t>
            </a:r>
            <a:endParaRPr lang="en-US" dirty="0"/>
          </a:p>
        </p:txBody>
      </p:sp>
      <p:sp>
        <p:nvSpPr>
          <p:cNvPr id="139" name="TextBox 39">
            <a:extLst>
              <a:ext uri="{FF2B5EF4-FFF2-40B4-BE49-F238E27FC236}">
                <a16:creationId xmlns:a16="http://schemas.microsoft.com/office/drawing/2014/main" id="{78CC411C-E26C-87C9-E14E-155F794B6CD3}"/>
              </a:ext>
            </a:extLst>
          </p:cNvPr>
          <p:cNvSpPr txBox="1"/>
          <p:nvPr/>
        </p:nvSpPr>
        <p:spPr>
          <a:xfrm>
            <a:off x="15204106" y="5878404"/>
            <a:ext cx="2413247"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PROTOTİP / TASARIM VE İŞLEYİŞİ</a:t>
            </a:r>
            <a:endParaRPr lang="en-US" dirty="0"/>
          </a:p>
        </p:txBody>
      </p:sp>
      <p:sp>
        <p:nvSpPr>
          <p:cNvPr id="140" name="Freeform 96">
            <a:extLst>
              <a:ext uri="{FF2B5EF4-FFF2-40B4-BE49-F238E27FC236}">
                <a16:creationId xmlns:a16="http://schemas.microsoft.com/office/drawing/2014/main" id="{7D2F3034-6C72-AC5C-F971-D9C94345A4DC}"/>
              </a:ext>
            </a:extLst>
          </p:cNvPr>
          <p:cNvSpPr/>
          <p:nvPr/>
        </p:nvSpPr>
        <p:spPr>
          <a:xfrm>
            <a:off x="17389288"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1" name="Freeform 97">
            <a:extLst>
              <a:ext uri="{FF2B5EF4-FFF2-40B4-BE49-F238E27FC236}">
                <a16:creationId xmlns:a16="http://schemas.microsoft.com/office/drawing/2014/main" id="{4C151361-8CC3-AEBE-2160-075AA5CC5988}"/>
              </a:ext>
            </a:extLst>
          </p:cNvPr>
          <p:cNvSpPr/>
          <p:nvPr/>
        </p:nvSpPr>
        <p:spPr>
          <a:xfrm>
            <a:off x="17718785" y="1485900"/>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42" name="Freeform 96">
            <a:extLst>
              <a:ext uri="{FF2B5EF4-FFF2-40B4-BE49-F238E27FC236}">
                <a16:creationId xmlns:a16="http://schemas.microsoft.com/office/drawing/2014/main" id="{97DBAED5-9E32-C5A4-C46C-2F19D08A482F}"/>
              </a:ext>
            </a:extLst>
          </p:cNvPr>
          <p:cNvSpPr/>
          <p:nvPr/>
        </p:nvSpPr>
        <p:spPr>
          <a:xfrm>
            <a:off x="17389287" y="8723804"/>
            <a:ext cx="295907" cy="344908"/>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3" name="Freeform 97">
            <a:extLst>
              <a:ext uri="{FF2B5EF4-FFF2-40B4-BE49-F238E27FC236}">
                <a16:creationId xmlns:a16="http://schemas.microsoft.com/office/drawing/2014/main" id="{6AFA147E-F818-3E27-0A93-A6A70631D027}"/>
              </a:ext>
            </a:extLst>
          </p:cNvPr>
          <p:cNvSpPr/>
          <p:nvPr/>
        </p:nvSpPr>
        <p:spPr>
          <a:xfrm>
            <a:off x="17711120" y="8761545"/>
            <a:ext cx="295907" cy="344908"/>
          </a:xfrm>
          <a:prstGeom prst="ellipse">
            <a:avLst/>
          </a:prstGeom>
          <a:solidFill>
            <a:srgbClr val="F3A025"/>
          </a:solidFill>
        </p:spPr>
        <p:txBody>
          <a:bodyPr/>
          <a:lstStyle/>
          <a:p>
            <a:endParaRPr lang="tr-TR"/>
          </a:p>
        </p:txBody>
      </p:sp>
      <p:grpSp>
        <p:nvGrpSpPr>
          <p:cNvPr id="144" name="Grup 143">
            <a:extLst>
              <a:ext uri="{FF2B5EF4-FFF2-40B4-BE49-F238E27FC236}">
                <a16:creationId xmlns:a16="http://schemas.microsoft.com/office/drawing/2014/main" id="{1057416A-824C-8088-4975-60D19DA7BA63}"/>
              </a:ext>
            </a:extLst>
          </p:cNvPr>
          <p:cNvGrpSpPr/>
          <p:nvPr/>
        </p:nvGrpSpPr>
        <p:grpSpPr>
          <a:xfrm>
            <a:off x="17670306" y="2018618"/>
            <a:ext cx="371449" cy="6437321"/>
            <a:chOff x="17566046" y="2111764"/>
            <a:chExt cx="394849" cy="6842841"/>
          </a:xfrm>
        </p:grpSpPr>
        <p:sp>
          <p:nvSpPr>
            <p:cNvPr id="145" name="Freeform 21">
              <a:extLst>
                <a:ext uri="{FF2B5EF4-FFF2-40B4-BE49-F238E27FC236}">
                  <a16:creationId xmlns:a16="http://schemas.microsoft.com/office/drawing/2014/main" id="{D2312D82-AD33-1CA9-8A0A-64116293474F}"/>
                </a:ext>
              </a:extLst>
            </p:cNvPr>
            <p:cNvSpPr/>
            <p:nvPr/>
          </p:nvSpPr>
          <p:spPr>
            <a:xfrm>
              <a:off x="17577504" y="211176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46" name="Freeform 21">
              <a:extLst>
                <a:ext uri="{FF2B5EF4-FFF2-40B4-BE49-F238E27FC236}">
                  <a16:creationId xmlns:a16="http://schemas.microsoft.com/office/drawing/2014/main" id="{4274527D-595A-F772-A585-DE14B7850C26}"/>
                </a:ext>
              </a:extLst>
            </p:cNvPr>
            <p:cNvSpPr/>
            <p:nvPr/>
          </p:nvSpPr>
          <p:spPr>
            <a:xfrm>
              <a:off x="17577504" y="2766084"/>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47" name="Freeform 21">
              <a:extLst>
                <a:ext uri="{FF2B5EF4-FFF2-40B4-BE49-F238E27FC236}">
                  <a16:creationId xmlns:a16="http://schemas.microsoft.com/office/drawing/2014/main" id="{AEFFFA67-544E-913C-90F4-7C6307945718}"/>
                </a:ext>
              </a:extLst>
            </p:cNvPr>
            <p:cNvSpPr/>
            <p:nvPr/>
          </p:nvSpPr>
          <p:spPr>
            <a:xfrm>
              <a:off x="17577503" y="3443597"/>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48" name="Freeform 21">
              <a:extLst>
                <a:ext uri="{FF2B5EF4-FFF2-40B4-BE49-F238E27FC236}">
                  <a16:creationId xmlns:a16="http://schemas.microsoft.com/office/drawing/2014/main" id="{2BBE9ACF-8480-3EE7-7C12-D286365B01FD}"/>
                </a:ext>
              </a:extLst>
            </p:cNvPr>
            <p:cNvSpPr/>
            <p:nvPr/>
          </p:nvSpPr>
          <p:spPr>
            <a:xfrm>
              <a:off x="17577502" y="416210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49" name="Freeform 21">
              <a:extLst>
                <a:ext uri="{FF2B5EF4-FFF2-40B4-BE49-F238E27FC236}">
                  <a16:creationId xmlns:a16="http://schemas.microsoft.com/office/drawing/2014/main" id="{720F7982-B298-FD13-C420-03977B9D0605}"/>
                </a:ext>
              </a:extLst>
            </p:cNvPr>
            <p:cNvSpPr/>
            <p:nvPr/>
          </p:nvSpPr>
          <p:spPr>
            <a:xfrm>
              <a:off x="17577501" y="4857339"/>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50" name="Freeform 21">
              <a:extLst>
                <a:ext uri="{FF2B5EF4-FFF2-40B4-BE49-F238E27FC236}">
                  <a16:creationId xmlns:a16="http://schemas.microsoft.com/office/drawing/2014/main" id="{32541C13-7104-9954-28BF-C00DD8E31F9B}"/>
                </a:ext>
              </a:extLst>
            </p:cNvPr>
            <p:cNvSpPr/>
            <p:nvPr/>
          </p:nvSpPr>
          <p:spPr>
            <a:xfrm>
              <a:off x="17577500" y="555606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51" name="Freeform 21">
              <a:extLst>
                <a:ext uri="{FF2B5EF4-FFF2-40B4-BE49-F238E27FC236}">
                  <a16:creationId xmlns:a16="http://schemas.microsoft.com/office/drawing/2014/main" id="{2DD79895-EB36-5581-EF09-DBA2B2FFCF05}"/>
                </a:ext>
              </a:extLst>
            </p:cNvPr>
            <p:cNvSpPr/>
            <p:nvPr/>
          </p:nvSpPr>
          <p:spPr>
            <a:xfrm>
              <a:off x="17577500" y="6278633"/>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52" name="Freeform 21">
              <a:extLst>
                <a:ext uri="{FF2B5EF4-FFF2-40B4-BE49-F238E27FC236}">
                  <a16:creationId xmlns:a16="http://schemas.microsoft.com/office/drawing/2014/main" id="{2E18A447-F4A8-6F92-CB5B-3C989146FFFA}"/>
                </a:ext>
              </a:extLst>
            </p:cNvPr>
            <p:cNvSpPr/>
            <p:nvPr/>
          </p:nvSpPr>
          <p:spPr>
            <a:xfrm>
              <a:off x="17575010" y="7001198"/>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53" name="Freeform 21">
              <a:extLst>
                <a:ext uri="{FF2B5EF4-FFF2-40B4-BE49-F238E27FC236}">
                  <a16:creationId xmlns:a16="http://schemas.microsoft.com/office/drawing/2014/main" id="{69F95D46-9FCB-F26E-FAD6-1C0BB7A68E51}"/>
                </a:ext>
              </a:extLst>
            </p:cNvPr>
            <p:cNvSpPr/>
            <p:nvPr/>
          </p:nvSpPr>
          <p:spPr>
            <a:xfrm>
              <a:off x="17577499" y="7759820"/>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54" name="Freeform 21">
              <a:extLst>
                <a:ext uri="{FF2B5EF4-FFF2-40B4-BE49-F238E27FC236}">
                  <a16:creationId xmlns:a16="http://schemas.microsoft.com/office/drawing/2014/main" id="{9324B574-306D-4725-D05F-67AC2CF5BE50}"/>
                </a:ext>
              </a:extLst>
            </p:cNvPr>
            <p:cNvSpPr/>
            <p:nvPr/>
          </p:nvSpPr>
          <p:spPr>
            <a:xfrm>
              <a:off x="17566046" y="8520841"/>
              <a:ext cx="383391" cy="433764"/>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grpSp>
      <p:sp>
        <p:nvSpPr>
          <p:cNvPr id="155" name="TextBox 39">
            <a:extLst>
              <a:ext uri="{FF2B5EF4-FFF2-40B4-BE49-F238E27FC236}">
                <a16:creationId xmlns:a16="http://schemas.microsoft.com/office/drawing/2014/main" id="{0AE2E79A-A1DB-F409-B28D-6C56624BA0CD}"/>
              </a:ext>
            </a:extLst>
          </p:cNvPr>
          <p:cNvSpPr txBox="1"/>
          <p:nvPr/>
        </p:nvSpPr>
        <p:spPr>
          <a:xfrm>
            <a:off x="14875224" y="7267389"/>
            <a:ext cx="2740730" cy="537198"/>
          </a:xfrm>
          <a:prstGeom prst="rect">
            <a:avLst/>
          </a:prstGeom>
        </p:spPr>
        <p:txBody>
          <a:bodyPr wrap="square" lIns="0" tIns="0" rIns="0" bIns="0" rtlCol="0" anchor="t">
            <a:spAutoFit/>
          </a:bodyPr>
          <a:lstStyle>
            <a:defPPr>
              <a:defRPr lang="en-US"/>
            </a:defPPr>
            <a:lvl1pPr algn="r">
              <a:lnSpc>
                <a:spcPts val="2232"/>
              </a:lnSpc>
              <a:defRPr sz="1594">
                <a:solidFill>
                  <a:srgbClr val="1C4C61"/>
                </a:solidFill>
                <a:latin typeface="Aileron Bold"/>
              </a:defRPr>
            </a:lvl1pPr>
          </a:lstStyle>
          <a:p>
            <a:r>
              <a:rPr lang="tr-TR" dirty="0"/>
              <a:t>TİCARİLEŞME POTANSİYELİ VE SÜRDÜRÜLEBİLİRLİK</a:t>
            </a:r>
            <a:endParaRPr lang="en-US" dirty="0"/>
          </a:p>
        </p:txBody>
      </p:sp>
      <p:sp>
        <p:nvSpPr>
          <p:cNvPr id="6" name="TextBox 114">
            <a:extLst>
              <a:ext uri="{FF2B5EF4-FFF2-40B4-BE49-F238E27FC236}">
                <a16:creationId xmlns:a16="http://schemas.microsoft.com/office/drawing/2014/main" id="{80F61A49-7DBA-B027-08C2-D823393C5E24}"/>
              </a:ext>
            </a:extLst>
          </p:cNvPr>
          <p:cNvSpPr txBox="1">
            <a:spLocks/>
          </p:cNvSpPr>
          <p:nvPr/>
        </p:nvSpPr>
        <p:spPr>
          <a:xfrm>
            <a:off x="2884469" y="9504815"/>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a:t>
            </a:r>
            <a:r>
              <a:rPr lang="tr-TR" dirty="0">
                <a:solidFill>
                  <a:srgbClr val="1A426A"/>
                </a:solidFill>
                <a:latin typeface="Active Heart"/>
              </a:rPr>
              <a:t>TARIM TEKNOLOJİLERİ</a:t>
            </a:r>
            <a:r>
              <a:rPr lang="en-US" dirty="0">
                <a:solidFill>
                  <a:srgbClr val="1A426A"/>
                </a:solidFill>
                <a:latin typeface="Active Heart"/>
              </a:rPr>
              <a:t>YARIŞMASI </a:t>
            </a:r>
            <a:endParaRPr lang="tr-TR" dirty="0">
              <a:solidFill>
                <a:srgbClr val="1A426A"/>
              </a:solidFill>
              <a:latin typeface="Active Heart"/>
            </a:endParaRPr>
          </a:p>
          <a:p>
            <a:pPr algn="ctr">
              <a:lnSpc>
                <a:spcPts val="2000"/>
              </a:lnSpc>
              <a:spcBef>
                <a:spcPct val="0"/>
              </a:spcBef>
            </a:pPr>
            <a:r>
              <a:rPr lang="en-US" dirty="0">
                <a:solidFill>
                  <a:srgbClr val="1A426A"/>
                </a:solidFill>
                <a:latin typeface="Active Heart"/>
              </a:rPr>
              <a:t>PROJE SUNUMU</a:t>
            </a:r>
          </a:p>
        </p:txBody>
      </p:sp>
    </p:spTree>
    <p:extLst>
      <p:ext uri="{BB962C8B-B14F-4D97-AF65-F5344CB8AC3E}">
        <p14:creationId xmlns:p14="http://schemas.microsoft.com/office/powerpoint/2010/main" val="3098565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B3464-CBBD-1F8A-CDCD-F65D9F96CD6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78F037F-A6B5-1529-0575-32A8184E296C}"/>
              </a:ext>
            </a:extLst>
          </p:cNvPr>
          <p:cNvSpPr txBox="1">
            <a:spLocks/>
          </p:cNvSpPr>
          <p:nvPr/>
        </p:nvSpPr>
        <p:spPr>
          <a:xfrm>
            <a:off x="2670313" y="251629"/>
            <a:ext cx="12458770"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TEŞEKKÜRLER</a:t>
            </a:r>
            <a:endParaRPr lang="en-US" sz="6399" dirty="0">
              <a:solidFill>
                <a:srgbClr val="1A426A"/>
              </a:solidFill>
              <a:latin typeface="Active Heart"/>
            </a:endParaRPr>
          </a:p>
        </p:txBody>
      </p:sp>
      <p:sp>
        <p:nvSpPr>
          <p:cNvPr id="30" name="Freeform 19">
            <a:extLst>
              <a:ext uri="{FF2B5EF4-FFF2-40B4-BE49-F238E27FC236}">
                <a16:creationId xmlns:a16="http://schemas.microsoft.com/office/drawing/2014/main" id="{CBA6081A-1B05-E7FA-D9C3-F1F5A109E4DD}"/>
              </a:ext>
            </a:extLst>
          </p:cNvPr>
          <p:cNvSpPr>
            <a:spLocks/>
          </p:cNvSpPr>
          <p:nvPr/>
        </p:nvSpPr>
        <p:spPr>
          <a:xfrm>
            <a:off x="6553200" y="1737434"/>
            <a:ext cx="10885957" cy="4564842"/>
          </a:xfrm>
          <a:custGeom>
            <a:avLst/>
            <a:gdLst/>
            <a:ahLst/>
            <a:cxnLst/>
            <a:rect l="l" t="t" r="r" b="b"/>
            <a:pathLst>
              <a:path w="9516598" h="6399912">
                <a:moveTo>
                  <a:pt x="0" y="0"/>
                </a:moveTo>
                <a:lnTo>
                  <a:pt x="9516597" y="0"/>
                </a:lnTo>
                <a:lnTo>
                  <a:pt x="9516597" y="6399912"/>
                </a:lnTo>
                <a:lnTo>
                  <a:pt x="0" y="63999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32" name="TextBox 20">
            <a:extLst>
              <a:ext uri="{FF2B5EF4-FFF2-40B4-BE49-F238E27FC236}">
                <a16:creationId xmlns:a16="http://schemas.microsoft.com/office/drawing/2014/main" id="{01E4A448-B91D-C8E8-AE4B-68CE86D4805E}"/>
              </a:ext>
            </a:extLst>
          </p:cNvPr>
          <p:cNvSpPr txBox="1"/>
          <p:nvPr/>
        </p:nvSpPr>
        <p:spPr>
          <a:xfrm>
            <a:off x="8817598" y="3313877"/>
            <a:ext cx="7192425"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dirty="0">
                <a:solidFill>
                  <a:srgbClr val="DE2223"/>
                </a:solidFill>
                <a:latin typeface="Aileron Bold"/>
              </a:rPr>
              <a:t>Bu </a:t>
            </a:r>
            <a:r>
              <a:rPr lang="en-US" sz="1800" dirty="0" err="1">
                <a:solidFill>
                  <a:srgbClr val="DE2223"/>
                </a:solidFill>
                <a:latin typeface="Aileron Bold"/>
              </a:rPr>
              <a:t>sayfada</a:t>
            </a:r>
            <a:r>
              <a:rPr lang="en-US" sz="1800" dirty="0">
                <a:solidFill>
                  <a:srgbClr val="DE2223"/>
                </a:solidFill>
                <a:latin typeface="Aileron Bold"/>
              </a:rPr>
              <a:t> </a:t>
            </a:r>
            <a:r>
              <a:rPr lang="en-US" sz="1800" dirty="0" err="1">
                <a:solidFill>
                  <a:srgbClr val="DE2223"/>
                </a:solidFill>
                <a:latin typeface="Aileron Bold"/>
              </a:rPr>
              <a:t>proje</a:t>
            </a:r>
            <a:r>
              <a:rPr lang="en-US" sz="1800" dirty="0">
                <a:solidFill>
                  <a:srgbClr val="DE2223"/>
                </a:solidFill>
                <a:latin typeface="Aileron Bold"/>
              </a:rPr>
              <a:t>/</a:t>
            </a:r>
            <a:r>
              <a:rPr lang="en-US" sz="1800" dirty="0" err="1">
                <a:solidFill>
                  <a:srgbClr val="DE2223"/>
                </a:solidFill>
                <a:latin typeface="Aileron Bold"/>
              </a:rPr>
              <a:t>fikre</a:t>
            </a:r>
            <a:r>
              <a:rPr lang="en-US" sz="1800" dirty="0">
                <a:solidFill>
                  <a:srgbClr val="DE2223"/>
                </a:solidFill>
                <a:latin typeface="Aileron Bold"/>
              </a:rPr>
              <a:t> </a:t>
            </a:r>
            <a:r>
              <a:rPr lang="en-US" sz="1800" dirty="0" err="1">
                <a:solidFill>
                  <a:srgbClr val="DE2223"/>
                </a:solidFill>
                <a:latin typeface="Aileron Bold"/>
              </a:rPr>
              <a:t>ait</a:t>
            </a:r>
            <a:r>
              <a:rPr lang="en-US" sz="1800" dirty="0">
                <a:solidFill>
                  <a:srgbClr val="DE2223"/>
                </a:solidFill>
                <a:latin typeface="Aileron Bold"/>
              </a:rPr>
              <a:t> </a:t>
            </a:r>
            <a:r>
              <a:rPr lang="en-US" sz="1800" dirty="0" err="1">
                <a:solidFill>
                  <a:srgbClr val="DE2223"/>
                </a:solidFill>
                <a:latin typeface="Aileron Bold"/>
              </a:rPr>
              <a:t>bir</a:t>
            </a:r>
            <a:r>
              <a:rPr lang="en-US" sz="1800" dirty="0">
                <a:solidFill>
                  <a:srgbClr val="DE2223"/>
                </a:solidFill>
                <a:latin typeface="Aileron Bold"/>
              </a:rPr>
              <a:t> </a:t>
            </a:r>
            <a:r>
              <a:rPr lang="en-US" sz="1800" dirty="0" err="1">
                <a:solidFill>
                  <a:srgbClr val="DE2223"/>
                </a:solidFill>
                <a:latin typeface="Aileron Bold"/>
              </a:rPr>
              <a:t>sloganla</a:t>
            </a:r>
            <a:r>
              <a:rPr lang="en-US" sz="1800" dirty="0">
                <a:solidFill>
                  <a:srgbClr val="DE2223"/>
                </a:solidFill>
                <a:latin typeface="Aileron Bold"/>
              </a:rPr>
              <a:t> </a:t>
            </a:r>
            <a:r>
              <a:rPr lang="en-US" sz="1800" dirty="0" err="1">
                <a:solidFill>
                  <a:srgbClr val="DE2223"/>
                </a:solidFill>
                <a:latin typeface="Aileron Bold"/>
              </a:rPr>
              <a:t>kapanış</a:t>
            </a:r>
            <a:r>
              <a:rPr lang="en-US" sz="1800" dirty="0">
                <a:solidFill>
                  <a:srgbClr val="DE2223"/>
                </a:solidFill>
                <a:latin typeface="Aileron Bold"/>
              </a:rPr>
              <a:t> </a:t>
            </a:r>
            <a:r>
              <a:rPr lang="en-US" sz="1800" dirty="0" err="1">
                <a:solidFill>
                  <a:srgbClr val="DE2223"/>
                </a:solidFill>
                <a:latin typeface="Aileron Bold"/>
              </a:rPr>
              <a:t>yapılmalıdır</a:t>
            </a:r>
            <a:r>
              <a:rPr lang="en-US" sz="1800" dirty="0">
                <a:solidFill>
                  <a:srgbClr val="DE2223"/>
                </a:solidFill>
                <a:latin typeface="Aileron Bold"/>
              </a:rPr>
              <a:t>.</a:t>
            </a:r>
          </a:p>
          <a:p>
            <a:pPr marL="388620" lvl="1" indent="-194310" algn="l">
              <a:lnSpc>
                <a:spcPts val="2520"/>
              </a:lnSpc>
              <a:buFont typeface="Arial"/>
              <a:buChar char="•"/>
            </a:pPr>
            <a:r>
              <a:rPr lang="en-US" sz="1800" dirty="0" err="1">
                <a:solidFill>
                  <a:srgbClr val="DE2223"/>
                </a:solidFill>
                <a:latin typeface="Aileron Bold"/>
              </a:rPr>
              <a:t>Sayfa</a:t>
            </a:r>
            <a:r>
              <a:rPr lang="en-US" sz="1800" dirty="0">
                <a:solidFill>
                  <a:srgbClr val="DE2223"/>
                </a:solidFill>
                <a:latin typeface="Aileron Bold"/>
              </a:rPr>
              <a:t> </a:t>
            </a:r>
            <a:r>
              <a:rPr lang="en-US" sz="1800" dirty="0" err="1">
                <a:solidFill>
                  <a:srgbClr val="DE2223"/>
                </a:solidFill>
                <a:latin typeface="Aileron Bold"/>
              </a:rPr>
              <a:t>aynen</a:t>
            </a:r>
            <a:r>
              <a:rPr lang="en-US" sz="1800" dirty="0">
                <a:solidFill>
                  <a:srgbClr val="DE2223"/>
                </a:solidFill>
                <a:latin typeface="Aileron Bold"/>
              </a:rPr>
              <a:t> </a:t>
            </a:r>
            <a:r>
              <a:rPr lang="en-US" sz="1800" dirty="0" err="1">
                <a:solidFill>
                  <a:srgbClr val="DE2223"/>
                </a:solidFill>
                <a:latin typeface="Aileron Bold"/>
              </a:rPr>
              <a:t>kullanılmalı</a:t>
            </a:r>
            <a:r>
              <a:rPr lang="en-US" sz="1800" dirty="0">
                <a:solidFill>
                  <a:srgbClr val="DE2223"/>
                </a:solidFill>
                <a:latin typeface="Aileron Bold"/>
              </a:rPr>
              <a:t> </a:t>
            </a:r>
            <a:r>
              <a:rPr lang="en-US" sz="1800" dirty="0" err="1">
                <a:solidFill>
                  <a:srgbClr val="DE2223"/>
                </a:solidFill>
                <a:latin typeface="Aileron Bold"/>
              </a:rPr>
              <a:t>sadece</a:t>
            </a:r>
            <a:r>
              <a:rPr lang="en-US" sz="1800" dirty="0">
                <a:solidFill>
                  <a:srgbClr val="DE2223"/>
                </a:solidFill>
                <a:latin typeface="Aileron Bold"/>
              </a:rPr>
              <a:t> slogan </a:t>
            </a:r>
            <a:r>
              <a:rPr lang="en-US" sz="1800" dirty="0" err="1">
                <a:solidFill>
                  <a:srgbClr val="DE2223"/>
                </a:solidFill>
                <a:latin typeface="Aileron Bold"/>
              </a:rPr>
              <a:t>eklenmelidir</a:t>
            </a:r>
            <a:r>
              <a:rPr lang="en-US" sz="1800" dirty="0">
                <a:solidFill>
                  <a:srgbClr val="DE2223"/>
                </a:solidFill>
                <a:latin typeface="Aileron Bold"/>
              </a:rPr>
              <a:t>. </a:t>
            </a:r>
          </a:p>
        </p:txBody>
      </p:sp>
      <p:pic>
        <p:nvPicPr>
          <p:cNvPr id="3" name="Resim 2">
            <a:extLst>
              <a:ext uri="{FF2B5EF4-FFF2-40B4-BE49-F238E27FC236}">
                <a16:creationId xmlns:a16="http://schemas.microsoft.com/office/drawing/2014/main" id="{1C8DFDDE-513B-602F-BA57-3DA0AE6D34E6}"/>
              </a:ext>
            </a:extLst>
          </p:cNvPr>
          <p:cNvPicPr>
            <a:picLocks noChangeAspect="1"/>
          </p:cNvPicPr>
          <p:nvPr/>
        </p:nvPicPr>
        <p:blipFill>
          <a:blip r:embed="rId3"/>
          <a:stretch>
            <a:fillRect/>
          </a:stretch>
        </p:blipFill>
        <p:spPr>
          <a:xfrm>
            <a:off x="-19673" y="2705100"/>
            <a:ext cx="7399038" cy="6215192"/>
          </a:xfrm>
          <a:prstGeom prst="rect">
            <a:avLst/>
          </a:prstGeom>
        </p:spPr>
      </p:pic>
      <p:sp>
        <p:nvSpPr>
          <p:cNvPr id="5" name="TextBox 114">
            <a:extLst>
              <a:ext uri="{FF2B5EF4-FFF2-40B4-BE49-F238E27FC236}">
                <a16:creationId xmlns:a16="http://schemas.microsoft.com/office/drawing/2014/main" id="{DBA49F0A-79AD-69FA-FF4A-D0BF1538223E}"/>
              </a:ext>
            </a:extLst>
          </p:cNvPr>
          <p:cNvSpPr txBox="1">
            <a:spLocks/>
          </p:cNvSpPr>
          <p:nvPr/>
        </p:nvSpPr>
        <p:spPr>
          <a:xfrm>
            <a:off x="2884469" y="9504815"/>
            <a:ext cx="7994957" cy="512961"/>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a:t>
            </a:r>
            <a:r>
              <a:rPr lang="tr-TR" dirty="0">
                <a:solidFill>
                  <a:srgbClr val="1A426A"/>
                </a:solidFill>
                <a:latin typeface="Active Heart"/>
              </a:rPr>
              <a:t>TARIM TEKNOLOJİLERİ</a:t>
            </a:r>
            <a:r>
              <a:rPr lang="en-US" dirty="0">
                <a:solidFill>
                  <a:srgbClr val="1A426A"/>
                </a:solidFill>
                <a:latin typeface="Active Heart"/>
              </a:rPr>
              <a:t>YARIŞMASI </a:t>
            </a:r>
            <a:endParaRPr lang="tr-TR" dirty="0">
              <a:solidFill>
                <a:srgbClr val="1A426A"/>
              </a:solidFill>
              <a:latin typeface="Active Heart"/>
            </a:endParaRPr>
          </a:p>
          <a:p>
            <a:pPr algn="ctr">
              <a:lnSpc>
                <a:spcPts val="2000"/>
              </a:lnSpc>
              <a:spcBef>
                <a:spcPct val="0"/>
              </a:spcBef>
            </a:pPr>
            <a:r>
              <a:rPr lang="en-US" dirty="0">
                <a:solidFill>
                  <a:srgbClr val="1A426A"/>
                </a:solidFill>
                <a:latin typeface="Active Heart"/>
              </a:rPr>
              <a:t>PROJE SUNUMU</a:t>
            </a:r>
          </a:p>
        </p:txBody>
      </p:sp>
    </p:spTree>
    <p:extLst>
      <p:ext uri="{BB962C8B-B14F-4D97-AF65-F5344CB8AC3E}">
        <p14:creationId xmlns:p14="http://schemas.microsoft.com/office/powerpoint/2010/main" val="3542203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149968" y="61270"/>
            <a:ext cx="11988064" cy="590162"/>
          </a:xfrm>
          <a:prstGeom prst="rect">
            <a:avLst/>
          </a:prstGeom>
        </p:spPr>
        <p:txBody>
          <a:bodyPr lIns="0" tIns="0" rIns="0" bIns="0" rtlCol="0" anchor="t">
            <a:spAutoFit/>
          </a:bodyPr>
          <a:lstStyle/>
          <a:p>
            <a:pPr marL="0" lvl="0" indent="0" algn="ctr">
              <a:lnSpc>
                <a:spcPts val="5370"/>
              </a:lnSpc>
              <a:spcBef>
                <a:spcPct val="0"/>
              </a:spcBef>
            </a:pPr>
            <a:r>
              <a:rPr lang="en-US" sz="2400" u="sng" spc="122" dirty="0">
                <a:solidFill>
                  <a:srgbClr val="1C4C61"/>
                </a:solidFill>
                <a:latin typeface="Aileron Bold"/>
              </a:rPr>
              <a:t>SUNUM HAZIRLAMA KURALLARI</a:t>
            </a:r>
          </a:p>
        </p:txBody>
      </p:sp>
      <p:sp>
        <p:nvSpPr>
          <p:cNvPr id="4" name="TextBox 4"/>
          <p:cNvSpPr txBox="1"/>
          <p:nvPr/>
        </p:nvSpPr>
        <p:spPr>
          <a:xfrm>
            <a:off x="0" y="578105"/>
            <a:ext cx="18288000" cy="532453"/>
          </a:xfrm>
          <a:prstGeom prst="rect">
            <a:avLst/>
          </a:prstGeom>
        </p:spPr>
        <p:txBody>
          <a:bodyPr wrap="square" lIns="0" tIns="0" rIns="0" bIns="0" rtlCol="0" anchor="t">
            <a:spAutoFit/>
          </a:bodyPr>
          <a:lstStyle/>
          <a:p>
            <a:pPr algn="ctr">
              <a:lnSpc>
                <a:spcPts val="4759"/>
              </a:lnSpc>
            </a:pPr>
            <a:r>
              <a:rPr lang="en-US" sz="2000" b="1" u="sng" dirty="0">
                <a:solidFill>
                  <a:srgbClr val="FF0000"/>
                </a:solidFill>
                <a:latin typeface="Aileron Bold"/>
              </a:rPr>
              <a:t>SUNUMDA BU SAYFAYA YER VERİLMEYECEKTİR!!!</a:t>
            </a:r>
            <a:r>
              <a:rPr lang="tr-TR" sz="2000" b="1" u="sng" dirty="0">
                <a:solidFill>
                  <a:srgbClr val="FF0000"/>
                </a:solidFill>
                <a:latin typeface="Aileron Bold"/>
              </a:rPr>
              <a:t> </a:t>
            </a:r>
            <a:r>
              <a:rPr lang="en-US" sz="2000" b="1" u="sng" dirty="0">
                <a:solidFill>
                  <a:srgbClr val="FF0000"/>
                </a:solidFill>
                <a:latin typeface="Aileron Bold"/>
              </a:rPr>
              <a:t>(KURALLARA GÖRE HAZIRLANDIKTAN SONRA SİLİNMELİDİR.)</a:t>
            </a:r>
          </a:p>
        </p:txBody>
      </p:sp>
      <p:grpSp>
        <p:nvGrpSpPr>
          <p:cNvPr id="6" name="Grup 5">
            <a:extLst>
              <a:ext uri="{FF2B5EF4-FFF2-40B4-BE49-F238E27FC236}">
                <a16:creationId xmlns:a16="http://schemas.microsoft.com/office/drawing/2014/main" id="{319AAB48-69C2-E99E-8DC7-5C2E959A8457}"/>
              </a:ext>
            </a:extLst>
          </p:cNvPr>
          <p:cNvGrpSpPr/>
          <p:nvPr/>
        </p:nvGrpSpPr>
        <p:grpSpPr>
          <a:xfrm>
            <a:off x="0" y="1562100"/>
            <a:ext cx="18288000" cy="8915400"/>
            <a:chOff x="0" y="1562100"/>
            <a:chExt cx="18288000" cy="8915400"/>
          </a:xfrm>
        </p:grpSpPr>
        <p:sp>
          <p:nvSpPr>
            <p:cNvPr id="5" name="Dikdörtgen 4">
              <a:extLst>
                <a:ext uri="{FF2B5EF4-FFF2-40B4-BE49-F238E27FC236}">
                  <a16:creationId xmlns:a16="http://schemas.microsoft.com/office/drawing/2014/main" id="{D6A2E313-E6FB-BA78-6D75-F606554B63C1}"/>
                </a:ext>
              </a:extLst>
            </p:cNvPr>
            <p:cNvSpPr>
              <a:spLocks/>
            </p:cNvSpPr>
            <p:nvPr/>
          </p:nvSpPr>
          <p:spPr>
            <a:xfrm>
              <a:off x="0" y="9182100"/>
              <a:ext cx="18288000" cy="1295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ln>
                  <a:solidFill>
                    <a:schemeClr val="bg1"/>
                  </a:solidFill>
                </a:ln>
              </a:endParaRPr>
            </a:p>
          </p:txBody>
        </p:sp>
        <p:sp>
          <p:nvSpPr>
            <p:cNvPr id="2" name="TextBox 2"/>
            <p:cNvSpPr txBox="1">
              <a:spLocks/>
            </p:cNvSpPr>
            <p:nvPr/>
          </p:nvSpPr>
          <p:spPr>
            <a:xfrm>
              <a:off x="838196" y="1562100"/>
              <a:ext cx="17041027" cy="8186857"/>
            </a:xfrm>
            <a:prstGeom prst="rect">
              <a:avLst/>
            </a:prstGeom>
          </p:spPr>
          <p:txBody>
            <a:bodyPr wrap="square" lIns="0" tIns="0" rIns="0" bIns="0" rtlCol="0" anchor="t">
              <a:spAutoFit/>
            </a:bodyPr>
            <a:lstStyle/>
            <a:p>
              <a:r>
                <a:rPr lang="tr-TR" sz="1900" b="1" dirty="0">
                  <a:solidFill>
                    <a:srgbClr val="FF0000"/>
                  </a:solidFill>
                </a:rPr>
                <a:t>Aşağıda belirtilen kurallar, proje sunum dosyalarının hazırlanması, yüklenmesi ve sunum aşamasıyla ilgili gereklilikleri içermektedir. Takımların, belirlenen kurallara tam uyum sağlaması beklenmektedir.</a:t>
              </a:r>
            </a:p>
            <a:p>
              <a:endParaRPr lang="tr-TR" sz="1900" dirty="0"/>
            </a:p>
            <a:p>
              <a:r>
                <a:rPr lang="tr-TR" sz="1900" b="1" u="sng" dirty="0"/>
                <a:t>1. Genel Şablon Kullanımı</a:t>
              </a:r>
            </a:p>
            <a:p>
              <a:pPr>
                <a:buFont typeface="Arial" panose="020B0604020202020204" pitchFamily="34" charset="0"/>
                <a:buChar char="•"/>
              </a:pPr>
              <a:r>
                <a:rPr lang="tr-TR" sz="1900" dirty="0"/>
                <a:t> Sunum için sağlanan </a:t>
              </a:r>
              <a:r>
                <a:rPr lang="tr-TR" sz="1900" b="1" dirty="0"/>
                <a:t>şablon aynen kullanılmalı</a:t>
              </a:r>
              <a:r>
                <a:rPr lang="tr-TR" sz="1900" dirty="0"/>
                <a:t>, herhangi bir format veya sayfa düzeni değişikliği yapılmamalıdır.</a:t>
              </a:r>
            </a:p>
            <a:p>
              <a:pPr>
                <a:buFont typeface="Arial" panose="020B0604020202020204" pitchFamily="34" charset="0"/>
                <a:buChar char="•"/>
              </a:pPr>
              <a:r>
                <a:rPr lang="tr-TR" sz="1900" b="1" dirty="0"/>
                <a:t> Konu başlıkları altındaki kırmızı açıklamalar kaldırılmalı</a:t>
              </a:r>
              <a:r>
                <a:rPr lang="tr-TR" sz="1900" dirty="0"/>
                <a:t> ve yerine takımlar kendi açıklamalarını, görsellerini veya içeriklerini eklemelidir.</a:t>
              </a:r>
            </a:p>
            <a:p>
              <a:pPr>
                <a:buFont typeface="Arial" panose="020B0604020202020204" pitchFamily="34" charset="0"/>
                <a:buChar char="•"/>
              </a:pPr>
              <a:r>
                <a:rPr lang="tr-TR" sz="1900" dirty="0"/>
                <a:t> Font tipi ve boyutu </a:t>
              </a:r>
              <a:r>
                <a:rPr lang="tr-TR" sz="1900" b="1" dirty="0"/>
                <a:t>serbesttir</a:t>
              </a:r>
              <a:r>
                <a:rPr lang="tr-TR" sz="1900" dirty="0"/>
                <a:t>, ancak toplam sayfa sayısı sınırları aşılmamalıdır.</a:t>
              </a:r>
            </a:p>
            <a:p>
              <a:endParaRPr lang="tr-TR" sz="1900" dirty="0"/>
            </a:p>
            <a:p>
              <a:r>
                <a:rPr lang="tr-TR" sz="1900" b="1" u="sng" dirty="0"/>
                <a:t>2. Sayfa Düzeni ve İçerik Kuralları</a:t>
              </a:r>
            </a:p>
            <a:p>
              <a:pPr>
                <a:buFont typeface="Arial" panose="020B0604020202020204" pitchFamily="34" charset="0"/>
                <a:buChar char="•"/>
              </a:pPr>
              <a:r>
                <a:rPr lang="tr-TR" sz="1900" b="1" dirty="0"/>
                <a:t> Sayfa alt kısmında</a:t>
              </a:r>
              <a:r>
                <a:rPr lang="tr-TR" sz="1900" dirty="0"/>
                <a:t> yer alan </a:t>
              </a:r>
              <a:r>
                <a:rPr lang="tr-TR" sz="1900" b="1" dirty="0"/>
                <a:t>TAKIM ADI – TAKIM ID – BAŞVURU ID  – YARIŞMA SEVİYESİ</a:t>
              </a:r>
              <a:r>
                <a:rPr lang="tr-TR" sz="1900" dirty="0"/>
                <a:t> bilgileri </a:t>
              </a:r>
              <a:r>
                <a:rPr lang="tr-TR" sz="1900" b="1" dirty="0"/>
                <a:t>tüm sayfalarda aynı pozisyonda ve formatta</a:t>
              </a:r>
              <a:r>
                <a:rPr lang="tr-TR" sz="1900" dirty="0"/>
                <a:t> olmalıdır.</a:t>
              </a:r>
            </a:p>
            <a:p>
              <a:pPr>
                <a:buFont typeface="Arial" panose="020B0604020202020204" pitchFamily="34" charset="0"/>
                <a:buChar char="•"/>
              </a:pPr>
              <a:r>
                <a:rPr lang="tr-TR" sz="1900" dirty="0"/>
                <a:t> Her başlık altında </a:t>
              </a:r>
              <a:r>
                <a:rPr lang="tr-TR" sz="1900" b="1" dirty="0"/>
                <a:t>yalnızca ilgili konu anlatılmalıdır</a:t>
              </a:r>
              <a:r>
                <a:rPr lang="tr-TR" sz="1900" dirty="0"/>
                <a:t>; farklı bir başlığa yönelik içerik eklenmemelidir.</a:t>
              </a:r>
            </a:p>
            <a:p>
              <a:pPr>
                <a:buFont typeface="Arial" panose="020B0604020202020204" pitchFamily="34" charset="0"/>
                <a:buChar char="•"/>
              </a:pPr>
              <a:r>
                <a:rPr lang="tr-TR" sz="1900" dirty="0"/>
                <a:t> Sunum içeriğinde </a:t>
              </a:r>
              <a:r>
                <a:rPr lang="tr-TR" sz="1900" b="1" dirty="0"/>
                <a:t>tekrarlayan veya birbirinin aynısı olan ifadeler </a:t>
              </a:r>
              <a:r>
                <a:rPr lang="tr-TR" sz="1900" b="1" u="sng" dirty="0"/>
                <a:t>bulunmamalıdır</a:t>
              </a:r>
              <a:r>
                <a:rPr lang="tr-TR" sz="1900" dirty="0"/>
                <a:t>. Metinler, açık ve anlaşılır bir dille yazılmalıdır.</a:t>
              </a:r>
            </a:p>
            <a:p>
              <a:pPr>
                <a:buFont typeface="Arial" panose="020B0604020202020204" pitchFamily="34" charset="0"/>
                <a:buChar char="•"/>
              </a:pPr>
              <a:r>
                <a:rPr lang="tr-TR" sz="1900" b="1" dirty="0"/>
                <a:t> Proje takımı ve görev paylaşımı sayfasında</a:t>
              </a:r>
              <a:r>
                <a:rPr lang="tr-TR" sz="1900" dirty="0"/>
                <a:t>, takım üyelerinin fotoğrafları isteğe bağlı olarak eklenebilir.</a:t>
              </a:r>
            </a:p>
            <a:p>
              <a:pPr>
                <a:buFont typeface="Arial" panose="020B0604020202020204" pitchFamily="34" charset="0"/>
                <a:buChar char="•"/>
              </a:pPr>
              <a:r>
                <a:rPr lang="tr-TR" sz="1900" dirty="0"/>
                <a:t> Metin ve görsel tasarımı, </a:t>
              </a:r>
              <a:r>
                <a:rPr lang="tr-TR" sz="1900" b="1" dirty="0"/>
                <a:t>kapak sayfası, proje takımı ve görev paylaşımı sayfası ve teşekkür sayfası hariç</a:t>
              </a:r>
              <a:r>
                <a:rPr lang="tr-TR" sz="1900" dirty="0"/>
                <a:t> takımların inisiyatifindedir.</a:t>
              </a:r>
            </a:p>
            <a:p>
              <a:pPr>
                <a:buFont typeface="Arial" panose="020B0604020202020204" pitchFamily="34" charset="0"/>
                <a:buChar char="•"/>
              </a:pPr>
              <a:r>
                <a:rPr lang="tr-TR" sz="1900" b="1" dirty="0"/>
                <a:t> Ek görseller</a:t>
              </a:r>
              <a:r>
                <a:rPr lang="tr-TR" sz="1900" dirty="0"/>
                <a:t> eklenecekse, şablonun düzeni bozulmadan ve sayfa sınırı kurallarına uygun şekilde yerleştirilmelidir.</a:t>
              </a:r>
            </a:p>
            <a:p>
              <a:endParaRPr lang="tr-TR" sz="1900" dirty="0"/>
            </a:p>
            <a:p>
              <a:r>
                <a:rPr lang="tr-TR" sz="1900" b="1" u="sng" dirty="0"/>
                <a:t>3. Sayfa ve Dosya Sınırlandırmaları</a:t>
              </a:r>
            </a:p>
            <a:p>
              <a:pPr>
                <a:buFont typeface="Arial" panose="020B0604020202020204" pitchFamily="34" charset="0"/>
                <a:buChar char="•"/>
              </a:pPr>
              <a:r>
                <a:rPr lang="tr-TR" sz="1900" dirty="0"/>
                <a:t> Sunum dosyası, Kapak sayfası dahil </a:t>
              </a:r>
              <a:r>
                <a:rPr lang="tr-TR" sz="1900" b="1" dirty="0"/>
                <a:t>toplamda 17 sayfayı geçmemelidir</a:t>
              </a:r>
              <a:r>
                <a:rPr lang="tr-TR" sz="1900" dirty="0"/>
                <a:t>.</a:t>
              </a:r>
            </a:p>
            <a:p>
              <a:pPr>
                <a:buFont typeface="Arial" panose="020B0604020202020204" pitchFamily="34" charset="0"/>
                <a:buChar char="•"/>
              </a:pPr>
              <a:r>
                <a:rPr lang="tr-TR" sz="1900" b="1" dirty="0"/>
                <a:t> Her sayfada belirtilen sayfa sınırı </a:t>
              </a:r>
              <a:r>
                <a:rPr lang="tr-TR" sz="1900" b="1" u="sng" dirty="0"/>
                <a:t>aşılmamalıdır</a:t>
              </a:r>
              <a:r>
                <a:rPr lang="tr-TR" sz="1900" b="1" dirty="0"/>
                <a:t>.</a:t>
              </a:r>
              <a:r>
                <a:rPr lang="tr-TR" sz="1900" dirty="0"/>
                <a:t> </a:t>
              </a:r>
            </a:p>
            <a:p>
              <a:pPr>
                <a:buFont typeface="Arial" panose="020B0604020202020204" pitchFamily="34" charset="0"/>
                <a:buChar char="•"/>
              </a:pPr>
              <a:r>
                <a:rPr lang="tr-TR" sz="1900" dirty="0"/>
                <a:t>Toplam sayfa sınırı aşıldığında, </a:t>
              </a:r>
              <a:r>
                <a:rPr lang="tr-TR" sz="1900" b="1" dirty="0"/>
                <a:t>sistem dosya yüklemesini kabul etmeyecektir.</a:t>
              </a:r>
            </a:p>
            <a:p>
              <a:pPr>
                <a:buFont typeface="Arial" panose="020B0604020202020204" pitchFamily="34" charset="0"/>
                <a:buChar char="•"/>
              </a:pPr>
              <a:r>
                <a:rPr lang="tr-TR" sz="1900" dirty="0"/>
                <a:t> Sunum dosyası, </a:t>
              </a:r>
              <a:r>
                <a:rPr lang="tr-TR" sz="1900" b="1" dirty="0"/>
                <a:t>PDF formatında ve maksimum 75 MB boyutunda</a:t>
              </a:r>
              <a:r>
                <a:rPr lang="tr-TR" sz="1900" dirty="0"/>
                <a:t> olmalıdır. Aksi takdirde sistem yükleme işlemini gerçekleştirmeyecektir.</a:t>
              </a:r>
            </a:p>
            <a:p>
              <a:endParaRPr lang="tr-TR" sz="1900" dirty="0"/>
            </a:p>
            <a:p>
              <a:r>
                <a:rPr lang="tr-TR" sz="1900" b="1" u="sng" dirty="0"/>
                <a:t>4. Sunum Süreci ve Yükleme Kuralları</a:t>
              </a:r>
            </a:p>
            <a:p>
              <a:pPr>
                <a:buFont typeface="Arial" panose="020B0604020202020204" pitchFamily="34" charset="0"/>
                <a:buChar char="•"/>
              </a:pPr>
              <a:r>
                <a:rPr lang="tr-TR" sz="1900" b="1" dirty="0"/>
                <a:t> Sisteme yüklenen sunum üzerinden çevrim içi sunum aşaması gerçekleştirilecektir.</a:t>
              </a:r>
              <a:endParaRPr lang="tr-TR" sz="1900" dirty="0"/>
            </a:p>
            <a:p>
              <a:pPr>
                <a:buFont typeface="Arial" panose="020B0604020202020204" pitchFamily="34" charset="0"/>
                <a:buChar char="•"/>
              </a:pPr>
              <a:r>
                <a:rPr lang="tr-TR" sz="1900" dirty="0"/>
                <a:t> Belirtilen son yükleme tarihinden sonra sunumda herhangi bir </a:t>
              </a:r>
              <a:r>
                <a:rPr lang="tr-TR" sz="1900" b="1" dirty="0"/>
                <a:t>güncelleme yapılamayacaktır</a:t>
              </a:r>
              <a:r>
                <a:rPr lang="tr-TR" sz="1900" dirty="0"/>
                <a:t>.</a:t>
              </a:r>
            </a:p>
            <a:p>
              <a:pPr>
                <a:buFont typeface="Arial" panose="020B0604020202020204" pitchFamily="34" charset="0"/>
                <a:buChar char="•"/>
              </a:pPr>
              <a:r>
                <a:rPr lang="tr-TR" sz="1900" b="1" dirty="0"/>
                <a:t> Proje sunumu yalnızca takım üyeleri tarafından gerçekleştirilecektir</a:t>
              </a:r>
              <a:r>
                <a:rPr lang="tr-TR" sz="1900" dirty="0"/>
                <a:t>. </a:t>
              </a:r>
            </a:p>
            <a:p>
              <a:pPr>
                <a:buFont typeface="Arial" panose="020B0604020202020204" pitchFamily="34" charset="0"/>
                <a:buChar char="•"/>
              </a:pPr>
              <a:r>
                <a:rPr lang="tr-TR" sz="1900" dirty="0"/>
                <a:t> Sunuma </a:t>
              </a:r>
              <a:r>
                <a:rPr lang="tr-TR" sz="1900" b="1" dirty="0"/>
                <a:t>en az bir takım üyesinin katılımı zorunludur</a:t>
              </a:r>
              <a:r>
                <a:rPr lang="tr-TR" sz="1900" dirty="0"/>
                <a:t>. </a:t>
              </a:r>
            </a:p>
            <a:p>
              <a:pPr>
                <a:buFont typeface="Arial" panose="020B0604020202020204" pitchFamily="34" charset="0"/>
                <a:buChar char="•"/>
              </a:pPr>
              <a:r>
                <a:rPr lang="tr-TR" sz="1900" b="1" dirty="0"/>
                <a:t> Sunumlarını KYS sistemi üzerinden belirtilen süre içinde yüklemeyen takımlara randevu planlaması yapılmayacak ve sunum hakkı kaybedilecektir.</a:t>
              </a:r>
              <a:endParaRPr lang="tr-TR" sz="1900"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1328</TotalTime>
  <Words>2190</Words>
  <Application>Microsoft Office PowerPoint</Application>
  <PresentationFormat>Özel</PresentationFormat>
  <Paragraphs>322</Paragraphs>
  <Slides>13</Slides>
  <Notes>6</Notes>
  <HiddenSlides>0</HiddenSlides>
  <MMClips>0</MMClips>
  <ScaleCrop>false</ScaleCrop>
  <HeadingPairs>
    <vt:vector size="6" baseType="variant">
      <vt:variant>
        <vt:lpstr>Kullanılan Yazı Tipleri</vt:lpstr>
      </vt:variant>
      <vt:variant>
        <vt:i4>11</vt:i4>
      </vt:variant>
      <vt:variant>
        <vt:lpstr>Tema</vt:lpstr>
      </vt:variant>
      <vt:variant>
        <vt:i4>1</vt:i4>
      </vt:variant>
      <vt:variant>
        <vt:lpstr>Slayt Başlıkları</vt:lpstr>
      </vt:variant>
      <vt:variant>
        <vt:i4>13</vt:i4>
      </vt:variant>
    </vt:vector>
  </HeadingPairs>
  <TitlesOfParts>
    <vt:vector size="25" baseType="lpstr">
      <vt:lpstr>Aileron Bold</vt:lpstr>
      <vt:lpstr>Times New Roman</vt:lpstr>
      <vt:lpstr>Arial Black</vt:lpstr>
      <vt:lpstr>Aileron Bold Italics</vt:lpstr>
      <vt:lpstr>Calibri</vt:lpstr>
      <vt:lpstr>Aptos</vt:lpstr>
      <vt:lpstr>Arial</vt:lpstr>
      <vt:lpstr>Aileron</vt:lpstr>
      <vt:lpstr>Aileron Ultra-Bold</vt:lpstr>
      <vt:lpstr>Active Heart</vt:lpstr>
      <vt:lpstr>Symbol</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SUNUM ŞABLONU</dc:title>
  <dc:creator>TEKNOFEST</dc:creator>
  <cp:lastModifiedBy>Gisa Saltık</cp:lastModifiedBy>
  <cp:revision>63</cp:revision>
  <dcterms:created xsi:type="dcterms:W3CDTF">2006-08-16T00:00:00Z</dcterms:created>
  <dcterms:modified xsi:type="dcterms:W3CDTF">2026-06-10T15:14:23Z</dcterms:modified>
  <dc:identifier>DAGDnxWSptA</dc:identifier>
</cp:coreProperties>
</file>